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18.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s/slide207.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69.xml" ContentType="application/vnd.openxmlformats-officedocument.presentationml.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slides/slide147.xml" ContentType="application/vnd.openxmlformats-officedocument.presentationml.slide+xml"/>
  <Override PartName="/ppt/slides/slide158.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notesSlides/notesSlide30.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slides/slide183.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55.xml" ContentType="application/vnd.openxmlformats-officedocument.presentationml.slide+xml"/>
  <Override PartName="/ppt/theme/theme2.xml" ContentType="application/vnd.openxmlformats-officedocument.theme+xml"/>
  <Override PartName="/ppt/notesSlides/notesSlide57.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215.xml" ContentType="application/vnd.openxmlformats-officedocument.presentationml.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199.xml" ContentType="application/vnd.openxmlformats-officedocument.presentationml.slide+xml"/>
  <Override PartName="/ppt/slides/slide204.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notesSlides/notesSlide13.xml" ContentType="application/vnd.openxmlformats-officedocument.presentationml.notesSlide+xml"/>
  <Override PartName="/ppt/slides/slide119.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slides/slide108.xml" ContentType="application/vnd.openxmlformats-officedocument.presentationml.slide+xml"/>
  <Override PartName="/ppt/slides/slide155.xml" ContentType="application/vnd.openxmlformats-officedocument.presentationml.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Override PartName="/ppt/notesSlides/notesSlide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s/slide209.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Default Extension="wmf" ContentType="image/x-wmf"/>
  <Override PartName="/ppt/notesSlides/notesSlide18.xml" ContentType="application/vnd.openxmlformats-officedocument.presentationml.notesSlide+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78.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slides/slide138.xml" ContentType="application/vnd.openxmlformats-officedocument.presentationml.slide+xml"/>
  <Override PartName="/ppt/slides/slide167.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74.xml" ContentType="application/vnd.openxmlformats-officedocument.presentationml.slide+xml"/>
  <Override PartName="/ppt/slides/slide192.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s/slide181.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s/slide217.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s/slide213.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slides/slide20.xml" ContentType="application/vnd.openxmlformats-officedocument.presentationml.slide+xml"/>
  <Override PartName="/ppt/slides/slide168.xml" ContentType="application/vnd.openxmlformats-officedocument.presentationml.slide+xml"/>
  <Override PartName="/ppt/slides/slide179.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slides/slide139.xml" ContentType="application/vnd.openxmlformats-officedocument.presentationml.slide+xml"/>
  <Override PartName="/ppt/slides/slide157.xml" ContentType="application/vnd.openxmlformats-officedocument.presentationml.slide+xml"/>
  <Override PartName="/ppt/slides/slide186.xml" ContentType="application/vnd.openxmlformats-officedocument.presentationml.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193.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slides/slide32.xml" ContentType="application/vnd.openxmlformats-officedocument.presentationml.slide+xml"/>
  <Override PartName="/ppt/slides/slide214.xml" ContentType="application/vnd.openxmlformats-officedocument.presentationml.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notesSlides/notesSlide23.xml" ContentType="application/vnd.openxmlformats-officedocument.presentationml.notesSlide+xml"/>
  <Override PartName="/ppt/slides/slide129.xml" ContentType="application/vnd.openxmlformats-officedocument.presentationml.slide+xml"/>
  <Override PartName="/ppt/slides/slide176.xml" ContentType="application/vnd.openxmlformats-officedocument.presentationml.slide+xml"/>
  <Override PartName="/ppt/notesSlides/notesSlide12.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slides/slide219.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slides/slide51.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notesSlides/notesSlide42.xml" ContentType="application/vnd.openxmlformats-officedocument.presentationml.notes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slides/slide216.xml" ContentType="application/vnd.openxmlformats-officedocument.presentationml.slide+xml"/>
  <Override PartName="/ppt/notesSlides/notesSlide36.xml" ContentType="application/vnd.openxmlformats-officedocument.presentationml.notes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1"/>
  </p:notesMasterIdLst>
  <p:sldIdLst>
    <p:sldId id="256" r:id="rId2"/>
    <p:sldId id="257" r:id="rId3"/>
    <p:sldId id="258" r:id="rId4"/>
    <p:sldId id="259" r:id="rId5"/>
    <p:sldId id="260" r:id="rId6"/>
    <p:sldId id="261" r:id="rId7"/>
    <p:sldId id="262" r:id="rId8"/>
    <p:sldId id="263" r:id="rId9"/>
    <p:sldId id="264" r:id="rId10"/>
    <p:sldId id="323" r:id="rId11"/>
    <p:sldId id="265" r:id="rId12"/>
    <p:sldId id="266" r:id="rId13"/>
    <p:sldId id="267" r:id="rId14"/>
    <p:sldId id="269" r:id="rId15"/>
    <p:sldId id="271" r:id="rId16"/>
    <p:sldId id="272" r:id="rId17"/>
    <p:sldId id="273" r:id="rId18"/>
    <p:sldId id="275" r:id="rId19"/>
    <p:sldId id="276" r:id="rId20"/>
    <p:sldId id="277" r:id="rId21"/>
    <p:sldId id="278" r:id="rId22"/>
    <p:sldId id="279" r:id="rId23"/>
    <p:sldId id="280" r:id="rId24"/>
    <p:sldId id="281" r:id="rId25"/>
    <p:sldId id="282" r:id="rId26"/>
    <p:sldId id="283" r:id="rId27"/>
    <p:sldId id="284" r:id="rId28"/>
    <p:sldId id="302" r:id="rId29"/>
    <p:sldId id="285" r:id="rId30"/>
    <p:sldId id="286" r:id="rId31"/>
    <p:sldId id="287" r:id="rId32"/>
    <p:sldId id="288" r:id="rId33"/>
    <p:sldId id="289" r:id="rId34"/>
    <p:sldId id="290" r:id="rId35"/>
    <p:sldId id="291" r:id="rId36"/>
    <p:sldId id="292" r:id="rId37"/>
    <p:sldId id="293" r:id="rId38"/>
    <p:sldId id="324" r:id="rId39"/>
    <p:sldId id="294" r:id="rId40"/>
    <p:sldId id="295" r:id="rId41"/>
    <p:sldId id="296" r:id="rId42"/>
    <p:sldId id="297" r:id="rId43"/>
    <p:sldId id="298" r:id="rId44"/>
    <p:sldId id="299" r:id="rId45"/>
    <p:sldId id="300" r:id="rId46"/>
    <p:sldId id="301" r:id="rId47"/>
    <p:sldId id="303" r:id="rId48"/>
    <p:sldId id="304" r:id="rId49"/>
    <p:sldId id="305" r:id="rId50"/>
    <p:sldId id="307" r:id="rId51"/>
    <p:sldId id="308" r:id="rId52"/>
    <p:sldId id="306" r:id="rId53"/>
    <p:sldId id="309" r:id="rId54"/>
    <p:sldId id="310" r:id="rId55"/>
    <p:sldId id="311" r:id="rId56"/>
    <p:sldId id="313" r:id="rId57"/>
    <p:sldId id="312" r:id="rId58"/>
    <p:sldId id="314" r:id="rId59"/>
    <p:sldId id="315" r:id="rId60"/>
    <p:sldId id="316" r:id="rId61"/>
    <p:sldId id="317" r:id="rId62"/>
    <p:sldId id="318" r:id="rId63"/>
    <p:sldId id="319" r:id="rId64"/>
    <p:sldId id="320" r:id="rId65"/>
    <p:sldId id="321" r:id="rId66"/>
    <p:sldId id="322" r:id="rId67"/>
    <p:sldId id="325" r:id="rId68"/>
    <p:sldId id="326" r:id="rId69"/>
    <p:sldId id="327" r:id="rId70"/>
    <p:sldId id="328" r:id="rId71"/>
    <p:sldId id="329" r:id="rId72"/>
    <p:sldId id="331" r:id="rId73"/>
    <p:sldId id="332" r:id="rId74"/>
    <p:sldId id="333" r:id="rId75"/>
    <p:sldId id="334" r:id="rId76"/>
    <p:sldId id="335" r:id="rId77"/>
    <p:sldId id="337" r:id="rId78"/>
    <p:sldId id="338" r:id="rId79"/>
    <p:sldId id="339" r:id="rId80"/>
    <p:sldId id="330" r:id="rId81"/>
    <p:sldId id="340" r:id="rId82"/>
    <p:sldId id="342" r:id="rId83"/>
    <p:sldId id="343" r:id="rId84"/>
    <p:sldId id="344" r:id="rId85"/>
    <p:sldId id="345" r:id="rId86"/>
    <p:sldId id="346" r:id="rId87"/>
    <p:sldId id="341" r:id="rId88"/>
    <p:sldId id="347" r:id="rId89"/>
    <p:sldId id="348" r:id="rId90"/>
    <p:sldId id="349" r:id="rId91"/>
    <p:sldId id="350" r:id="rId92"/>
    <p:sldId id="352" r:id="rId93"/>
    <p:sldId id="351" r:id="rId94"/>
    <p:sldId id="353" r:id="rId95"/>
    <p:sldId id="355" r:id="rId96"/>
    <p:sldId id="354" r:id="rId97"/>
    <p:sldId id="356" r:id="rId98"/>
    <p:sldId id="357" r:id="rId99"/>
    <p:sldId id="358" r:id="rId100"/>
    <p:sldId id="359" r:id="rId101"/>
    <p:sldId id="360" r:id="rId102"/>
    <p:sldId id="361" r:id="rId103"/>
    <p:sldId id="362" r:id="rId104"/>
    <p:sldId id="363" r:id="rId105"/>
    <p:sldId id="364" r:id="rId106"/>
    <p:sldId id="365" r:id="rId107"/>
    <p:sldId id="366" r:id="rId108"/>
    <p:sldId id="367" r:id="rId109"/>
    <p:sldId id="368" r:id="rId110"/>
    <p:sldId id="369" r:id="rId111"/>
    <p:sldId id="370" r:id="rId112"/>
    <p:sldId id="371" r:id="rId113"/>
    <p:sldId id="372" r:id="rId114"/>
    <p:sldId id="373" r:id="rId115"/>
    <p:sldId id="374" r:id="rId116"/>
    <p:sldId id="375" r:id="rId117"/>
    <p:sldId id="470" r:id="rId118"/>
    <p:sldId id="377" r:id="rId119"/>
    <p:sldId id="378" r:id="rId120"/>
    <p:sldId id="376" r:id="rId121"/>
    <p:sldId id="379" r:id="rId122"/>
    <p:sldId id="380" r:id="rId123"/>
    <p:sldId id="381" r:id="rId124"/>
    <p:sldId id="382" r:id="rId125"/>
    <p:sldId id="383" r:id="rId126"/>
    <p:sldId id="384" r:id="rId127"/>
    <p:sldId id="385" r:id="rId128"/>
    <p:sldId id="387" r:id="rId129"/>
    <p:sldId id="468" r:id="rId130"/>
    <p:sldId id="469" r:id="rId131"/>
    <p:sldId id="471" r:id="rId132"/>
    <p:sldId id="388" r:id="rId133"/>
    <p:sldId id="389" r:id="rId134"/>
    <p:sldId id="390" r:id="rId135"/>
    <p:sldId id="391" r:id="rId136"/>
    <p:sldId id="392" r:id="rId137"/>
    <p:sldId id="393" r:id="rId138"/>
    <p:sldId id="394" r:id="rId139"/>
    <p:sldId id="395" r:id="rId140"/>
    <p:sldId id="396" r:id="rId141"/>
    <p:sldId id="397" r:id="rId142"/>
    <p:sldId id="398" r:id="rId143"/>
    <p:sldId id="399" r:id="rId144"/>
    <p:sldId id="386" r:id="rId145"/>
    <p:sldId id="400" r:id="rId146"/>
    <p:sldId id="402" r:id="rId147"/>
    <p:sldId id="403" r:id="rId148"/>
    <p:sldId id="404" r:id="rId149"/>
    <p:sldId id="405" r:id="rId150"/>
    <p:sldId id="406" r:id="rId151"/>
    <p:sldId id="408" r:id="rId152"/>
    <p:sldId id="407" r:id="rId153"/>
    <p:sldId id="409" r:id="rId154"/>
    <p:sldId id="410" r:id="rId155"/>
    <p:sldId id="411" r:id="rId156"/>
    <p:sldId id="412" r:id="rId157"/>
    <p:sldId id="413" r:id="rId158"/>
    <p:sldId id="414" r:id="rId159"/>
    <p:sldId id="415" r:id="rId160"/>
    <p:sldId id="417" r:id="rId161"/>
    <p:sldId id="416" r:id="rId162"/>
    <p:sldId id="418" r:id="rId163"/>
    <p:sldId id="419" r:id="rId164"/>
    <p:sldId id="422" r:id="rId165"/>
    <p:sldId id="420" r:id="rId166"/>
    <p:sldId id="421" r:id="rId167"/>
    <p:sldId id="423" r:id="rId168"/>
    <p:sldId id="425" r:id="rId169"/>
    <p:sldId id="424" r:id="rId170"/>
    <p:sldId id="426" r:id="rId171"/>
    <p:sldId id="427" r:id="rId172"/>
    <p:sldId id="401" r:id="rId173"/>
    <p:sldId id="428" r:id="rId174"/>
    <p:sldId id="429" r:id="rId175"/>
    <p:sldId id="430" r:id="rId176"/>
    <p:sldId id="431" r:id="rId177"/>
    <p:sldId id="432" r:id="rId178"/>
    <p:sldId id="433" r:id="rId179"/>
    <p:sldId id="434" r:id="rId180"/>
    <p:sldId id="435" r:id="rId181"/>
    <p:sldId id="437" r:id="rId182"/>
    <p:sldId id="438" r:id="rId183"/>
    <p:sldId id="439" r:id="rId184"/>
    <p:sldId id="440" r:id="rId185"/>
    <p:sldId id="436" r:id="rId186"/>
    <p:sldId id="441" r:id="rId187"/>
    <p:sldId id="442" r:id="rId188"/>
    <p:sldId id="444" r:id="rId189"/>
    <p:sldId id="445" r:id="rId190"/>
    <p:sldId id="446" r:id="rId191"/>
    <p:sldId id="447" r:id="rId192"/>
    <p:sldId id="448" r:id="rId193"/>
    <p:sldId id="449" r:id="rId194"/>
    <p:sldId id="452" r:id="rId195"/>
    <p:sldId id="453" r:id="rId196"/>
    <p:sldId id="450" r:id="rId197"/>
    <p:sldId id="451" r:id="rId198"/>
    <p:sldId id="454" r:id="rId199"/>
    <p:sldId id="455" r:id="rId200"/>
    <p:sldId id="456" r:id="rId201"/>
    <p:sldId id="457" r:id="rId202"/>
    <p:sldId id="458" r:id="rId203"/>
    <p:sldId id="459" r:id="rId204"/>
    <p:sldId id="461" r:id="rId205"/>
    <p:sldId id="460" r:id="rId206"/>
    <p:sldId id="462" r:id="rId207"/>
    <p:sldId id="463" r:id="rId208"/>
    <p:sldId id="464" r:id="rId209"/>
    <p:sldId id="465" r:id="rId210"/>
    <p:sldId id="466" r:id="rId211"/>
    <p:sldId id="467" r:id="rId212"/>
    <p:sldId id="443" r:id="rId213"/>
    <p:sldId id="472" r:id="rId214"/>
    <p:sldId id="473" r:id="rId215"/>
    <p:sldId id="474" r:id="rId216"/>
    <p:sldId id="475" r:id="rId217"/>
    <p:sldId id="476" r:id="rId218"/>
    <p:sldId id="477" r:id="rId219"/>
    <p:sldId id="478" r:id="rId220"/>
  </p:sldIdLst>
  <p:sldSz cx="9144000" cy="6858000" type="screen4x3"/>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0D2E4"/>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12" autoAdjust="0"/>
    <p:restoredTop sz="94660"/>
  </p:normalViewPr>
  <p:slideViewPr>
    <p:cSldViewPr>
      <p:cViewPr varScale="1">
        <p:scale>
          <a:sx n="68" d="100"/>
          <a:sy n="68" d="100"/>
        </p:scale>
        <p:origin x="-139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11" Type="http://schemas.openxmlformats.org/officeDocument/2006/relationships/slide" Target="slides/slide210.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01" Type="http://schemas.openxmlformats.org/officeDocument/2006/relationships/slide" Target="slides/slide200.xml"/><Relationship Id="rId222"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19" Type="http://schemas.openxmlformats.org/officeDocument/2006/relationships/slide" Target="slides/slide18.xml"/><Relationship Id="rId224" Type="http://schemas.openxmlformats.org/officeDocument/2006/relationships/theme" Target="theme/theme1.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notesMaster" Target="notesMasters/notesMaster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PT"/>
          </a:p>
        </p:txBody>
      </p:sp>
      <p:sp>
        <p:nvSpPr>
          <p:cNvPr id="3" name="Marcador de Posição d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468185-6A6A-42EC-8376-1DE8DB4BE6FE}" type="datetimeFigureOut">
              <a:rPr lang="pt-PT" smtClean="0"/>
              <a:pPr/>
              <a:t>10/06/2021</a:t>
            </a:fld>
            <a:endParaRPr lang="pt-PT"/>
          </a:p>
        </p:txBody>
      </p:sp>
      <p:sp>
        <p:nvSpPr>
          <p:cNvPr id="4" name="Marcador de Posição da Imagem do Diapositivo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PT"/>
          </a:p>
        </p:txBody>
      </p:sp>
      <p:sp>
        <p:nvSpPr>
          <p:cNvPr id="5" name="Marcador de Posição de Nota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PT" smtClean="0"/>
              <a:t>Clique para editar os estilos</a:t>
            </a:r>
          </a:p>
          <a:p>
            <a:pPr lvl="1"/>
            <a:r>
              <a:rPr lang="pt-PT" smtClean="0"/>
              <a:t>Segundo nível</a:t>
            </a:r>
          </a:p>
          <a:p>
            <a:pPr lvl="2"/>
            <a:r>
              <a:rPr lang="pt-PT" smtClean="0"/>
              <a:t>Terceiro nível</a:t>
            </a:r>
          </a:p>
          <a:p>
            <a:pPr lvl="3"/>
            <a:r>
              <a:rPr lang="pt-PT" smtClean="0"/>
              <a:t>Quarto nível</a:t>
            </a:r>
          </a:p>
          <a:p>
            <a:pPr lvl="4"/>
            <a:r>
              <a:rPr lang="pt-PT" smtClean="0"/>
              <a:t>Quinto nível</a:t>
            </a:r>
            <a:endParaRPr lang="pt-PT"/>
          </a:p>
        </p:txBody>
      </p:sp>
      <p:sp>
        <p:nvSpPr>
          <p:cNvPr id="6" name="Marcador de Posição do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PT"/>
          </a:p>
        </p:txBody>
      </p:sp>
      <p:sp>
        <p:nvSpPr>
          <p:cNvPr id="7" name="Marcador de Posição do Número do Diapositivo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29F3C07-39B6-4678-A6E4-2C447523BCF9}" type="slidenum">
              <a:rPr lang="pt-PT" smtClean="0"/>
              <a:pPr/>
              <a:t>‹nº›</a:t>
            </a:fld>
            <a:endParaRPr lang="pt-P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2</a:t>
            </a:fld>
            <a:endParaRPr lang="pt-P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fontScale="47500" lnSpcReduction="20000"/>
          </a:bodyPr>
          <a:lstStyle/>
          <a:p>
            <a:pPr eaLnBrk="1" hangingPunct="1">
              <a:buFont typeface="Wingdings" panose="05000000000000000000" pitchFamily="2" charset="2"/>
              <a:buNone/>
              <a:defRPr/>
            </a:pPr>
            <a:endParaRPr lang="pt-PT" altLang="pt-PT" dirty="0" smtClean="0"/>
          </a:p>
          <a:p>
            <a:pPr eaLnBrk="1" hangingPunct="1">
              <a:buFont typeface="Wingdings" panose="05000000000000000000" pitchFamily="2" charset="2"/>
              <a:buNone/>
              <a:defRPr/>
            </a:pPr>
            <a:endParaRPr lang="pt-PT" altLang="pt-PT" dirty="0" smtClean="0"/>
          </a:p>
          <a:p>
            <a:pPr eaLnBrk="1" hangingPunct="1">
              <a:buFont typeface="Wingdings" panose="05000000000000000000" pitchFamily="2" charset="2"/>
              <a:buNone/>
              <a:defRPr/>
            </a:pPr>
            <a:endParaRPr lang="pt-PT" altLang="pt-PT" dirty="0" smtClean="0"/>
          </a:p>
          <a:p>
            <a:pPr eaLnBrk="1" hangingPunct="1">
              <a:buFont typeface="Wingdings" panose="05000000000000000000" pitchFamily="2" charset="2"/>
              <a:buNone/>
              <a:defRPr/>
            </a:pPr>
            <a:endParaRPr lang="pt-PT" altLang="pt-PT" dirty="0" smtClean="0"/>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4</a:t>
            </a:fld>
            <a:endParaRPr lang="pt-P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fontScale="47500" lnSpcReduction="20000"/>
          </a:bodyPr>
          <a:lstStyle/>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6</a:t>
            </a:fld>
            <a:endParaRPr lang="pt-P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PT" sz="1200" kern="1200" baseline="0" dirty="0" smtClean="0">
                <a:solidFill>
                  <a:schemeClr val="tx1"/>
                </a:solidFill>
                <a:latin typeface="+mn-lt"/>
                <a:ea typeface="+mn-ea"/>
                <a:cs typeface="+mn-cs"/>
              </a:rPr>
              <a:t>Consiste de um enlace local e equipamentos associados, que conecta o local do serviço do usuário à central.</a:t>
            </a:r>
          </a:p>
          <a:p>
            <a:r>
              <a:rPr lang="pt-PT" sz="1200" kern="1200" baseline="0" dirty="0" smtClean="0">
                <a:solidFill>
                  <a:schemeClr val="tx1"/>
                </a:solidFill>
                <a:latin typeface="+mn-lt"/>
                <a:ea typeface="+mn-ea"/>
                <a:cs typeface="+mn-cs"/>
              </a:rPr>
              <a:t>Por um longo tempo, a rede de acesso era composta, tipicamente, de um feixe de cabos, transportando milhares de pares de fios até os pontos de distribuição</a:t>
            </a:r>
          </a:p>
          <a:p>
            <a:r>
              <a:rPr lang="pt-PT" sz="1200" kern="1200" baseline="0" dirty="0" smtClean="0">
                <a:solidFill>
                  <a:schemeClr val="tx1"/>
                </a:solidFill>
                <a:latin typeface="+mn-lt"/>
                <a:ea typeface="+mn-ea"/>
                <a:cs typeface="+mn-cs"/>
              </a:rPr>
              <a:t>Dos pontos de distribuição partem os cabos (pares) dedicados para os usuários.</a:t>
            </a:r>
          </a:p>
          <a:p>
            <a:r>
              <a:rPr lang="pt-PT" sz="1200" kern="1200" baseline="0" dirty="0" smtClean="0">
                <a:solidFill>
                  <a:schemeClr val="tx1"/>
                </a:solidFill>
                <a:latin typeface="+mn-lt"/>
                <a:ea typeface="+mn-ea"/>
                <a:cs typeface="+mn-cs"/>
              </a:rPr>
              <a:t>Estes pares provêm os serviços de telefonia, como telefone analógico, fax e transmissão de dados utilizando modems e acesso básico de RDSI.</a:t>
            </a:r>
          </a:p>
          <a:p>
            <a:r>
              <a:rPr lang="pt-PT" sz="1200" kern="1200" baseline="0" dirty="0" smtClean="0">
                <a:solidFill>
                  <a:schemeClr val="tx1"/>
                </a:solidFill>
                <a:latin typeface="+mn-lt"/>
                <a:ea typeface="+mn-ea"/>
                <a:cs typeface="+mn-cs"/>
              </a:rPr>
              <a:t>Ainda hoje, Mesmo nos países altamente industrializados, a maioria dos assinantes são servidos por este tipo de acesso.</a:t>
            </a:r>
          </a:p>
          <a:p>
            <a:r>
              <a:rPr lang="pt-PT" sz="1200" kern="1200" baseline="0" dirty="0" smtClean="0">
                <a:solidFill>
                  <a:schemeClr val="tx1"/>
                </a:solidFill>
                <a:latin typeface="+mn-lt"/>
                <a:ea typeface="+mn-ea"/>
                <a:cs typeface="+mn-cs"/>
              </a:rPr>
              <a:t>É composta pela rede primária ou de alimentação (da central até o armário) e pela rede secundária ou de distribuição (do armário até a caixinha de</a:t>
            </a:r>
          </a:p>
          <a:p>
            <a:r>
              <a:rPr lang="pt-PT" sz="1200" kern="1200" baseline="0" dirty="0" smtClean="0">
                <a:solidFill>
                  <a:schemeClr val="tx1"/>
                </a:solidFill>
                <a:latin typeface="+mn-lt"/>
                <a:ea typeface="+mn-ea"/>
                <a:cs typeface="+mn-cs"/>
              </a:rPr>
              <a:t>distribuição)</a:t>
            </a:r>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7</a:t>
            </a:fld>
            <a:endParaRPr lang="pt-P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PT" sz="1200" kern="1200" baseline="0" dirty="0" smtClean="0">
                <a:solidFill>
                  <a:schemeClr val="tx1"/>
                </a:solidFill>
                <a:latin typeface="+mn-lt"/>
                <a:ea typeface="+mn-ea"/>
                <a:cs typeface="+mn-cs"/>
              </a:rPr>
              <a:t>Os concentradores aparecem como opção de atender localidades remotas, diminuindo consideravelmente o número de pares de fio.</a:t>
            </a:r>
          </a:p>
          <a:p>
            <a:r>
              <a:rPr lang="pt-PT" sz="1200" kern="1200" baseline="0" dirty="0" smtClean="0">
                <a:solidFill>
                  <a:schemeClr val="tx1"/>
                </a:solidFill>
                <a:latin typeface="+mn-lt"/>
                <a:ea typeface="+mn-ea"/>
                <a:cs typeface="+mn-cs"/>
              </a:rPr>
              <a:t>Um concentrador conecta a um enlace PCM um número de unidades de linhas de assinantes maior do que o número de janelas de tempo (time </a:t>
            </a:r>
            <a:r>
              <a:rPr lang="pt-PT" sz="1200" kern="1200" baseline="0" dirty="0" err="1" smtClean="0">
                <a:solidFill>
                  <a:schemeClr val="tx1"/>
                </a:solidFill>
                <a:latin typeface="+mn-lt"/>
                <a:ea typeface="+mn-ea"/>
                <a:cs typeface="+mn-cs"/>
              </a:rPr>
              <a:t>slots</a:t>
            </a:r>
            <a:r>
              <a:rPr lang="pt-PT" sz="1200" kern="1200" baseline="0" dirty="0" smtClean="0">
                <a:solidFill>
                  <a:schemeClr val="tx1"/>
                </a:solidFill>
                <a:latin typeface="+mn-lt"/>
                <a:ea typeface="+mn-ea"/>
                <a:cs typeface="+mn-cs"/>
              </a:rPr>
              <a:t>) do</a:t>
            </a:r>
          </a:p>
          <a:p>
            <a:r>
              <a:rPr lang="pt-PT" sz="1200" kern="1200" baseline="0" dirty="0" smtClean="0">
                <a:solidFill>
                  <a:schemeClr val="tx1"/>
                </a:solidFill>
                <a:latin typeface="+mn-lt"/>
                <a:ea typeface="+mn-ea"/>
                <a:cs typeface="+mn-cs"/>
              </a:rPr>
              <a:t>enlace. Os concentradores podem ser controlados pelo processador da central principal, por meios de sinais enviados no próprio enlace PCM (por exemplo, na janela 16 do sistema de 30 canais) ou ter o seu próprio processador provendo algumas facilidades, como por exemplo, comutação nas ligações entre seus próprios assinantes. Note que neste caso, mesmo que haja uma falha no enlace PCM entre o concentrador e a central principal, as </a:t>
            </a:r>
            <a:r>
              <a:rPr lang="pt-PT" sz="1200" kern="1200" baseline="0" smtClean="0">
                <a:solidFill>
                  <a:schemeClr val="tx1"/>
                </a:solidFill>
                <a:latin typeface="+mn-lt"/>
                <a:ea typeface="+mn-ea"/>
                <a:cs typeface="+mn-cs"/>
              </a:rPr>
              <a:t>ligações entre assinantes </a:t>
            </a:r>
            <a:r>
              <a:rPr lang="pt-PT" sz="1200" kern="1200" baseline="0" dirty="0" smtClean="0">
                <a:solidFill>
                  <a:schemeClr val="tx1"/>
                </a:solidFill>
                <a:latin typeface="+mn-lt"/>
                <a:ea typeface="+mn-ea"/>
                <a:cs typeface="+mn-cs"/>
              </a:rPr>
              <a:t>do concentrador permanecem ativas.</a:t>
            </a:r>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11</a:t>
            </a:fld>
            <a:endParaRPr lang="pt-P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PT" sz="1200" kern="1200" baseline="0" dirty="0" smtClean="0">
                <a:solidFill>
                  <a:schemeClr val="tx1"/>
                </a:solidFill>
                <a:latin typeface="+mn-lt"/>
                <a:ea typeface="+mn-ea"/>
                <a:cs typeface="+mn-cs"/>
              </a:rPr>
              <a:t>Neste caso um anel </a:t>
            </a:r>
            <a:r>
              <a:rPr lang="pt-PT" sz="1200" kern="1200" baseline="0" dirty="0" err="1" smtClean="0">
                <a:solidFill>
                  <a:schemeClr val="tx1"/>
                </a:solidFill>
                <a:latin typeface="+mn-lt"/>
                <a:ea typeface="+mn-ea"/>
                <a:cs typeface="+mn-cs"/>
              </a:rPr>
              <a:t>óptico</a:t>
            </a:r>
            <a:r>
              <a:rPr lang="pt-PT" sz="1200" kern="1200" baseline="0" dirty="0" smtClean="0">
                <a:solidFill>
                  <a:schemeClr val="tx1"/>
                </a:solidFill>
                <a:latin typeface="+mn-lt"/>
                <a:ea typeface="+mn-ea"/>
                <a:cs typeface="+mn-cs"/>
              </a:rPr>
              <a:t> é utilizado na rede primária (alimentadora), utilizando tecnologia SDH (</a:t>
            </a:r>
            <a:r>
              <a:rPr lang="pt-PT" sz="1200" kern="1200" baseline="0" dirty="0" err="1" smtClean="0">
                <a:solidFill>
                  <a:schemeClr val="tx1"/>
                </a:solidFill>
                <a:latin typeface="+mn-lt"/>
                <a:ea typeface="+mn-ea"/>
                <a:cs typeface="+mn-cs"/>
              </a:rPr>
              <a:t>Synchronous</a:t>
            </a:r>
            <a:r>
              <a:rPr lang="pt-PT" sz="1200" kern="1200" baseline="0" dirty="0" smtClean="0">
                <a:solidFill>
                  <a:schemeClr val="tx1"/>
                </a:solidFill>
                <a:latin typeface="+mn-lt"/>
                <a:ea typeface="+mn-ea"/>
                <a:cs typeface="+mn-cs"/>
              </a:rPr>
              <a:t> Digital </a:t>
            </a:r>
            <a:r>
              <a:rPr lang="pt-PT" sz="1200" kern="1200" baseline="0" dirty="0" err="1" smtClean="0">
                <a:solidFill>
                  <a:schemeClr val="tx1"/>
                </a:solidFill>
                <a:latin typeface="+mn-lt"/>
                <a:ea typeface="+mn-ea"/>
                <a:cs typeface="+mn-cs"/>
              </a:rPr>
              <a:t>Hierarchy</a:t>
            </a:r>
            <a:r>
              <a:rPr lang="pt-PT" sz="1200" kern="1200" baseline="0" dirty="0" smtClean="0">
                <a:solidFill>
                  <a:schemeClr val="tx1"/>
                </a:solidFill>
                <a:latin typeface="+mn-lt"/>
                <a:ea typeface="+mn-ea"/>
                <a:cs typeface="+mn-cs"/>
              </a:rPr>
              <a:t> - Hierarquia</a:t>
            </a:r>
          </a:p>
          <a:p>
            <a:r>
              <a:rPr lang="pt-PT" sz="1200" kern="1200" baseline="0" dirty="0" smtClean="0">
                <a:solidFill>
                  <a:schemeClr val="tx1"/>
                </a:solidFill>
                <a:latin typeface="+mn-lt"/>
                <a:ea typeface="+mn-ea"/>
                <a:cs typeface="+mn-cs"/>
              </a:rPr>
              <a:t>Digital Síncrona) para interconectar os Estágios de Linha Remotos com a Central Mãe.</a:t>
            </a:r>
          </a:p>
          <a:p>
            <a:r>
              <a:rPr lang="pt-PT" sz="1200" kern="1200" baseline="0" dirty="0" smtClean="0">
                <a:solidFill>
                  <a:schemeClr val="tx1"/>
                </a:solidFill>
                <a:latin typeface="+mn-lt"/>
                <a:ea typeface="+mn-ea"/>
                <a:cs typeface="+mn-cs"/>
              </a:rPr>
              <a:t>Esta configuração também é utilizada para entroncar diversas centrais locais.</a:t>
            </a:r>
          </a:p>
          <a:p>
            <a:r>
              <a:rPr lang="pt-PT" sz="1200" kern="1200" baseline="0" dirty="0" smtClean="0">
                <a:solidFill>
                  <a:schemeClr val="tx1"/>
                </a:solidFill>
                <a:latin typeface="+mn-lt"/>
                <a:ea typeface="+mn-ea"/>
                <a:cs typeface="+mn-cs"/>
              </a:rPr>
              <a:t>Desta forma, um número menor de centrais com grandes capacidades é conectado por anéis a fibra </a:t>
            </a:r>
            <a:r>
              <a:rPr lang="pt-PT" sz="1200" kern="1200" baseline="0" dirty="0" err="1" smtClean="0">
                <a:solidFill>
                  <a:schemeClr val="tx1"/>
                </a:solidFill>
                <a:latin typeface="+mn-lt"/>
                <a:ea typeface="+mn-ea"/>
                <a:cs typeface="+mn-cs"/>
              </a:rPr>
              <a:t>óptica</a:t>
            </a:r>
            <a:r>
              <a:rPr lang="pt-PT" sz="1200" kern="1200" baseline="0" dirty="0" smtClean="0">
                <a:solidFill>
                  <a:schemeClr val="tx1"/>
                </a:solidFill>
                <a:latin typeface="+mn-lt"/>
                <a:ea typeface="+mn-ea"/>
                <a:cs typeface="+mn-cs"/>
              </a:rPr>
              <a:t> tolerantes a falha, isto é, mesmo que haja</a:t>
            </a:r>
          </a:p>
          <a:p>
            <a:r>
              <a:rPr lang="pt-PT" sz="1200" kern="1200" baseline="0" dirty="0" smtClean="0">
                <a:solidFill>
                  <a:schemeClr val="tx1"/>
                </a:solidFill>
                <a:latin typeface="+mn-lt"/>
                <a:ea typeface="+mn-ea"/>
                <a:cs typeface="+mn-cs"/>
              </a:rPr>
              <a:t>falha nos nós ou </a:t>
            </a:r>
            <a:r>
              <a:rPr lang="pt-PT" sz="1200" kern="1200" baseline="0" dirty="0" err="1" smtClean="0">
                <a:solidFill>
                  <a:schemeClr val="tx1"/>
                </a:solidFill>
                <a:latin typeface="+mn-lt"/>
                <a:ea typeface="+mn-ea"/>
                <a:cs typeface="+mn-cs"/>
              </a:rPr>
              <a:t>ruptura</a:t>
            </a:r>
            <a:r>
              <a:rPr lang="pt-PT" sz="1200" kern="1200" baseline="0" dirty="0" smtClean="0">
                <a:solidFill>
                  <a:schemeClr val="tx1"/>
                </a:solidFill>
                <a:latin typeface="+mn-lt"/>
                <a:ea typeface="+mn-ea"/>
                <a:cs typeface="+mn-cs"/>
              </a:rPr>
              <a:t> dos cabos, há garantia de 100% de disponibilidade dos serviços.</a:t>
            </a:r>
          </a:p>
          <a:p>
            <a:r>
              <a:rPr lang="pt-PT" sz="1200" kern="1200" baseline="0" dirty="0" smtClean="0">
                <a:solidFill>
                  <a:schemeClr val="tx1"/>
                </a:solidFill>
                <a:latin typeface="+mn-lt"/>
                <a:ea typeface="+mn-ea"/>
                <a:cs typeface="+mn-cs"/>
              </a:rPr>
              <a:t>O ADM (</a:t>
            </a:r>
            <a:r>
              <a:rPr lang="pt-PT" sz="1200" kern="1200" baseline="0" dirty="0" err="1" smtClean="0">
                <a:solidFill>
                  <a:schemeClr val="tx1"/>
                </a:solidFill>
                <a:latin typeface="+mn-lt"/>
                <a:ea typeface="+mn-ea"/>
                <a:cs typeface="+mn-cs"/>
              </a:rPr>
              <a:t>Add</a:t>
            </a:r>
            <a:r>
              <a:rPr lang="pt-PT" sz="1200" kern="1200" baseline="0" dirty="0" smtClean="0">
                <a:solidFill>
                  <a:schemeClr val="tx1"/>
                </a:solidFill>
                <a:latin typeface="+mn-lt"/>
                <a:ea typeface="+mn-ea"/>
                <a:cs typeface="+mn-cs"/>
              </a:rPr>
              <a:t> </a:t>
            </a:r>
            <a:r>
              <a:rPr lang="pt-PT" sz="1200" kern="1200" baseline="0" dirty="0" err="1" smtClean="0">
                <a:solidFill>
                  <a:schemeClr val="tx1"/>
                </a:solidFill>
                <a:latin typeface="+mn-lt"/>
                <a:ea typeface="+mn-ea"/>
                <a:cs typeface="+mn-cs"/>
              </a:rPr>
              <a:t>Drop</a:t>
            </a:r>
            <a:r>
              <a:rPr lang="pt-PT" sz="1200" kern="1200" baseline="0" dirty="0" smtClean="0">
                <a:solidFill>
                  <a:schemeClr val="tx1"/>
                </a:solidFill>
                <a:latin typeface="+mn-lt"/>
                <a:ea typeface="+mn-ea"/>
                <a:cs typeface="+mn-cs"/>
              </a:rPr>
              <a:t> </a:t>
            </a:r>
            <a:r>
              <a:rPr lang="pt-PT" sz="1200" kern="1200" baseline="0" dirty="0" err="1" smtClean="0">
                <a:solidFill>
                  <a:schemeClr val="tx1"/>
                </a:solidFill>
                <a:latin typeface="+mn-lt"/>
                <a:ea typeface="+mn-ea"/>
                <a:cs typeface="+mn-cs"/>
              </a:rPr>
              <a:t>Multiplexer</a:t>
            </a:r>
            <a:r>
              <a:rPr lang="pt-PT" sz="1200" kern="1200" baseline="0" dirty="0" smtClean="0">
                <a:solidFill>
                  <a:schemeClr val="tx1"/>
                </a:solidFill>
                <a:latin typeface="+mn-lt"/>
                <a:ea typeface="+mn-ea"/>
                <a:cs typeface="+mn-cs"/>
              </a:rPr>
              <a:t>) é um equipamento que facilita a inserção e a derivação de tributários de um determinado sinal de linha STM-N.</a:t>
            </a:r>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12</a:t>
            </a:fld>
            <a:endParaRPr lang="pt-P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16</a:t>
            </a:fld>
            <a:endParaRPr lang="pt-P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PT" sz="1200" kern="1200" baseline="0" dirty="0" smtClean="0">
                <a:solidFill>
                  <a:schemeClr val="tx1"/>
                </a:solidFill>
                <a:latin typeface="+mn-lt"/>
                <a:ea typeface="+mn-ea"/>
                <a:cs typeface="+mn-cs"/>
              </a:rPr>
              <a:t>Com a remoção do filtro, a largura de faixa do par metálica fica dependente da distância. A quantidade de bits por segundo (</a:t>
            </a:r>
            <a:r>
              <a:rPr lang="pt-PT" sz="1200" kern="1200" baseline="0" dirty="0" err="1" smtClean="0">
                <a:solidFill>
                  <a:schemeClr val="tx1"/>
                </a:solidFill>
                <a:latin typeface="+mn-lt"/>
                <a:ea typeface="+mn-ea"/>
                <a:cs typeface="+mn-cs"/>
              </a:rPr>
              <a:t>bps</a:t>
            </a:r>
            <a:r>
              <a:rPr lang="pt-PT" sz="1200" kern="1200" baseline="0" dirty="0" smtClean="0">
                <a:solidFill>
                  <a:schemeClr val="tx1"/>
                </a:solidFill>
                <a:latin typeface="+mn-lt"/>
                <a:ea typeface="+mn-ea"/>
                <a:cs typeface="+mn-cs"/>
              </a:rPr>
              <a:t>) vai depender da eficiência do sistema de codificação utilizada.</a:t>
            </a:r>
          </a:p>
          <a:p>
            <a:r>
              <a:rPr lang="pt-PT" sz="1200" kern="1200" baseline="0" dirty="0" smtClean="0">
                <a:solidFill>
                  <a:schemeClr val="tx1"/>
                </a:solidFill>
                <a:latin typeface="+mn-lt"/>
                <a:ea typeface="+mn-ea"/>
                <a:cs typeface="+mn-cs"/>
              </a:rPr>
              <a:t>A eficiência de codificação, mostra a quantidade de </a:t>
            </a:r>
            <a:r>
              <a:rPr lang="pt-PT" sz="1200" kern="1200" baseline="0" dirty="0" err="1" smtClean="0">
                <a:solidFill>
                  <a:schemeClr val="tx1"/>
                </a:solidFill>
                <a:latin typeface="+mn-lt"/>
                <a:ea typeface="+mn-ea"/>
                <a:cs typeface="+mn-cs"/>
              </a:rPr>
              <a:t>bps</a:t>
            </a:r>
            <a:r>
              <a:rPr lang="pt-PT" sz="1200" kern="1200" baseline="0" dirty="0" smtClean="0">
                <a:solidFill>
                  <a:schemeClr val="tx1"/>
                </a:solidFill>
                <a:latin typeface="+mn-lt"/>
                <a:ea typeface="+mn-ea"/>
                <a:cs typeface="+mn-cs"/>
              </a:rPr>
              <a:t> é possível “colocar” em 1Hz, para uma determinada taxa de erro de bits.</a:t>
            </a:r>
          </a:p>
          <a:p>
            <a:r>
              <a:rPr lang="pt-PT" sz="1200" kern="1200" baseline="0" dirty="0" smtClean="0">
                <a:solidFill>
                  <a:schemeClr val="tx1"/>
                </a:solidFill>
                <a:latin typeface="+mn-lt"/>
                <a:ea typeface="+mn-ea"/>
                <a:cs typeface="+mn-cs"/>
              </a:rPr>
              <a:t>A tabela mostra que, considerando uma largura de faixa útil de 1 MHz, com um comprimento de 50 </a:t>
            </a:r>
            <a:r>
              <a:rPr lang="pt-PT" sz="1200" kern="1200" baseline="0" dirty="0" err="1" smtClean="0">
                <a:solidFill>
                  <a:schemeClr val="tx1"/>
                </a:solidFill>
                <a:latin typeface="+mn-lt"/>
                <a:ea typeface="+mn-ea"/>
                <a:cs typeface="+mn-cs"/>
              </a:rPr>
              <a:t>mts</a:t>
            </a:r>
            <a:r>
              <a:rPr lang="pt-PT" sz="1200" kern="1200" baseline="0" dirty="0" smtClean="0">
                <a:solidFill>
                  <a:schemeClr val="tx1"/>
                </a:solidFill>
                <a:latin typeface="+mn-lt"/>
                <a:ea typeface="+mn-ea"/>
                <a:cs typeface="+mn-cs"/>
              </a:rPr>
              <a:t>, é possível transmitir até 500 Mbps. Com a mesma largura de faixa, é possível transmitir até 1,2 Mbps a distância de 5,5Km.</a:t>
            </a:r>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18</a:t>
            </a:fld>
            <a:endParaRPr lang="pt-P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PT" sz="1200" kern="1200" baseline="0" dirty="0" smtClean="0">
                <a:solidFill>
                  <a:schemeClr val="tx1"/>
                </a:solidFill>
                <a:latin typeface="+mn-lt"/>
                <a:ea typeface="+mn-ea"/>
                <a:cs typeface="+mn-cs"/>
              </a:rPr>
              <a:t>O </a:t>
            </a:r>
            <a:r>
              <a:rPr lang="pt-PT" sz="1200" kern="1200" baseline="0" dirty="0" err="1" smtClean="0">
                <a:solidFill>
                  <a:schemeClr val="tx1"/>
                </a:solidFill>
                <a:latin typeface="+mn-lt"/>
                <a:ea typeface="+mn-ea"/>
                <a:cs typeface="+mn-cs"/>
              </a:rPr>
              <a:t>xDSL</a:t>
            </a:r>
            <a:r>
              <a:rPr lang="pt-PT" sz="1200" kern="1200" baseline="0" dirty="0" smtClean="0">
                <a:solidFill>
                  <a:schemeClr val="tx1"/>
                </a:solidFill>
                <a:latin typeface="+mn-lt"/>
                <a:ea typeface="+mn-ea"/>
                <a:cs typeface="+mn-cs"/>
              </a:rPr>
              <a:t> (onde o X é uma notação genérica a qual se refere a família de protocolos para</a:t>
            </a:r>
          </a:p>
          <a:p>
            <a:r>
              <a:rPr lang="pt-PT" sz="1200" kern="1200" baseline="0" dirty="0" smtClean="0">
                <a:solidFill>
                  <a:schemeClr val="tx1"/>
                </a:solidFill>
                <a:latin typeface="+mn-lt"/>
                <a:ea typeface="+mn-ea"/>
                <a:cs typeface="+mn-cs"/>
              </a:rPr>
              <a:t>o Digital </a:t>
            </a:r>
            <a:r>
              <a:rPr lang="pt-PT" sz="1200" kern="1200" baseline="0" dirty="0" err="1" smtClean="0">
                <a:solidFill>
                  <a:schemeClr val="tx1"/>
                </a:solidFill>
                <a:latin typeface="+mn-lt"/>
                <a:ea typeface="+mn-ea"/>
                <a:cs typeface="+mn-cs"/>
              </a:rPr>
              <a:t>Subscriber</a:t>
            </a:r>
            <a:r>
              <a:rPr lang="pt-PT" sz="1200" kern="1200" baseline="0" dirty="0" smtClean="0">
                <a:solidFill>
                  <a:schemeClr val="tx1"/>
                </a:solidFill>
                <a:latin typeface="+mn-lt"/>
                <a:ea typeface="+mn-ea"/>
                <a:cs typeface="+mn-cs"/>
              </a:rPr>
              <a:t> </a:t>
            </a:r>
            <a:r>
              <a:rPr lang="pt-PT" sz="1200" kern="1200" baseline="0" dirty="0" err="1" smtClean="0">
                <a:solidFill>
                  <a:schemeClr val="tx1"/>
                </a:solidFill>
                <a:latin typeface="+mn-lt"/>
                <a:ea typeface="+mn-ea"/>
                <a:cs typeface="+mn-cs"/>
              </a:rPr>
              <a:t>Line</a:t>
            </a:r>
            <a:r>
              <a:rPr lang="pt-PT" sz="1200" kern="1200" baseline="0" dirty="0" smtClean="0">
                <a:solidFill>
                  <a:schemeClr val="tx1"/>
                </a:solidFill>
                <a:latin typeface="+mn-lt"/>
                <a:ea typeface="+mn-ea"/>
                <a:cs typeface="+mn-cs"/>
              </a:rPr>
              <a:t>), é uma técnica de comunicação projetada para coexistir com</a:t>
            </a:r>
          </a:p>
          <a:p>
            <a:r>
              <a:rPr lang="pt-PT" sz="1200" kern="1200" baseline="0" dirty="0" smtClean="0">
                <a:solidFill>
                  <a:schemeClr val="tx1"/>
                </a:solidFill>
                <a:latin typeface="+mn-lt"/>
                <a:ea typeface="+mn-ea"/>
                <a:cs typeface="+mn-cs"/>
              </a:rPr>
              <a:t>os velhos serviços de telefonia, onde a </a:t>
            </a:r>
            <a:r>
              <a:rPr lang="pt-PT" sz="1200" kern="1200" baseline="0" dirty="0" err="1" smtClean="0">
                <a:solidFill>
                  <a:schemeClr val="tx1"/>
                </a:solidFill>
                <a:latin typeface="+mn-lt"/>
                <a:ea typeface="+mn-ea"/>
                <a:cs typeface="+mn-cs"/>
              </a:rPr>
              <a:t>infra-estrutura</a:t>
            </a:r>
            <a:r>
              <a:rPr lang="pt-PT" sz="1200" kern="1200" baseline="0" dirty="0" smtClean="0">
                <a:solidFill>
                  <a:schemeClr val="tx1"/>
                </a:solidFill>
                <a:latin typeface="+mn-lt"/>
                <a:ea typeface="+mn-ea"/>
                <a:cs typeface="+mn-cs"/>
              </a:rPr>
              <a:t> e os fios de cobre nos pares</a:t>
            </a:r>
          </a:p>
          <a:p>
            <a:r>
              <a:rPr lang="pt-PT" sz="1200" kern="1200" baseline="0" dirty="0" smtClean="0">
                <a:solidFill>
                  <a:schemeClr val="tx1"/>
                </a:solidFill>
                <a:latin typeface="+mn-lt"/>
                <a:ea typeface="+mn-ea"/>
                <a:cs typeface="+mn-cs"/>
              </a:rPr>
              <a:t>trançados podem ser aproveitados para a transmissão de dados em altas taxas, sem que</a:t>
            </a:r>
          </a:p>
          <a:p>
            <a:r>
              <a:rPr lang="pt-PT" sz="1200" kern="1200" baseline="0" dirty="0" smtClean="0">
                <a:solidFill>
                  <a:schemeClr val="tx1"/>
                </a:solidFill>
                <a:latin typeface="+mn-lt"/>
                <a:ea typeface="+mn-ea"/>
                <a:cs typeface="+mn-cs"/>
              </a:rPr>
              <a:t>voz e dados se interfiram mutuamente. Esta é uma tecnologia que poderia ser</a:t>
            </a:r>
          </a:p>
          <a:p>
            <a:r>
              <a:rPr lang="pt-PT" sz="1200" kern="1200" baseline="0" dirty="0" smtClean="0">
                <a:solidFill>
                  <a:schemeClr val="tx1"/>
                </a:solidFill>
                <a:latin typeface="+mn-lt"/>
                <a:ea typeface="+mn-ea"/>
                <a:cs typeface="+mn-cs"/>
              </a:rPr>
              <a:t>interpretada como uma extensão para tecnologias mais avançadas como a ATM, onde a</a:t>
            </a:r>
          </a:p>
          <a:p>
            <a:r>
              <a:rPr lang="pt-PT" sz="1200" kern="1200" baseline="0" dirty="0" smtClean="0">
                <a:solidFill>
                  <a:schemeClr val="tx1"/>
                </a:solidFill>
                <a:latin typeface="+mn-lt"/>
                <a:ea typeface="+mn-ea"/>
                <a:cs typeface="+mn-cs"/>
              </a:rPr>
              <a:t>tecnologia DSL serviria como um meio de ligar o usuário final a um </a:t>
            </a:r>
            <a:r>
              <a:rPr lang="pt-PT" sz="1200" kern="1200" baseline="0" dirty="0" err="1" smtClean="0">
                <a:solidFill>
                  <a:schemeClr val="tx1"/>
                </a:solidFill>
                <a:latin typeface="+mn-lt"/>
                <a:ea typeface="+mn-ea"/>
                <a:cs typeface="+mn-cs"/>
              </a:rPr>
              <a:t>backbone</a:t>
            </a:r>
            <a:r>
              <a:rPr lang="pt-PT" sz="1200" kern="1200" baseline="0" dirty="0" smtClean="0">
                <a:solidFill>
                  <a:schemeClr val="tx1"/>
                </a:solidFill>
                <a:latin typeface="+mn-lt"/>
                <a:ea typeface="+mn-ea"/>
                <a:cs typeface="+mn-cs"/>
              </a:rPr>
              <a:t> na</a:t>
            </a:r>
          </a:p>
          <a:p>
            <a:r>
              <a:rPr lang="pt-PT" sz="1200" kern="1200" baseline="0" dirty="0" smtClean="0">
                <a:solidFill>
                  <a:schemeClr val="tx1"/>
                </a:solidFill>
                <a:latin typeface="+mn-lt"/>
                <a:ea typeface="+mn-ea"/>
                <a:cs typeface="+mn-cs"/>
              </a:rPr>
              <a:t>central telefônica.</a:t>
            </a:r>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21</a:t>
            </a:fld>
            <a:endParaRPr lang="pt-P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29</a:t>
            </a:fld>
            <a:endParaRPr lang="pt-P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31</a:t>
            </a:fld>
            <a:endParaRPr lang="pt-P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PT" sz="1200" kern="1200" baseline="0" dirty="0" smtClean="0">
                <a:solidFill>
                  <a:schemeClr val="tx1"/>
                </a:solidFill>
                <a:latin typeface="+mn-lt"/>
                <a:ea typeface="+mn-ea"/>
                <a:cs typeface="+mn-cs"/>
              </a:rPr>
              <a:t>Componentes de uma rede ADSL:</a:t>
            </a:r>
          </a:p>
          <a:p>
            <a:r>
              <a:rPr lang="pt-PT" sz="1200" kern="1200" baseline="0" dirty="0" smtClean="0">
                <a:solidFill>
                  <a:schemeClr val="tx1"/>
                </a:solidFill>
                <a:latin typeface="+mn-lt"/>
                <a:ea typeface="+mn-ea"/>
                <a:cs typeface="+mn-cs"/>
              </a:rPr>
              <a:t> </a:t>
            </a:r>
            <a:r>
              <a:rPr lang="pt-PT" sz="1200" b="1" kern="1200" baseline="0" dirty="0" smtClean="0">
                <a:solidFill>
                  <a:schemeClr val="tx1"/>
                </a:solidFill>
                <a:latin typeface="+mn-lt"/>
                <a:ea typeface="+mn-ea"/>
                <a:cs typeface="+mn-cs"/>
              </a:rPr>
              <a:t>Modem ADSL </a:t>
            </a:r>
            <a:r>
              <a:rPr lang="pt-PT" sz="1200" kern="1200" baseline="0" dirty="0" smtClean="0">
                <a:solidFill>
                  <a:schemeClr val="tx1"/>
                </a:solidFill>
                <a:latin typeface="+mn-lt"/>
                <a:ea typeface="+mn-ea"/>
                <a:cs typeface="+mn-cs"/>
              </a:rPr>
              <a:t>- Na residência ou escritório do usuário é instalado um modem ADSL para conexão com um PC. O modem é geralmente conectado</a:t>
            </a:r>
          </a:p>
          <a:p>
            <a:r>
              <a:rPr lang="pt-PT" sz="1200" kern="1200" baseline="0" dirty="0" smtClean="0">
                <a:solidFill>
                  <a:schemeClr val="tx1"/>
                </a:solidFill>
                <a:latin typeface="+mn-lt"/>
                <a:ea typeface="+mn-ea"/>
                <a:cs typeface="+mn-cs"/>
              </a:rPr>
              <a:t>a uma placa de rede no micro. Este micro pode servir de servidor para uma pequena rede local. Alguns modelos de modens exigem o uso de uma placa</a:t>
            </a:r>
          </a:p>
          <a:p>
            <a:r>
              <a:rPr lang="pt-PT" sz="1200" kern="1200" baseline="0" dirty="0" smtClean="0">
                <a:solidFill>
                  <a:schemeClr val="tx1"/>
                </a:solidFill>
                <a:latin typeface="+mn-lt"/>
                <a:ea typeface="+mn-ea"/>
                <a:cs typeface="+mn-cs"/>
              </a:rPr>
              <a:t>Ethernet para servir de interface com o computador, enquanto outros modelos conectam-se diretamente ao barramento PCI.</a:t>
            </a:r>
          </a:p>
          <a:p>
            <a:r>
              <a:rPr lang="pt-PT" sz="1200" b="1" kern="1200" baseline="0" dirty="0" smtClean="0">
                <a:solidFill>
                  <a:schemeClr val="tx1"/>
                </a:solidFill>
                <a:latin typeface="+mn-lt"/>
                <a:ea typeface="+mn-ea"/>
                <a:cs typeface="+mn-cs"/>
              </a:rPr>
              <a:t> SPLITTER </a:t>
            </a:r>
            <a:r>
              <a:rPr lang="pt-PT" sz="1200" kern="1200" baseline="0" dirty="0" smtClean="0">
                <a:solidFill>
                  <a:schemeClr val="tx1"/>
                </a:solidFill>
                <a:latin typeface="+mn-lt"/>
                <a:ea typeface="+mn-ea"/>
                <a:cs typeface="+mn-cs"/>
              </a:rPr>
              <a:t>- Equipamento </a:t>
            </a:r>
            <a:r>
              <a:rPr lang="pt-PT" sz="1200" kern="1200" baseline="0" dirty="0" err="1" smtClean="0">
                <a:solidFill>
                  <a:schemeClr val="tx1"/>
                </a:solidFill>
                <a:latin typeface="+mn-lt"/>
                <a:ea typeface="+mn-ea"/>
                <a:cs typeface="+mn-cs"/>
              </a:rPr>
              <a:t>fracionador</a:t>
            </a:r>
            <a:r>
              <a:rPr lang="pt-PT" sz="1200" kern="1200" baseline="0" dirty="0" smtClean="0">
                <a:solidFill>
                  <a:schemeClr val="tx1"/>
                </a:solidFill>
                <a:latin typeface="+mn-lt"/>
                <a:ea typeface="+mn-ea"/>
                <a:cs typeface="+mn-cs"/>
              </a:rPr>
              <a:t> que separa o sinal de voz da linha telefônica, do sinal de dados do ADSL. Estes podem ser constituídos por</a:t>
            </a:r>
          </a:p>
          <a:p>
            <a:r>
              <a:rPr lang="pt-PT" sz="1200" kern="1200" baseline="0" dirty="0" smtClean="0">
                <a:solidFill>
                  <a:schemeClr val="tx1"/>
                </a:solidFill>
                <a:latin typeface="+mn-lt"/>
                <a:ea typeface="+mn-ea"/>
                <a:cs typeface="+mn-cs"/>
              </a:rPr>
              <a:t>dois modelos, um instalado no lado do assinante que deverá ser conectado no final da linha local, logo após o ponto de demarcação (NID) onde</a:t>
            </a:r>
          </a:p>
          <a:p>
            <a:r>
              <a:rPr lang="pt-PT" sz="1200" kern="1200" baseline="0" dirty="0" smtClean="0">
                <a:solidFill>
                  <a:schemeClr val="tx1"/>
                </a:solidFill>
                <a:latin typeface="+mn-lt"/>
                <a:ea typeface="+mn-ea"/>
                <a:cs typeface="+mn-cs"/>
              </a:rPr>
              <a:t>começa o cabeamento interno do assinante, e outro em formato de unidade será conectado no </a:t>
            </a:r>
            <a:r>
              <a:rPr lang="pt-PT" sz="1200" kern="1200" baseline="0" dirty="0" err="1" smtClean="0">
                <a:solidFill>
                  <a:schemeClr val="tx1"/>
                </a:solidFill>
                <a:latin typeface="+mn-lt"/>
                <a:ea typeface="+mn-ea"/>
                <a:cs typeface="+mn-cs"/>
              </a:rPr>
              <a:t>rack</a:t>
            </a:r>
            <a:r>
              <a:rPr lang="pt-PT" sz="1200" kern="1200" baseline="0" dirty="0" smtClean="0">
                <a:solidFill>
                  <a:schemeClr val="tx1"/>
                </a:solidFill>
                <a:latin typeface="+mn-lt"/>
                <a:ea typeface="+mn-ea"/>
                <a:cs typeface="+mn-cs"/>
              </a:rPr>
              <a:t> na central telefônica.</a:t>
            </a:r>
          </a:p>
          <a:p>
            <a:r>
              <a:rPr lang="pt-PT" sz="1200" b="1" kern="1200" baseline="0" dirty="0" smtClean="0">
                <a:solidFill>
                  <a:schemeClr val="tx1"/>
                </a:solidFill>
                <a:latin typeface="+mn-lt"/>
                <a:ea typeface="+mn-ea"/>
                <a:cs typeface="+mn-cs"/>
              </a:rPr>
              <a:t> DSLAM </a:t>
            </a:r>
            <a:r>
              <a:rPr lang="pt-PT" sz="1200" kern="1200" baseline="0" dirty="0" smtClean="0">
                <a:solidFill>
                  <a:schemeClr val="tx1"/>
                </a:solidFill>
                <a:latin typeface="+mn-lt"/>
                <a:ea typeface="+mn-ea"/>
                <a:cs typeface="+mn-cs"/>
              </a:rPr>
              <a:t>- Na estação telefônica cada par telefônico é conectado a um </a:t>
            </a:r>
            <a:r>
              <a:rPr lang="pt-PT" sz="1200" kern="1200" baseline="0" dirty="0" err="1" smtClean="0">
                <a:solidFill>
                  <a:schemeClr val="tx1"/>
                </a:solidFill>
                <a:latin typeface="+mn-lt"/>
                <a:ea typeface="+mn-ea"/>
                <a:cs typeface="+mn-cs"/>
              </a:rPr>
              <a:t>mutiplexador</a:t>
            </a:r>
            <a:r>
              <a:rPr lang="pt-PT" sz="1200" kern="1200" baseline="0" dirty="0" smtClean="0">
                <a:solidFill>
                  <a:schemeClr val="tx1"/>
                </a:solidFill>
                <a:latin typeface="+mn-lt"/>
                <a:ea typeface="+mn-ea"/>
                <a:cs typeface="+mn-cs"/>
              </a:rPr>
              <a:t> de acesso DSL (DSLAM). A função do DSLAM é concentrar</a:t>
            </a:r>
          </a:p>
          <a:p>
            <a:r>
              <a:rPr lang="pt-PT" sz="1200" kern="1200" baseline="0" dirty="0" smtClean="0">
                <a:solidFill>
                  <a:schemeClr val="tx1"/>
                </a:solidFill>
                <a:latin typeface="+mn-lt"/>
                <a:ea typeface="+mn-ea"/>
                <a:cs typeface="+mn-cs"/>
              </a:rPr>
              <a:t>o tráfego de dados das várias linhas com modem DSL e conectá-lo com a rede de dados. A conexão através de circuitos ATM é a mais utilizada em</a:t>
            </a:r>
          </a:p>
          <a:p>
            <a:r>
              <a:rPr lang="pt-PT" sz="1200" kern="1200" baseline="0" dirty="0" smtClean="0">
                <a:solidFill>
                  <a:schemeClr val="tx1"/>
                </a:solidFill>
                <a:latin typeface="+mn-lt"/>
                <a:ea typeface="+mn-ea"/>
                <a:cs typeface="+mn-cs"/>
              </a:rPr>
              <a:t>redes ADSL. Existem equipamentos DSLAM que assumiram o papel de nó de acesso incorporando sistemas de comutação ATM.</a:t>
            </a:r>
          </a:p>
          <a:p>
            <a:r>
              <a:rPr lang="pt-PT" sz="1200" b="1" kern="1200" baseline="0" dirty="0" smtClean="0">
                <a:solidFill>
                  <a:schemeClr val="tx1"/>
                </a:solidFill>
                <a:latin typeface="+mn-lt"/>
                <a:ea typeface="+mn-ea"/>
                <a:cs typeface="+mn-cs"/>
              </a:rPr>
              <a:t> Rede de dados </a:t>
            </a:r>
            <a:r>
              <a:rPr lang="pt-PT" sz="1200" kern="1200" baseline="0" dirty="0" smtClean="0">
                <a:solidFill>
                  <a:schemeClr val="tx1"/>
                </a:solidFill>
                <a:latin typeface="+mn-lt"/>
                <a:ea typeface="+mn-ea"/>
                <a:cs typeface="+mn-cs"/>
              </a:rPr>
              <a:t>- A rede de dados a que se conecta o DSLAM poderá ser a rede do provedor de conexão à Internet, ou também uma rede ATM, ou qualquer outro tipo de rede de dados.</a:t>
            </a:r>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38</a:t>
            </a:fld>
            <a:endParaRPr lang="pt-P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fontScale="85000" lnSpcReduction="20000"/>
          </a:bodyPr>
          <a:lstStyle/>
          <a:p>
            <a:r>
              <a:rPr lang="pt-PT" sz="1200" b="1" kern="1200" baseline="0" dirty="0" err="1" smtClean="0">
                <a:solidFill>
                  <a:schemeClr val="tx1"/>
                </a:solidFill>
                <a:latin typeface="+mn-lt"/>
                <a:ea typeface="+mn-ea"/>
                <a:cs typeface="+mn-cs"/>
              </a:rPr>
              <a:t>Modulaçao</a:t>
            </a:r>
            <a:r>
              <a:rPr lang="pt-PT" sz="1200" b="1" kern="1200" baseline="0" dirty="0" smtClean="0">
                <a:solidFill>
                  <a:schemeClr val="tx1"/>
                </a:solidFill>
                <a:latin typeface="+mn-lt"/>
                <a:ea typeface="+mn-ea"/>
                <a:cs typeface="+mn-cs"/>
              </a:rPr>
              <a:t> DMT (</a:t>
            </a:r>
            <a:r>
              <a:rPr lang="pt-PT" sz="1200" b="1" kern="1200" baseline="0" dirty="0" err="1" smtClean="0">
                <a:solidFill>
                  <a:schemeClr val="tx1"/>
                </a:solidFill>
                <a:latin typeface="+mn-lt"/>
                <a:ea typeface="+mn-ea"/>
                <a:cs typeface="+mn-cs"/>
              </a:rPr>
              <a:t>Discrete</a:t>
            </a:r>
            <a:r>
              <a:rPr lang="pt-PT" sz="1200" b="1" kern="1200" baseline="0" dirty="0" smtClean="0">
                <a:solidFill>
                  <a:schemeClr val="tx1"/>
                </a:solidFill>
                <a:latin typeface="+mn-lt"/>
                <a:ea typeface="+mn-ea"/>
                <a:cs typeface="+mn-cs"/>
              </a:rPr>
              <a:t> </a:t>
            </a:r>
            <a:r>
              <a:rPr lang="pt-PT" sz="1200" b="1" kern="1200" baseline="0" dirty="0" err="1" smtClean="0">
                <a:solidFill>
                  <a:schemeClr val="tx1"/>
                </a:solidFill>
                <a:latin typeface="+mn-lt"/>
                <a:ea typeface="+mn-ea"/>
                <a:cs typeface="+mn-cs"/>
              </a:rPr>
              <a:t>Multi</a:t>
            </a:r>
            <a:r>
              <a:rPr lang="pt-PT" sz="1200" b="1" kern="1200" baseline="0" dirty="0" smtClean="0">
                <a:solidFill>
                  <a:schemeClr val="tx1"/>
                </a:solidFill>
                <a:latin typeface="+mn-lt"/>
                <a:ea typeface="+mn-ea"/>
                <a:cs typeface="+mn-cs"/>
              </a:rPr>
              <a:t> Tone)</a:t>
            </a:r>
          </a:p>
          <a:p>
            <a:r>
              <a:rPr lang="pt-PT" sz="1200" kern="1200" baseline="0" dirty="0" smtClean="0">
                <a:solidFill>
                  <a:schemeClr val="tx1"/>
                </a:solidFill>
                <a:latin typeface="+mn-lt"/>
                <a:ea typeface="+mn-ea"/>
                <a:cs typeface="+mn-cs"/>
              </a:rPr>
              <a:t>É o tipo de modulação que consiste na realização da transmissão do sinal pela linha de</a:t>
            </a:r>
          </a:p>
          <a:p>
            <a:r>
              <a:rPr lang="pt-PT" sz="1200" kern="1200" baseline="0" dirty="0" smtClean="0">
                <a:solidFill>
                  <a:schemeClr val="tx1"/>
                </a:solidFill>
                <a:latin typeface="+mn-lt"/>
                <a:ea typeface="+mn-ea"/>
                <a:cs typeface="+mn-cs"/>
              </a:rPr>
              <a:t>cobre fazendo uso de várias bandas de </a:t>
            </a:r>
            <a:r>
              <a:rPr lang="pt-PT" sz="1200" kern="1200" baseline="0" dirty="0" err="1" smtClean="0">
                <a:solidFill>
                  <a:schemeClr val="tx1"/>
                </a:solidFill>
                <a:latin typeface="+mn-lt"/>
                <a:ea typeface="+mn-ea"/>
                <a:cs typeface="+mn-cs"/>
              </a:rPr>
              <a:t>freqüências</a:t>
            </a:r>
            <a:r>
              <a:rPr lang="pt-PT" sz="1200" kern="1200" baseline="0" dirty="0" smtClean="0">
                <a:solidFill>
                  <a:schemeClr val="tx1"/>
                </a:solidFill>
                <a:latin typeface="+mn-lt"/>
                <a:ea typeface="+mn-ea"/>
                <a:cs typeface="+mn-cs"/>
              </a:rPr>
              <a:t>, utilizando a técnica de sobreposição</a:t>
            </a:r>
          </a:p>
          <a:p>
            <a:r>
              <a:rPr lang="pt-PT" sz="1200" kern="1200" baseline="0" dirty="0" smtClean="0">
                <a:solidFill>
                  <a:schemeClr val="tx1"/>
                </a:solidFill>
                <a:latin typeface="+mn-lt"/>
                <a:ea typeface="+mn-ea"/>
                <a:cs typeface="+mn-cs"/>
              </a:rPr>
              <a:t>espectral. Este sistema também chamado de DMT que atualmente é conhecido como</a:t>
            </a:r>
          </a:p>
          <a:p>
            <a:r>
              <a:rPr lang="pt-PT" sz="1200" kern="1200" baseline="0" dirty="0" smtClean="0">
                <a:solidFill>
                  <a:schemeClr val="tx1"/>
                </a:solidFill>
                <a:latin typeface="+mn-lt"/>
                <a:ea typeface="+mn-ea"/>
                <a:cs typeface="+mn-cs"/>
              </a:rPr>
              <a:t>padrão oficial da ANSI (</a:t>
            </a:r>
            <a:r>
              <a:rPr lang="pt-PT" sz="1200" kern="1200" baseline="0" dirty="0" err="1" smtClean="0">
                <a:solidFill>
                  <a:schemeClr val="tx1"/>
                </a:solidFill>
                <a:latin typeface="+mn-lt"/>
                <a:ea typeface="+mn-ea"/>
                <a:cs typeface="+mn-cs"/>
              </a:rPr>
              <a:t>American</a:t>
            </a:r>
            <a:r>
              <a:rPr lang="pt-PT" sz="1200" kern="1200" baseline="0" dirty="0" smtClean="0">
                <a:solidFill>
                  <a:schemeClr val="tx1"/>
                </a:solidFill>
                <a:latin typeface="+mn-lt"/>
                <a:ea typeface="+mn-ea"/>
                <a:cs typeface="+mn-cs"/>
              </a:rPr>
              <a:t> </a:t>
            </a:r>
            <a:r>
              <a:rPr lang="pt-PT" sz="1200" kern="1200" baseline="0" dirty="0" err="1" smtClean="0">
                <a:solidFill>
                  <a:schemeClr val="tx1"/>
                </a:solidFill>
                <a:latin typeface="+mn-lt"/>
                <a:ea typeface="+mn-ea"/>
                <a:cs typeface="+mn-cs"/>
              </a:rPr>
              <a:t>National</a:t>
            </a:r>
            <a:r>
              <a:rPr lang="pt-PT" sz="1200" kern="1200" baseline="0" dirty="0" smtClean="0">
                <a:solidFill>
                  <a:schemeClr val="tx1"/>
                </a:solidFill>
                <a:latin typeface="+mn-lt"/>
                <a:ea typeface="+mn-ea"/>
                <a:cs typeface="+mn-cs"/>
              </a:rPr>
              <a:t> Standards </a:t>
            </a:r>
            <a:r>
              <a:rPr lang="pt-PT" sz="1200" kern="1200" baseline="0" dirty="0" err="1" smtClean="0">
                <a:solidFill>
                  <a:schemeClr val="tx1"/>
                </a:solidFill>
                <a:latin typeface="+mn-lt"/>
                <a:ea typeface="+mn-ea"/>
                <a:cs typeface="+mn-cs"/>
              </a:rPr>
              <a:t>Institute</a:t>
            </a:r>
            <a:r>
              <a:rPr lang="pt-PT" sz="1200" kern="1200" baseline="0" dirty="0" smtClean="0">
                <a:solidFill>
                  <a:schemeClr val="tx1"/>
                </a:solidFill>
                <a:latin typeface="+mn-lt"/>
                <a:ea typeface="+mn-ea"/>
                <a:cs typeface="+mn-cs"/>
              </a:rPr>
              <a:t>), através da</a:t>
            </a:r>
          </a:p>
          <a:p>
            <a:r>
              <a:rPr lang="pt-PT" sz="1200" kern="1200" baseline="0" dirty="0" smtClean="0">
                <a:solidFill>
                  <a:schemeClr val="tx1"/>
                </a:solidFill>
                <a:latin typeface="+mn-lt"/>
                <a:ea typeface="+mn-ea"/>
                <a:cs typeface="+mn-cs"/>
              </a:rPr>
              <a:t>recomendação T1.413 e, posteriormente, pela ETSI (</a:t>
            </a:r>
            <a:r>
              <a:rPr lang="pt-PT" sz="1200" kern="1200" baseline="0" dirty="0" err="1" smtClean="0">
                <a:solidFill>
                  <a:schemeClr val="tx1"/>
                </a:solidFill>
                <a:latin typeface="+mn-lt"/>
                <a:ea typeface="+mn-ea"/>
                <a:cs typeface="+mn-cs"/>
              </a:rPr>
              <a:t>European</a:t>
            </a:r>
            <a:r>
              <a:rPr lang="pt-PT" sz="1200" kern="1200" baseline="0" dirty="0" smtClean="0">
                <a:solidFill>
                  <a:schemeClr val="tx1"/>
                </a:solidFill>
                <a:latin typeface="+mn-lt"/>
                <a:ea typeface="+mn-ea"/>
                <a:cs typeface="+mn-cs"/>
              </a:rPr>
              <a:t> </a:t>
            </a:r>
            <a:r>
              <a:rPr lang="pt-PT" sz="1200" kern="1200" baseline="0" dirty="0" err="1" smtClean="0">
                <a:solidFill>
                  <a:schemeClr val="tx1"/>
                </a:solidFill>
                <a:latin typeface="+mn-lt"/>
                <a:ea typeface="+mn-ea"/>
                <a:cs typeface="+mn-cs"/>
              </a:rPr>
              <a:t>Telecommunications</a:t>
            </a:r>
            <a:endParaRPr lang="pt-PT" sz="1200" kern="1200" baseline="0" dirty="0" smtClean="0">
              <a:solidFill>
                <a:schemeClr val="tx1"/>
              </a:solidFill>
              <a:latin typeface="+mn-lt"/>
              <a:ea typeface="+mn-ea"/>
              <a:cs typeface="+mn-cs"/>
            </a:endParaRPr>
          </a:p>
          <a:p>
            <a:r>
              <a:rPr lang="pt-PT" sz="1200" kern="1200" baseline="0" dirty="0" smtClean="0">
                <a:solidFill>
                  <a:schemeClr val="tx1"/>
                </a:solidFill>
                <a:latin typeface="+mn-lt"/>
                <a:ea typeface="+mn-ea"/>
                <a:cs typeface="+mn-cs"/>
              </a:rPr>
              <a:t>Standards </a:t>
            </a:r>
            <a:r>
              <a:rPr lang="pt-PT" sz="1200" kern="1200" baseline="0" dirty="0" err="1" smtClean="0">
                <a:solidFill>
                  <a:schemeClr val="tx1"/>
                </a:solidFill>
                <a:latin typeface="+mn-lt"/>
                <a:ea typeface="+mn-ea"/>
                <a:cs typeface="+mn-cs"/>
              </a:rPr>
              <a:t>Institute</a:t>
            </a:r>
            <a:r>
              <a:rPr lang="pt-PT" sz="1200" kern="1200" baseline="0" dirty="0" smtClean="0">
                <a:solidFill>
                  <a:schemeClr val="tx1"/>
                </a:solidFill>
                <a:latin typeface="+mn-lt"/>
                <a:ea typeface="+mn-ea"/>
                <a:cs typeface="+mn-cs"/>
              </a:rPr>
              <a:t>), realiza o processo da divisão dos sinais em canais, usando dessa</a:t>
            </a:r>
          </a:p>
          <a:p>
            <a:r>
              <a:rPr lang="pt-PT" sz="1200" kern="1200" baseline="0" dirty="0" smtClean="0">
                <a:solidFill>
                  <a:schemeClr val="tx1"/>
                </a:solidFill>
                <a:latin typeface="+mn-lt"/>
                <a:ea typeface="+mn-ea"/>
                <a:cs typeface="+mn-cs"/>
              </a:rPr>
              <a:t>forma dois canais de banda para realização do </a:t>
            </a:r>
            <a:r>
              <a:rPr lang="pt-PT" sz="1200" kern="1200" baseline="0" dirty="0" err="1" smtClean="0">
                <a:solidFill>
                  <a:schemeClr val="tx1"/>
                </a:solidFill>
                <a:latin typeface="+mn-lt"/>
                <a:ea typeface="+mn-ea"/>
                <a:cs typeface="+mn-cs"/>
              </a:rPr>
              <a:t>upload</a:t>
            </a:r>
            <a:r>
              <a:rPr lang="pt-PT" sz="1200" kern="1200" baseline="0" dirty="0" smtClean="0">
                <a:solidFill>
                  <a:schemeClr val="tx1"/>
                </a:solidFill>
                <a:latin typeface="+mn-lt"/>
                <a:ea typeface="+mn-ea"/>
                <a:cs typeface="+mn-cs"/>
              </a:rPr>
              <a:t> e download, assim como o CAP</a:t>
            </a:r>
          </a:p>
          <a:p>
            <a:r>
              <a:rPr lang="pt-PT" sz="1200" kern="1200" baseline="0" dirty="0" smtClean="0">
                <a:solidFill>
                  <a:schemeClr val="tx1"/>
                </a:solidFill>
                <a:latin typeface="+mn-lt"/>
                <a:ea typeface="+mn-ea"/>
                <a:cs typeface="+mn-cs"/>
              </a:rPr>
              <a:t>(</a:t>
            </a:r>
            <a:r>
              <a:rPr lang="pt-PT" sz="1200" kern="1200" baseline="0" dirty="0" err="1" smtClean="0">
                <a:solidFill>
                  <a:schemeClr val="tx1"/>
                </a:solidFill>
                <a:latin typeface="+mn-lt"/>
                <a:ea typeface="+mn-ea"/>
                <a:cs typeface="+mn-cs"/>
              </a:rPr>
              <a:t>Carrier-less</a:t>
            </a:r>
            <a:r>
              <a:rPr lang="pt-PT" sz="1200" kern="1200" baseline="0" dirty="0" smtClean="0">
                <a:solidFill>
                  <a:schemeClr val="tx1"/>
                </a:solidFill>
                <a:latin typeface="+mn-lt"/>
                <a:ea typeface="+mn-ea"/>
                <a:cs typeface="+mn-cs"/>
              </a:rPr>
              <a:t> Amplitude/</a:t>
            </a:r>
            <a:r>
              <a:rPr lang="pt-PT" sz="1200" kern="1200" baseline="0" dirty="0" err="1" smtClean="0">
                <a:solidFill>
                  <a:schemeClr val="tx1"/>
                </a:solidFill>
                <a:latin typeface="+mn-lt"/>
                <a:ea typeface="+mn-ea"/>
                <a:cs typeface="+mn-cs"/>
              </a:rPr>
              <a:t>Phase</a:t>
            </a:r>
            <a:r>
              <a:rPr lang="pt-PT" sz="1200" kern="1200" baseline="0" dirty="0" smtClean="0">
                <a:solidFill>
                  <a:schemeClr val="tx1"/>
                </a:solidFill>
                <a:latin typeface="+mn-lt"/>
                <a:ea typeface="+mn-ea"/>
                <a:cs typeface="+mn-cs"/>
              </a:rPr>
              <a:t>).</a:t>
            </a:r>
          </a:p>
          <a:p>
            <a:r>
              <a:rPr lang="pt-PT" sz="1200" kern="1200" baseline="0" dirty="0" smtClean="0">
                <a:solidFill>
                  <a:schemeClr val="tx1"/>
                </a:solidFill>
                <a:latin typeface="+mn-lt"/>
                <a:ea typeface="+mn-ea"/>
                <a:cs typeface="+mn-cs"/>
              </a:rPr>
              <a:t>O sistema DMT divide a banda em 256 canais de 4Khz, cada um utilizando modulação</a:t>
            </a:r>
          </a:p>
          <a:p>
            <a:r>
              <a:rPr lang="pt-PT" sz="1200" kern="1200" baseline="0" dirty="0" smtClean="0">
                <a:solidFill>
                  <a:schemeClr val="tx1"/>
                </a:solidFill>
                <a:latin typeface="+mn-lt"/>
                <a:ea typeface="+mn-ea"/>
                <a:cs typeface="+mn-cs"/>
              </a:rPr>
              <a:t>QAM em uma portadora separada denominada BINS, no intuito de diminuir</a:t>
            </a:r>
          </a:p>
          <a:p>
            <a:r>
              <a:rPr lang="pt-PT" sz="1200" kern="1200" baseline="0" dirty="0" smtClean="0">
                <a:solidFill>
                  <a:schemeClr val="tx1"/>
                </a:solidFill>
                <a:latin typeface="+mn-lt"/>
                <a:ea typeface="+mn-ea"/>
                <a:cs typeface="+mn-cs"/>
              </a:rPr>
              <a:t>estaticamente as perdas com ruído. As </a:t>
            </a:r>
            <a:r>
              <a:rPr lang="pt-PT" sz="1200" kern="1200" baseline="0" dirty="0" err="1" smtClean="0">
                <a:solidFill>
                  <a:schemeClr val="tx1"/>
                </a:solidFill>
                <a:latin typeface="+mn-lt"/>
                <a:ea typeface="+mn-ea"/>
                <a:cs typeface="+mn-cs"/>
              </a:rPr>
              <a:t>freqüências</a:t>
            </a:r>
            <a:r>
              <a:rPr lang="pt-PT" sz="1200" kern="1200" baseline="0" dirty="0" smtClean="0">
                <a:solidFill>
                  <a:schemeClr val="tx1"/>
                </a:solidFill>
                <a:latin typeface="+mn-lt"/>
                <a:ea typeface="+mn-ea"/>
                <a:cs typeface="+mn-cs"/>
              </a:rPr>
              <a:t> das portadoras são múltiplos de uma</a:t>
            </a:r>
          </a:p>
          <a:p>
            <a:r>
              <a:rPr lang="pt-PT" sz="1200" kern="1200" baseline="0" dirty="0" err="1" smtClean="0">
                <a:solidFill>
                  <a:schemeClr val="tx1"/>
                </a:solidFill>
                <a:latin typeface="+mn-lt"/>
                <a:ea typeface="+mn-ea"/>
                <a:cs typeface="+mn-cs"/>
              </a:rPr>
              <a:t>freqüência</a:t>
            </a:r>
            <a:r>
              <a:rPr lang="pt-PT" sz="1200" kern="1200" baseline="0" dirty="0" smtClean="0">
                <a:solidFill>
                  <a:schemeClr val="tx1"/>
                </a:solidFill>
                <a:latin typeface="+mn-lt"/>
                <a:ea typeface="+mn-ea"/>
                <a:cs typeface="+mn-cs"/>
              </a:rPr>
              <a:t> básica.</a:t>
            </a:r>
          </a:p>
          <a:p>
            <a:r>
              <a:rPr lang="pt-PT" sz="1200" kern="1200" baseline="0" dirty="0" smtClean="0">
                <a:solidFill>
                  <a:schemeClr val="tx1"/>
                </a:solidFill>
                <a:latin typeface="+mn-lt"/>
                <a:ea typeface="+mn-ea"/>
                <a:cs typeface="+mn-cs"/>
              </a:rPr>
              <a:t>A DMT cria esses canais usando uma técnica digital chamada </a:t>
            </a:r>
            <a:r>
              <a:rPr lang="pt-PT" sz="1200" kern="1200" baseline="0" dirty="0" err="1" smtClean="0">
                <a:solidFill>
                  <a:schemeClr val="tx1"/>
                </a:solidFill>
                <a:latin typeface="+mn-lt"/>
                <a:ea typeface="+mn-ea"/>
                <a:cs typeface="+mn-cs"/>
              </a:rPr>
              <a:t>Dicrete</a:t>
            </a:r>
            <a:r>
              <a:rPr lang="pt-PT" sz="1200" kern="1200" baseline="0" dirty="0" smtClean="0">
                <a:solidFill>
                  <a:schemeClr val="tx1"/>
                </a:solidFill>
                <a:latin typeface="+mn-lt"/>
                <a:ea typeface="+mn-ea"/>
                <a:cs typeface="+mn-cs"/>
              </a:rPr>
              <a:t> </a:t>
            </a:r>
            <a:r>
              <a:rPr lang="pt-PT" sz="1200" kern="1200" baseline="0" dirty="0" err="1" smtClean="0">
                <a:solidFill>
                  <a:schemeClr val="tx1"/>
                </a:solidFill>
                <a:latin typeface="+mn-lt"/>
                <a:ea typeface="+mn-ea"/>
                <a:cs typeface="+mn-cs"/>
              </a:rPr>
              <a:t>Fast</a:t>
            </a:r>
            <a:r>
              <a:rPr lang="pt-PT" sz="1200" kern="1200" baseline="0" dirty="0" smtClean="0">
                <a:solidFill>
                  <a:schemeClr val="tx1"/>
                </a:solidFill>
                <a:latin typeface="+mn-lt"/>
                <a:ea typeface="+mn-ea"/>
                <a:cs typeface="+mn-cs"/>
              </a:rPr>
              <a:t> Fourier</a:t>
            </a:r>
          </a:p>
          <a:p>
            <a:r>
              <a:rPr lang="pt-PT" sz="1200" kern="1200" baseline="0" dirty="0" err="1" smtClean="0">
                <a:solidFill>
                  <a:schemeClr val="tx1"/>
                </a:solidFill>
                <a:latin typeface="+mn-lt"/>
                <a:ea typeface="+mn-ea"/>
                <a:cs typeface="+mn-cs"/>
              </a:rPr>
              <a:t>Transform</a:t>
            </a:r>
            <a:r>
              <a:rPr lang="pt-PT" sz="1200" kern="1200" baseline="0" dirty="0" smtClean="0">
                <a:solidFill>
                  <a:schemeClr val="tx1"/>
                </a:solidFill>
                <a:latin typeface="+mn-lt"/>
                <a:ea typeface="+mn-ea"/>
                <a:cs typeface="+mn-cs"/>
              </a:rPr>
              <a:t>. Cada canal é monitorado e, se a qualidade do canal que estiver sendo</a:t>
            </a:r>
          </a:p>
          <a:p>
            <a:r>
              <a:rPr lang="pt-PT" sz="1200" kern="1200" baseline="0" dirty="0" smtClean="0">
                <a:solidFill>
                  <a:schemeClr val="tx1"/>
                </a:solidFill>
                <a:latin typeface="+mn-lt"/>
                <a:ea typeface="+mn-ea"/>
                <a:cs typeface="+mn-cs"/>
              </a:rPr>
              <a:t>utilizada estiver muito baixa, o sinal é deslocado para um outro canal garantindo assim a</a:t>
            </a:r>
          </a:p>
          <a:p>
            <a:r>
              <a:rPr lang="pt-PT" sz="1200" kern="1200" baseline="0" dirty="0" smtClean="0">
                <a:solidFill>
                  <a:schemeClr val="tx1"/>
                </a:solidFill>
                <a:latin typeface="+mn-lt"/>
                <a:ea typeface="+mn-ea"/>
                <a:cs typeface="+mn-cs"/>
              </a:rPr>
              <a:t>qualidade de transmissão da informação. O sistema fica constantemente executando esse</a:t>
            </a:r>
          </a:p>
          <a:p>
            <a:r>
              <a:rPr lang="pt-PT" sz="1200" kern="1200" baseline="0" dirty="0" smtClean="0">
                <a:solidFill>
                  <a:schemeClr val="tx1"/>
                </a:solidFill>
                <a:latin typeface="+mn-lt"/>
                <a:ea typeface="+mn-ea"/>
                <a:cs typeface="+mn-cs"/>
              </a:rPr>
              <a:t>procedimento de deslocamento de canais sempre em busca daquele que apresenta</a:t>
            </a:r>
          </a:p>
          <a:p>
            <a:r>
              <a:rPr lang="pt-PT" sz="1200" kern="1200" baseline="0" dirty="0" smtClean="0">
                <a:solidFill>
                  <a:schemeClr val="tx1"/>
                </a:solidFill>
                <a:latin typeface="+mn-lt"/>
                <a:ea typeface="+mn-ea"/>
                <a:cs typeface="+mn-cs"/>
              </a:rPr>
              <a:t>melhor condição de uso no momento da operação, sendo esta característica realizada</a:t>
            </a:r>
          </a:p>
          <a:p>
            <a:r>
              <a:rPr lang="pt-PT" sz="1200" kern="1200" baseline="0" dirty="0" smtClean="0">
                <a:solidFill>
                  <a:schemeClr val="tx1"/>
                </a:solidFill>
                <a:latin typeface="+mn-lt"/>
                <a:ea typeface="+mn-ea"/>
                <a:cs typeface="+mn-cs"/>
              </a:rPr>
              <a:t>tanto na transmissão quanto na </a:t>
            </a:r>
            <a:r>
              <a:rPr lang="pt-PT" sz="1200" kern="1200" baseline="0" dirty="0" err="1" smtClean="0">
                <a:solidFill>
                  <a:schemeClr val="tx1"/>
                </a:solidFill>
                <a:latin typeface="+mn-lt"/>
                <a:ea typeface="+mn-ea"/>
                <a:cs typeface="+mn-cs"/>
              </a:rPr>
              <a:t>recepção</a:t>
            </a:r>
            <a:r>
              <a:rPr lang="pt-PT" sz="1200" kern="1200" baseline="0" dirty="0" smtClean="0">
                <a:solidFill>
                  <a:schemeClr val="tx1"/>
                </a:solidFill>
                <a:latin typeface="+mn-lt"/>
                <a:ea typeface="+mn-ea"/>
                <a:cs typeface="+mn-cs"/>
              </a:rPr>
              <a:t>.</a:t>
            </a:r>
          </a:p>
          <a:p>
            <a:r>
              <a:rPr lang="pt-PT" sz="1200" kern="1200" baseline="0" dirty="0" smtClean="0">
                <a:solidFill>
                  <a:schemeClr val="tx1"/>
                </a:solidFill>
                <a:latin typeface="+mn-lt"/>
                <a:ea typeface="+mn-ea"/>
                <a:cs typeface="+mn-cs"/>
              </a:rPr>
              <a:t>A DMT utiliza-se do espectro de 26Khz a 1,1Mhz para dados de banda larga e o</a:t>
            </a:r>
          </a:p>
          <a:p>
            <a:r>
              <a:rPr lang="pt-PT" sz="1200" kern="1200" baseline="0" dirty="0" smtClean="0">
                <a:solidFill>
                  <a:schemeClr val="tx1"/>
                </a:solidFill>
                <a:latin typeface="+mn-lt"/>
                <a:ea typeface="+mn-ea"/>
                <a:cs typeface="+mn-cs"/>
              </a:rPr>
              <a:t>espectro de 0 a 4Khz para os de telefonia convencional POTS (</a:t>
            </a:r>
            <a:r>
              <a:rPr lang="pt-PT" sz="1200" kern="1200" baseline="0" dirty="0" err="1" smtClean="0">
                <a:solidFill>
                  <a:schemeClr val="tx1"/>
                </a:solidFill>
                <a:latin typeface="+mn-lt"/>
                <a:ea typeface="+mn-ea"/>
                <a:cs typeface="+mn-cs"/>
              </a:rPr>
              <a:t>Plan</a:t>
            </a:r>
            <a:r>
              <a:rPr lang="pt-PT" sz="1200" kern="1200" baseline="0" dirty="0" smtClean="0">
                <a:solidFill>
                  <a:schemeClr val="tx1"/>
                </a:solidFill>
                <a:latin typeface="+mn-lt"/>
                <a:ea typeface="+mn-ea"/>
                <a:cs typeface="+mn-cs"/>
              </a:rPr>
              <a:t> </a:t>
            </a:r>
            <a:r>
              <a:rPr lang="pt-PT" sz="1200" kern="1200" baseline="0" dirty="0" err="1" smtClean="0">
                <a:solidFill>
                  <a:schemeClr val="tx1"/>
                </a:solidFill>
                <a:latin typeface="+mn-lt"/>
                <a:ea typeface="+mn-ea"/>
                <a:cs typeface="+mn-cs"/>
              </a:rPr>
              <a:t>Old</a:t>
            </a:r>
            <a:r>
              <a:rPr lang="pt-PT" sz="1200" kern="1200" baseline="0" dirty="0" smtClean="0">
                <a:solidFill>
                  <a:schemeClr val="tx1"/>
                </a:solidFill>
                <a:latin typeface="+mn-lt"/>
                <a:ea typeface="+mn-ea"/>
                <a:cs typeface="+mn-cs"/>
              </a:rPr>
              <a:t> Telefone</a:t>
            </a:r>
          </a:p>
          <a:p>
            <a:r>
              <a:rPr lang="pt-PT" sz="1200" kern="1200" baseline="0" dirty="0" err="1" smtClean="0">
                <a:solidFill>
                  <a:schemeClr val="tx1"/>
                </a:solidFill>
                <a:latin typeface="+mn-lt"/>
                <a:ea typeface="+mn-ea"/>
                <a:cs typeface="+mn-cs"/>
              </a:rPr>
              <a:t>System</a:t>
            </a:r>
            <a:r>
              <a:rPr lang="pt-PT" sz="1200" kern="1200" baseline="0" dirty="0" smtClean="0">
                <a:solidFill>
                  <a:schemeClr val="tx1"/>
                </a:solidFill>
                <a:latin typeface="+mn-lt"/>
                <a:ea typeface="+mn-ea"/>
                <a:cs typeface="+mn-cs"/>
              </a:rPr>
              <a:t>). O espectro acima de 26Khz é dividido mais adiante em 256 canais discretos</a:t>
            </a:r>
          </a:p>
          <a:p>
            <a:r>
              <a:rPr lang="pt-PT" sz="1200" kern="1200" baseline="0" dirty="0" smtClean="0">
                <a:solidFill>
                  <a:schemeClr val="tx1"/>
                </a:solidFill>
                <a:latin typeface="+mn-lt"/>
                <a:ea typeface="+mn-ea"/>
                <a:cs typeface="+mn-cs"/>
              </a:rPr>
              <a:t>conforme explicado: Número de canais discretos = Largura máxima de banda – Largura</a:t>
            </a:r>
          </a:p>
          <a:p>
            <a:r>
              <a:rPr lang="pt-PT" sz="1200" kern="1200" baseline="0" dirty="0" smtClean="0">
                <a:solidFill>
                  <a:schemeClr val="tx1"/>
                </a:solidFill>
                <a:latin typeface="+mn-lt"/>
                <a:ea typeface="+mn-ea"/>
                <a:cs typeface="+mn-cs"/>
              </a:rPr>
              <a:t>mínima /4 </a:t>
            </a:r>
            <a:r>
              <a:rPr lang="pt-PT" sz="1200" kern="1200" baseline="0" dirty="0" err="1" smtClean="0">
                <a:solidFill>
                  <a:schemeClr val="tx1"/>
                </a:solidFill>
                <a:latin typeface="+mn-lt"/>
                <a:ea typeface="+mn-ea"/>
                <a:cs typeface="+mn-cs"/>
              </a:rPr>
              <a:t>Khz</a:t>
            </a:r>
            <a:r>
              <a:rPr lang="pt-PT" sz="1200" kern="1200" baseline="0" dirty="0" smtClean="0">
                <a:solidFill>
                  <a:schemeClr val="tx1"/>
                </a:solidFill>
                <a:latin typeface="+mn-lt"/>
                <a:ea typeface="+mn-ea"/>
                <a:cs typeface="+mn-cs"/>
              </a:rPr>
              <a:t>.</a:t>
            </a:r>
          </a:p>
          <a:p>
            <a:r>
              <a:rPr lang="pt-PT" sz="1200" kern="1200" baseline="0" dirty="0" smtClean="0">
                <a:solidFill>
                  <a:schemeClr val="tx1"/>
                </a:solidFill>
                <a:latin typeface="+mn-lt"/>
                <a:ea typeface="+mn-ea"/>
                <a:cs typeface="+mn-cs"/>
              </a:rPr>
              <a:t>Exemplo: N =1100khz –26Khz / 4</a:t>
            </a:r>
          </a:p>
          <a:p>
            <a:r>
              <a:rPr lang="pt-PT" sz="1200" kern="1200" baseline="0" dirty="0" smtClean="0">
                <a:solidFill>
                  <a:schemeClr val="tx1"/>
                </a:solidFill>
                <a:latin typeface="+mn-lt"/>
                <a:ea typeface="+mn-ea"/>
                <a:cs typeface="+mn-cs"/>
              </a:rPr>
              <a:t>Características da modulação DMT:</a:t>
            </a:r>
          </a:p>
          <a:p>
            <a:r>
              <a:rPr lang="pt-PT" sz="1200" kern="1200" baseline="0" dirty="0" smtClean="0">
                <a:solidFill>
                  <a:schemeClr val="tx1"/>
                </a:solidFill>
                <a:latin typeface="+mn-lt"/>
                <a:ea typeface="+mn-ea"/>
                <a:cs typeface="+mn-cs"/>
              </a:rPr>
              <a:t>• Os dados de chegada são coletados e distribuídos em várias portadoras</a:t>
            </a:r>
          </a:p>
          <a:p>
            <a:r>
              <a:rPr lang="pt-PT" sz="1200" kern="1200" baseline="0" dirty="0" smtClean="0">
                <a:solidFill>
                  <a:schemeClr val="tx1"/>
                </a:solidFill>
                <a:latin typeface="+mn-lt"/>
                <a:ea typeface="+mn-ea"/>
                <a:cs typeface="+mn-cs"/>
              </a:rPr>
              <a:t>individuais, chamadas BINS.</a:t>
            </a:r>
          </a:p>
          <a:p>
            <a:r>
              <a:rPr lang="pt-PT" sz="1200" kern="1200" baseline="0" dirty="0" smtClean="0">
                <a:solidFill>
                  <a:schemeClr val="tx1"/>
                </a:solidFill>
                <a:latin typeface="+mn-lt"/>
                <a:ea typeface="+mn-ea"/>
                <a:cs typeface="+mn-cs"/>
              </a:rPr>
              <a:t>• Modulação </a:t>
            </a:r>
            <a:r>
              <a:rPr lang="pt-PT" sz="1200" kern="1200" baseline="0" dirty="0" err="1" smtClean="0">
                <a:solidFill>
                  <a:schemeClr val="tx1"/>
                </a:solidFill>
                <a:latin typeface="+mn-lt"/>
                <a:ea typeface="+mn-ea"/>
                <a:cs typeface="+mn-cs"/>
              </a:rPr>
              <a:t>multiportadora</a:t>
            </a:r>
            <a:r>
              <a:rPr lang="pt-PT" sz="1200" kern="1200" baseline="0" dirty="0" smtClean="0">
                <a:solidFill>
                  <a:schemeClr val="tx1"/>
                </a:solidFill>
                <a:latin typeface="+mn-lt"/>
                <a:ea typeface="+mn-ea"/>
                <a:cs typeface="+mn-cs"/>
              </a:rPr>
              <a:t>, são criadas 256 </a:t>
            </a:r>
            <a:r>
              <a:rPr lang="pt-PT" sz="1200" kern="1200" baseline="0" dirty="0" err="1" smtClean="0">
                <a:solidFill>
                  <a:schemeClr val="tx1"/>
                </a:solidFill>
                <a:latin typeface="+mn-lt"/>
                <a:ea typeface="+mn-ea"/>
                <a:cs typeface="+mn-cs"/>
              </a:rPr>
              <a:t>bins</a:t>
            </a:r>
            <a:r>
              <a:rPr lang="pt-PT" sz="1200" kern="1200" baseline="0" dirty="0" smtClean="0">
                <a:solidFill>
                  <a:schemeClr val="tx1"/>
                </a:solidFill>
                <a:latin typeface="+mn-lt"/>
                <a:ea typeface="+mn-ea"/>
                <a:cs typeface="+mn-cs"/>
              </a:rPr>
              <a:t> de 4Khz.</a:t>
            </a:r>
          </a:p>
          <a:p>
            <a:r>
              <a:rPr lang="pt-PT" sz="1200" kern="1200" baseline="0" dirty="0" smtClean="0">
                <a:solidFill>
                  <a:schemeClr val="tx1"/>
                </a:solidFill>
                <a:latin typeface="+mn-lt"/>
                <a:ea typeface="+mn-ea"/>
                <a:cs typeface="+mn-cs"/>
              </a:rPr>
              <a:t>• O DMT testa a qualidade da linha antes da transmissão.</a:t>
            </a:r>
          </a:p>
          <a:p>
            <a:r>
              <a:rPr lang="pt-PT" sz="1200" kern="1200" baseline="0" dirty="0" smtClean="0">
                <a:solidFill>
                  <a:schemeClr val="tx1"/>
                </a:solidFill>
                <a:latin typeface="+mn-lt"/>
                <a:ea typeface="+mn-ea"/>
                <a:cs typeface="+mn-cs"/>
              </a:rPr>
              <a:t>• O DMT é base para o padrão ADSL ANSI T1.413 de fevereiro de 1998.</a:t>
            </a:r>
          </a:p>
          <a:p>
            <a:r>
              <a:rPr lang="pt-PT" sz="1200" b="1" kern="1200" baseline="0" dirty="0" smtClean="0">
                <a:solidFill>
                  <a:schemeClr val="tx1"/>
                </a:solidFill>
                <a:latin typeface="+mn-lt"/>
                <a:ea typeface="+mn-ea"/>
                <a:cs typeface="+mn-cs"/>
              </a:rPr>
              <a:t>Modulação CAP (</a:t>
            </a:r>
            <a:r>
              <a:rPr lang="pt-PT" sz="1200" b="1" kern="1200" baseline="0" dirty="0" err="1" smtClean="0">
                <a:solidFill>
                  <a:schemeClr val="tx1"/>
                </a:solidFill>
                <a:latin typeface="+mn-lt"/>
                <a:ea typeface="+mn-ea"/>
                <a:cs typeface="+mn-cs"/>
              </a:rPr>
              <a:t>Carrier-less</a:t>
            </a:r>
            <a:r>
              <a:rPr lang="pt-PT" sz="1200" b="1" kern="1200" baseline="0" dirty="0" smtClean="0">
                <a:solidFill>
                  <a:schemeClr val="tx1"/>
                </a:solidFill>
                <a:latin typeface="+mn-lt"/>
                <a:ea typeface="+mn-ea"/>
                <a:cs typeface="+mn-cs"/>
              </a:rPr>
              <a:t> Amplitude/</a:t>
            </a:r>
            <a:r>
              <a:rPr lang="pt-PT" sz="1200" b="1" kern="1200" baseline="0" dirty="0" err="1" smtClean="0">
                <a:solidFill>
                  <a:schemeClr val="tx1"/>
                </a:solidFill>
                <a:latin typeface="+mn-lt"/>
                <a:ea typeface="+mn-ea"/>
                <a:cs typeface="+mn-cs"/>
              </a:rPr>
              <a:t>Phase</a:t>
            </a:r>
            <a:r>
              <a:rPr lang="pt-PT" sz="1200" b="1" kern="1200" baseline="0" dirty="0" smtClean="0">
                <a:solidFill>
                  <a:schemeClr val="tx1"/>
                </a:solidFill>
                <a:latin typeface="+mn-lt"/>
                <a:ea typeface="+mn-ea"/>
                <a:cs typeface="+mn-cs"/>
              </a:rPr>
              <a:t>)</a:t>
            </a:r>
          </a:p>
          <a:p>
            <a:r>
              <a:rPr lang="pt-PT" sz="1200" kern="1200" baseline="0" dirty="0" smtClean="0">
                <a:solidFill>
                  <a:schemeClr val="tx1"/>
                </a:solidFill>
                <a:latin typeface="+mn-lt"/>
                <a:ea typeface="+mn-ea"/>
                <a:cs typeface="+mn-cs"/>
              </a:rPr>
              <a:t>A modulação CAP (</a:t>
            </a:r>
            <a:r>
              <a:rPr lang="pt-PT" sz="1200" kern="1200" baseline="0" dirty="0" err="1" smtClean="0">
                <a:solidFill>
                  <a:schemeClr val="tx1"/>
                </a:solidFill>
                <a:latin typeface="+mn-lt"/>
                <a:ea typeface="+mn-ea"/>
                <a:cs typeface="+mn-cs"/>
              </a:rPr>
              <a:t>Carrier-less</a:t>
            </a:r>
            <a:r>
              <a:rPr lang="pt-PT" sz="1200" kern="1200" baseline="0" dirty="0" smtClean="0">
                <a:solidFill>
                  <a:schemeClr val="tx1"/>
                </a:solidFill>
                <a:latin typeface="+mn-lt"/>
                <a:ea typeface="+mn-ea"/>
                <a:cs typeface="+mn-cs"/>
              </a:rPr>
              <a:t> Amplitude/</a:t>
            </a:r>
            <a:r>
              <a:rPr lang="pt-PT" sz="1200" kern="1200" baseline="0" dirty="0" err="1" smtClean="0">
                <a:solidFill>
                  <a:schemeClr val="tx1"/>
                </a:solidFill>
                <a:latin typeface="+mn-lt"/>
                <a:ea typeface="+mn-ea"/>
                <a:cs typeface="+mn-cs"/>
              </a:rPr>
              <a:t>Phase</a:t>
            </a:r>
            <a:r>
              <a:rPr lang="pt-PT" sz="1200" kern="1200" baseline="0" dirty="0" smtClean="0">
                <a:solidFill>
                  <a:schemeClr val="tx1"/>
                </a:solidFill>
                <a:latin typeface="+mn-lt"/>
                <a:ea typeface="+mn-ea"/>
                <a:cs typeface="+mn-cs"/>
              </a:rPr>
              <a:t>) é um tipo de modulação desenvolvida pela </a:t>
            </a:r>
            <a:r>
              <a:rPr lang="pt-PT" sz="1200" kern="1200" baseline="0" dirty="0" err="1" smtClean="0">
                <a:solidFill>
                  <a:schemeClr val="tx1"/>
                </a:solidFill>
                <a:latin typeface="+mn-lt"/>
                <a:ea typeface="+mn-ea"/>
                <a:cs typeface="+mn-cs"/>
              </a:rPr>
              <a:t>Paradyne</a:t>
            </a:r>
            <a:r>
              <a:rPr lang="pt-PT" sz="1200" kern="1200" baseline="0" dirty="0" smtClean="0">
                <a:solidFill>
                  <a:schemeClr val="tx1"/>
                </a:solidFill>
                <a:latin typeface="+mn-lt"/>
                <a:ea typeface="+mn-ea"/>
                <a:cs typeface="+mn-cs"/>
              </a:rPr>
              <a:t>, que consiste em um tipo de modulação derivada da modulação QAM, porém com característica de suprimir a portadora depois da modulação feita, isto é, conseguindo ao ser realizado a modulação, não utilizar técnicas de hardware, mas sim por software. Esta utiliza processadores do tipo DSP que realizam o processamento digital do sinal, obtendo como resultado uma grande eficiência espectral, podendo dessa forma realizar a transmissão de uma maior quantidade de bits por símbolo, além da vantagem de uma melhor relação sinal/ruído, pois a portadora que no processo da modulação fica com a maior parte da potência, é suprimida, ficando</a:t>
            </a:r>
          </a:p>
          <a:p>
            <a:r>
              <a:rPr lang="pt-PT" sz="1200" kern="1200" baseline="0" dirty="0" smtClean="0">
                <a:solidFill>
                  <a:schemeClr val="tx1"/>
                </a:solidFill>
                <a:latin typeface="+mn-lt"/>
                <a:ea typeface="+mn-ea"/>
                <a:cs typeface="+mn-cs"/>
              </a:rPr>
              <a:t>toda a potência útil para o transporte da informação propriamente dita.</a:t>
            </a:r>
          </a:p>
          <a:p>
            <a:r>
              <a:rPr lang="pt-PT" sz="1200" kern="1200" baseline="0" dirty="0" smtClean="0">
                <a:solidFill>
                  <a:schemeClr val="tx1"/>
                </a:solidFill>
                <a:latin typeface="+mn-lt"/>
                <a:ea typeface="+mn-ea"/>
                <a:cs typeface="+mn-cs"/>
              </a:rPr>
              <a:t>No processo da modulação CAP, a linha telefônica é </a:t>
            </a:r>
            <a:r>
              <a:rPr lang="pt-PT" sz="1200" kern="1200" baseline="0" dirty="0" err="1" smtClean="0">
                <a:solidFill>
                  <a:schemeClr val="tx1"/>
                </a:solidFill>
                <a:latin typeface="+mn-lt"/>
                <a:ea typeface="+mn-ea"/>
                <a:cs typeface="+mn-cs"/>
              </a:rPr>
              <a:t>sub</a:t>
            </a:r>
            <a:r>
              <a:rPr lang="pt-PT" sz="1200" kern="1200" baseline="0" dirty="0" smtClean="0">
                <a:solidFill>
                  <a:schemeClr val="tx1"/>
                </a:solidFill>
                <a:latin typeface="+mn-lt"/>
                <a:ea typeface="+mn-ea"/>
                <a:cs typeface="+mn-cs"/>
              </a:rPr>
              <a:t> dividida em três canais. O primeiro ocupa a faixa reservada para canais de voz de 4Khz utilizado no sistema de telefonia pública comutada, sendo este com utilização exclusiva para voz. O segundo é utilizado exclusivamente para transmissão de dados do usuário para o servidor conhecido como </a:t>
            </a:r>
            <a:r>
              <a:rPr lang="pt-PT" sz="1200" kern="1200" baseline="0" dirty="0" err="1" smtClean="0">
                <a:solidFill>
                  <a:schemeClr val="tx1"/>
                </a:solidFill>
                <a:latin typeface="+mn-lt"/>
                <a:ea typeface="+mn-ea"/>
                <a:cs typeface="+mn-cs"/>
              </a:rPr>
              <a:t>upload</a:t>
            </a:r>
            <a:r>
              <a:rPr lang="pt-PT" sz="1200" kern="1200" baseline="0" dirty="0" smtClean="0">
                <a:solidFill>
                  <a:schemeClr val="tx1"/>
                </a:solidFill>
                <a:latin typeface="+mn-lt"/>
                <a:ea typeface="+mn-ea"/>
                <a:cs typeface="+mn-cs"/>
              </a:rPr>
              <a:t> ocupando a faixa de 25 a 160 </a:t>
            </a:r>
            <a:r>
              <a:rPr lang="pt-PT" sz="1200" kern="1200" baseline="0" dirty="0" err="1" smtClean="0">
                <a:solidFill>
                  <a:schemeClr val="tx1"/>
                </a:solidFill>
                <a:latin typeface="+mn-lt"/>
                <a:ea typeface="+mn-ea"/>
                <a:cs typeface="+mn-cs"/>
              </a:rPr>
              <a:t>Khz</a:t>
            </a:r>
            <a:r>
              <a:rPr lang="pt-PT" sz="1200" kern="1200" baseline="0" dirty="0" smtClean="0">
                <a:solidFill>
                  <a:schemeClr val="tx1"/>
                </a:solidFill>
                <a:latin typeface="+mn-lt"/>
                <a:ea typeface="+mn-ea"/>
                <a:cs typeface="+mn-cs"/>
              </a:rPr>
              <a:t> .O terceiro canal é exclusivo para </a:t>
            </a:r>
            <a:r>
              <a:rPr lang="pt-PT" sz="1200" kern="1200" baseline="0" dirty="0" err="1" smtClean="0">
                <a:solidFill>
                  <a:schemeClr val="tx1"/>
                </a:solidFill>
                <a:latin typeface="+mn-lt"/>
                <a:ea typeface="+mn-ea"/>
                <a:cs typeface="+mn-cs"/>
              </a:rPr>
              <a:t>recepção</a:t>
            </a:r>
            <a:r>
              <a:rPr lang="pt-PT" sz="1200" kern="1200" baseline="0" dirty="0" smtClean="0">
                <a:solidFill>
                  <a:schemeClr val="tx1"/>
                </a:solidFill>
                <a:latin typeface="+mn-lt"/>
                <a:ea typeface="+mn-ea"/>
                <a:cs typeface="+mn-cs"/>
              </a:rPr>
              <a:t> de dados pelo usuário download, que na maioria dos casos é proveniente dos servidores que encontram-se conectados as centrais telefônicas ocupando a faixa de </a:t>
            </a:r>
            <a:r>
              <a:rPr lang="pt-PT" sz="1200" kern="1200" baseline="0" dirty="0" err="1" smtClean="0">
                <a:solidFill>
                  <a:schemeClr val="tx1"/>
                </a:solidFill>
                <a:latin typeface="+mn-lt"/>
                <a:ea typeface="+mn-ea"/>
                <a:cs typeface="+mn-cs"/>
              </a:rPr>
              <a:t>freqüência</a:t>
            </a:r>
            <a:r>
              <a:rPr lang="pt-PT" sz="1200" kern="1200" baseline="0" dirty="0" smtClean="0">
                <a:solidFill>
                  <a:schemeClr val="tx1"/>
                </a:solidFill>
                <a:latin typeface="+mn-lt"/>
                <a:ea typeface="+mn-ea"/>
                <a:cs typeface="+mn-cs"/>
              </a:rPr>
              <a:t> de 240Khz até no máximo 1100Khz, sendo que esta faixa é bem superior a faixa de </a:t>
            </a:r>
            <a:r>
              <a:rPr lang="pt-PT" sz="1200" kern="1200" baseline="0" dirty="0" err="1" smtClean="0">
                <a:solidFill>
                  <a:schemeClr val="tx1"/>
                </a:solidFill>
                <a:latin typeface="+mn-lt"/>
                <a:ea typeface="+mn-ea"/>
                <a:cs typeface="+mn-cs"/>
              </a:rPr>
              <a:t>upload</a:t>
            </a:r>
            <a:r>
              <a:rPr lang="pt-PT" sz="1200" kern="1200" baseline="0" dirty="0" smtClean="0">
                <a:solidFill>
                  <a:schemeClr val="tx1"/>
                </a:solidFill>
                <a:latin typeface="+mn-lt"/>
                <a:ea typeface="+mn-ea"/>
                <a:cs typeface="+mn-cs"/>
              </a:rPr>
              <a:t>.</a:t>
            </a:r>
          </a:p>
          <a:p>
            <a:r>
              <a:rPr lang="pt-PT" sz="1200" kern="1200" baseline="0" dirty="0" smtClean="0">
                <a:solidFill>
                  <a:schemeClr val="tx1"/>
                </a:solidFill>
                <a:latin typeface="+mn-lt"/>
                <a:ea typeface="+mn-ea"/>
                <a:cs typeface="+mn-cs"/>
              </a:rPr>
              <a:t>Na maioria dos casos, a comunicação que necessita de uma maior banda é a realizada entre o servidor e o usuário, pois este sempre estará necessitando baixar diversos arquivos enquanto que no caso contrário, apenas existe comando de </a:t>
            </a:r>
            <a:r>
              <a:rPr lang="pt-PT" sz="1200" kern="1200" baseline="0" smtClean="0">
                <a:solidFill>
                  <a:schemeClr val="tx1"/>
                </a:solidFill>
                <a:latin typeface="+mn-lt"/>
                <a:ea typeface="+mn-ea"/>
                <a:cs typeface="+mn-cs"/>
              </a:rPr>
              <a:t>solicitação para recebimento </a:t>
            </a:r>
            <a:r>
              <a:rPr lang="pt-PT" sz="1200" kern="1200" baseline="0" dirty="0" smtClean="0">
                <a:solidFill>
                  <a:schemeClr val="tx1"/>
                </a:solidFill>
                <a:latin typeface="+mn-lt"/>
                <a:ea typeface="+mn-ea"/>
                <a:cs typeface="+mn-cs"/>
              </a:rPr>
              <a:t>de arquivos.</a:t>
            </a:r>
          </a:p>
          <a:p>
            <a:r>
              <a:rPr lang="pt-PT" sz="1200" kern="1200" baseline="0" dirty="0" smtClean="0">
                <a:solidFill>
                  <a:schemeClr val="tx1"/>
                </a:solidFill>
                <a:latin typeface="+mn-lt"/>
                <a:ea typeface="+mn-ea"/>
                <a:cs typeface="+mn-cs"/>
              </a:rPr>
              <a:t>Característica da modulação CAP:</a:t>
            </a:r>
          </a:p>
          <a:p>
            <a:r>
              <a:rPr lang="pt-PT" sz="1200" kern="1200" baseline="0" dirty="0" smtClean="0">
                <a:solidFill>
                  <a:schemeClr val="tx1"/>
                </a:solidFill>
                <a:latin typeface="+mn-lt"/>
                <a:ea typeface="+mn-ea"/>
                <a:cs typeface="+mn-cs"/>
              </a:rPr>
              <a:t>• Modulação utilizada nas primeiras linhas ADSL;</a:t>
            </a:r>
          </a:p>
          <a:p>
            <a:r>
              <a:rPr lang="pt-PT" sz="1200" kern="1200" baseline="0" dirty="0" smtClean="0">
                <a:solidFill>
                  <a:schemeClr val="tx1"/>
                </a:solidFill>
                <a:latin typeface="+mn-lt"/>
                <a:ea typeface="+mn-ea"/>
                <a:cs typeface="+mn-cs"/>
              </a:rPr>
              <a:t>• Foi desenvolvida pela </a:t>
            </a:r>
            <a:r>
              <a:rPr lang="pt-PT" sz="1200" kern="1200" baseline="0" dirty="0" err="1" smtClean="0">
                <a:solidFill>
                  <a:schemeClr val="tx1"/>
                </a:solidFill>
                <a:latin typeface="+mn-lt"/>
                <a:ea typeface="+mn-ea"/>
                <a:cs typeface="+mn-cs"/>
              </a:rPr>
              <a:t>paradyne</a:t>
            </a:r>
            <a:r>
              <a:rPr lang="pt-PT" sz="1200" kern="1200" baseline="0" dirty="0" smtClean="0">
                <a:solidFill>
                  <a:schemeClr val="tx1"/>
                </a:solidFill>
                <a:latin typeface="+mn-lt"/>
                <a:ea typeface="+mn-ea"/>
                <a:cs typeface="+mn-cs"/>
              </a:rPr>
              <a:t> (subsidiária da AT&amp;T);</a:t>
            </a:r>
          </a:p>
          <a:p>
            <a:r>
              <a:rPr lang="pt-PT" sz="1200" kern="1200" baseline="0" dirty="0" smtClean="0">
                <a:solidFill>
                  <a:schemeClr val="tx1"/>
                </a:solidFill>
                <a:latin typeface="+mn-lt"/>
                <a:ea typeface="+mn-ea"/>
                <a:cs typeface="+mn-cs"/>
              </a:rPr>
              <a:t>• Utiliza técnica QAM onde o Sinal analógico é modulado tanto em amplitude</a:t>
            </a:r>
          </a:p>
          <a:p>
            <a:r>
              <a:rPr lang="pt-PT" sz="1200" kern="1200" baseline="0" dirty="0" smtClean="0">
                <a:solidFill>
                  <a:schemeClr val="tx1"/>
                </a:solidFill>
                <a:latin typeface="+mn-lt"/>
                <a:ea typeface="+mn-ea"/>
                <a:cs typeface="+mn-cs"/>
              </a:rPr>
              <a:t>quanto em fase;</a:t>
            </a:r>
          </a:p>
          <a:p>
            <a:r>
              <a:rPr lang="pt-PT" sz="1200" kern="1200" baseline="0" dirty="0" smtClean="0">
                <a:solidFill>
                  <a:schemeClr val="tx1"/>
                </a:solidFill>
                <a:latin typeface="+mn-lt"/>
                <a:ea typeface="+mn-ea"/>
                <a:cs typeface="+mn-cs"/>
              </a:rPr>
              <a:t>• É mais rápida que a modulação DMT, porém é mais sensível a ruído;</a:t>
            </a:r>
          </a:p>
          <a:p>
            <a:r>
              <a:rPr lang="pt-PT" sz="1200" kern="1200" baseline="0" dirty="0" smtClean="0">
                <a:solidFill>
                  <a:schemeClr val="tx1"/>
                </a:solidFill>
                <a:latin typeface="+mn-lt"/>
                <a:ea typeface="+mn-ea"/>
                <a:cs typeface="+mn-cs"/>
              </a:rPr>
              <a:t>• Possui Três Canais: voz / </a:t>
            </a:r>
            <a:r>
              <a:rPr lang="pt-PT" sz="1200" kern="1200" baseline="0" dirty="0" err="1" smtClean="0">
                <a:solidFill>
                  <a:schemeClr val="tx1"/>
                </a:solidFill>
                <a:latin typeface="+mn-lt"/>
                <a:ea typeface="+mn-ea"/>
                <a:cs typeface="+mn-cs"/>
              </a:rPr>
              <a:t>upstream</a:t>
            </a:r>
            <a:r>
              <a:rPr lang="pt-PT" sz="1200" kern="1200" baseline="0" dirty="0" smtClean="0">
                <a:solidFill>
                  <a:schemeClr val="tx1"/>
                </a:solidFill>
                <a:latin typeface="+mn-lt"/>
                <a:ea typeface="+mn-ea"/>
                <a:cs typeface="+mn-cs"/>
              </a:rPr>
              <a:t> / </a:t>
            </a:r>
            <a:r>
              <a:rPr lang="pt-PT" sz="1200" kern="1200" baseline="0" dirty="0" err="1" smtClean="0">
                <a:solidFill>
                  <a:schemeClr val="tx1"/>
                </a:solidFill>
                <a:latin typeface="+mn-lt"/>
                <a:ea typeface="+mn-ea"/>
                <a:cs typeface="+mn-cs"/>
              </a:rPr>
              <a:t>downstream</a:t>
            </a:r>
            <a:r>
              <a:rPr lang="pt-PT" sz="1200" kern="1200" baseline="0" dirty="0" smtClean="0">
                <a:solidFill>
                  <a:schemeClr val="tx1"/>
                </a:solidFill>
                <a:latin typeface="+mn-lt"/>
                <a:ea typeface="+mn-ea"/>
                <a:cs typeface="+mn-cs"/>
              </a:rPr>
              <a:t>.</a:t>
            </a:r>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43</a:t>
            </a:fld>
            <a:endParaRPr lang="pt-P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45</a:t>
            </a:fld>
            <a:endParaRPr lang="pt-P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a:buFont typeface="Times New Roman" pitchFamily="18" charset="0"/>
              <a:buChar char="•"/>
            </a:pPr>
            <a:r>
              <a:rPr lang="pt-BR" dirty="0" smtClean="0"/>
              <a:t>PNNI - Interface entre comutadores privados e entre grupos de comutadores (rede) privados</a:t>
            </a:r>
          </a:p>
          <a:p>
            <a:pPr>
              <a:buFont typeface="Times New Roman" pitchFamily="18" charset="0"/>
              <a:buChar char="•"/>
            </a:pPr>
            <a:r>
              <a:rPr lang="pt-BR" dirty="0" smtClean="0"/>
              <a:t>O objetivo é rotear conexões SVC em redes autoconfiguradas</a:t>
            </a:r>
          </a:p>
          <a:p>
            <a:pPr>
              <a:buFont typeface="Times New Roman" pitchFamily="18" charset="0"/>
              <a:buChar char="•"/>
            </a:pPr>
            <a:r>
              <a:rPr lang="pt-BR" dirty="0" smtClean="0"/>
              <a:t>SVC - Switched Virtual Circuit (Circuito Virtual Comutado)</a:t>
            </a:r>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118</a:t>
            </a:fld>
            <a:endParaRPr lang="pt-P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a:buFont typeface="Times New Roman" pitchFamily="18" charset="0"/>
              <a:buChar char="•"/>
            </a:pPr>
            <a:r>
              <a:rPr lang="pt-BR" dirty="0" smtClean="0"/>
              <a:t>PNNI - Interface entre comutadores privados e entre grupos de comutadores (rede) privados</a:t>
            </a:r>
          </a:p>
          <a:p>
            <a:pPr>
              <a:buFont typeface="Times New Roman" pitchFamily="18" charset="0"/>
              <a:buChar char="•"/>
            </a:pPr>
            <a:r>
              <a:rPr lang="pt-BR" dirty="0" smtClean="0"/>
              <a:t>O objetivo é rotear conexões SVC em redes autoconfiguradas</a:t>
            </a:r>
          </a:p>
          <a:p>
            <a:pPr>
              <a:buFont typeface="Times New Roman" pitchFamily="18" charset="0"/>
              <a:buChar char="•"/>
            </a:pPr>
            <a:r>
              <a:rPr lang="pt-BR" dirty="0" smtClean="0"/>
              <a:t>SVC - Switched Virtual Circuit (Circuito Virtual Comutado)</a:t>
            </a:r>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119</a:t>
            </a:fld>
            <a:endParaRPr lang="pt-P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O modelo de camadas do protocolo ATM não segue o modelo de referência OSI. Existe na literatura, diversas propostas de mapeamento das camadas do modelo ATM nas camadas do modelo OSI e nem sempre estas propostas são conciliáveis. Um pouco mais na frente, após a apresentação das camadas ATM, estas questões serão um pouco mais discutidas.</a:t>
            </a:r>
          </a:p>
          <a:p>
            <a:r>
              <a:rPr lang="pt-BR" dirty="0" smtClean="0"/>
              <a:t>Como mostra a figura a seguir, o modelo de camadas ATM utiliza uma representação tridimensional. As camadas que agrupam as funções que tratam das informações do usuário estão separadas das camadas que agrupam as funções que tratam das informações de controle. Simultaneamente, há um outro agrupamento de funções com objetivo de se fazer uma gerência das diferentes funções.</a:t>
            </a:r>
          </a:p>
          <a:p>
            <a:r>
              <a:rPr lang="pt-BR" dirty="0" smtClean="0"/>
              <a:t>Plano de Usuário: provê a transferência de informação do Usuário. Mecanismos referentes ao controle de fluxo e recuperação de erros são incluídos.</a:t>
            </a:r>
          </a:p>
          <a:p>
            <a:r>
              <a:rPr lang="pt-BR" dirty="0" smtClean="0"/>
              <a:t>Plano de Controle: realiza as funções de controle de chamada e de conexão. Inclui as funções de sinalização necessárias no estabelecimento, supervisão e liberação de uma chamada ou conexão.</a:t>
            </a:r>
          </a:p>
          <a:p>
            <a:r>
              <a:rPr lang="pt-BR" dirty="0" smtClean="0"/>
              <a:t>Gerênciamento de Camada - Responsável  pelas funções de gerenciamento dos recursos e dos parâmetros das diversas subcamadas ATM.</a:t>
            </a:r>
          </a:p>
          <a:p>
            <a:r>
              <a:rPr lang="pt-BR" dirty="0" smtClean="0"/>
              <a:t>Gerênciamento do Plano - Responsável pelas funções de Gerenciamento como um todo e pela coordenação dos diversos planos.</a:t>
            </a:r>
          </a:p>
          <a:p>
            <a:endParaRPr lang="pt-BR" dirty="0" smtClean="0"/>
          </a:p>
          <a:p>
            <a:endParaRPr lang="pt-BR" dirty="0" smtClean="0"/>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120</a:t>
            </a:fld>
            <a:endParaRPr lang="pt-PT"/>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É importante notar que no plano do usuário, a camada de adaptação é a primeira camada fim-a-fim no modelo ATM, ou seja, no plano do usuário não existe implementada nos switches a camada AAL.</a:t>
            </a:r>
          </a:p>
          <a:p>
            <a:r>
              <a:rPr lang="pt-BR" dirty="0" smtClean="0"/>
              <a:t>Isto significa, que neste plano, não cabe aos comutadores da rede converter a aplicação em células e vice versa. Tal função deve ser executada na instalação do usuário ou por um outro dispositivo de borda (edge device)</a:t>
            </a:r>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121</a:t>
            </a:fld>
            <a:endParaRPr lang="pt-PT"/>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algn="just"/>
            <a:r>
              <a:rPr lang="pt-BR" dirty="0" smtClean="0"/>
              <a:t>A camada física é recebe as células da camada ATM e transmite-as sobre um meio físico. Originalmente o ITU-T definiu somente duas velocidades que deveriam ser suportadas pelo ATM: 155,52 Mbps e 622,08 Mbps. Com o tempo, um número adicional de velocidades e interfaces foram definidas, desde E1 (2 Mbps) a Gbps.</a:t>
            </a:r>
          </a:p>
          <a:p>
            <a:pPr algn="just"/>
            <a:r>
              <a:rPr lang="pt-BR" dirty="0" smtClean="0"/>
              <a:t>A camada física é dividida em duas sub camadas, mas elas trabalham juntas para garantir que as interfaces óptica ou metálica recebam e transmitam as células com eficiência, com a estrutura de temporização apropriada.</a:t>
            </a:r>
          </a:p>
          <a:p>
            <a:pPr algn="just"/>
            <a:r>
              <a:rPr lang="pt-BR" dirty="0" smtClean="0"/>
              <a:t>As sub camada PMD é a encarregada da transmissão efetiva dos bits. Para cada meio de transmissão ela é específica para a tecnologia de transmissão utilizada. Esta sub camada é responsável pela temporização na transmissão dos bits no meio físico.</a:t>
            </a:r>
          </a:p>
          <a:p>
            <a:endParaRPr lang="pt-BR" dirty="0" smtClean="0"/>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123</a:t>
            </a:fld>
            <a:endParaRPr lang="pt-PT"/>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algn="just"/>
            <a:r>
              <a:rPr lang="pt-BR" dirty="0" smtClean="0"/>
              <a:t>Na transmissão</a:t>
            </a:r>
          </a:p>
          <a:p>
            <a:pPr algn="just">
              <a:buFont typeface="Times New Roman" pitchFamily="18" charset="0"/>
              <a:buChar char="•"/>
            </a:pPr>
            <a:r>
              <a:rPr lang="pt-BR" dirty="0" smtClean="0"/>
              <a:t>Gera o HEC  para cada célula e o insere no campo a ele destinado no header.</a:t>
            </a:r>
          </a:p>
          <a:p>
            <a:pPr algn="just">
              <a:buFont typeface="Times New Roman" pitchFamily="18" charset="0"/>
              <a:buChar char="•"/>
            </a:pPr>
            <a:r>
              <a:rPr lang="pt-BR" dirty="0" smtClean="0"/>
              <a:t>Transforma o fluxo de células em fluxo de bits (ou bytes) adequado para a transmissão pela subcamada PM, inserindo informações que permitirão à sub-camada TC do receptor recuperar as fronteiras das células transmitidas.</a:t>
            </a:r>
          </a:p>
          <a:p>
            <a:pPr algn="just">
              <a:buFont typeface="Times New Roman" pitchFamily="18" charset="0"/>
              <a:buChar char="•"/>
            </a:pPr>
            <a:r>
              <a:rPr lang="pt-BR" dirty="0" smtClean="0"/>
              <a:t>Este fluxo de bits ou bytes é repassado à sub-camada PM que se encarregará da transmissão.</a:t>
            </a:r>
          </a:p>
          <a:p>
            <a:pPr algn="just"/>
            <a:r>
              <a:rPr lang="pt-BR" dirty="0" smtClean="0"/>
              <a:t>Na recepção recupera o delineamento das células e repassa -as à camada ATM.</a:t>
            </a:r>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126</a:t>
            </a:fld>
            <a:endParaRPr lang="pt-PT"/>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O delineamento de células é a função que permite determinar onde, dentro do fluxo de bits ou de bytes recebidos, começa e termina uma célula.</a:t>
            </a:r>
          </a:p>
          <a:p>
            <a:r>
              <a:rPr lang="pt-BR" dirty="0" smtClean="0"/>
              <a:t>Inicialmente, o receptor está no estado HUNT, no qual ele monitora através de uma janela de tamanho igual a 5 bytes, o fluxo de bits chegando. Para cada 5 bytes verifica-se se o 5º byte corresponde ao HEC. Quando se detecta uma seqüência correta, passa-se para o estado PRESYNC, e a verificação do HEC agora é feita por células, ou seja, a cada 53 bytes. Após a chegada de </a:t>
            </a:r>
            <a:r>
              <a:rPr lang="pt-BR" b="1" dirty="0" smtClean="0">
                <a:sym typeface="Symbol" pitchFamily="18" charset="2"/>
              </a:rPr>
              <a:t></a:t>
            </a:r>
            <a:r>
              <a:rPr lang="pt-BR" dirty="0" smtClean="0"/>
              <a:t> cabeçalhos corretos, o receptor assume que o sincronismo foi atingido, o delineamento de célula foi encontrado e ele passa para o estado SYNC. Se no estado PRESYNC chegar uma única célula com o cabeçalho incorreto, o receptor assume que o sincronismo não foi atingido e retorna para o estado HUNT.</a:t>
            </a:r>
          </a:p>
          <a:p>
            <a:r>
              <a:rPr lang="pt-BR" dirty="0" smtClean="0"/>
              <a:t>No estado SYNC, se o receptor receber uma seqüência de </a:t>
            </a:r>
            <a:r>
              <a:rPr lang="pt-BR" dirty="0" smtClean="0">
                <a:sym typeface="Symbol" pitchFamily="18" charset="2"/>
              </a:rPr>
              <a:t> células com erro, ele considera que houve perda de sincronismo, passando para o estado HUNT.</a:t>
            </a:r>
            <a:r>
              <a:rPr lang="pt-BR" dirty="0" smtClean="0"/>
              <a:t> </a:t>
            </a:r>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127</a:t>
            </a:fld>
            <a:endParaRPr lang="pt-PT"/>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Como a geração de células é assíncrona, quando não há células a transmitir, a subcamada TC deve se encarregar de inserir células ociosas de forma a manter constante a taxa de geração da informação para a subcamada PM.</a:t>
            </a:r>
          </a:p>
          <a:p>
            <a:r>
              <a:rPr lang="pt-BR" dirty="0" smtClean="0"/>
              <a:t>A célula ociosa possui um padrão especial no cabeçalho, onde os quatro primeiros bytes são zero. Ainda assim, a forma como o HEC é calculado impede que o seu valor seja zero.</a:t>
            </a:r>
          </a:p>
          <a:p>
            <a:r>
              <a:rPr lang="pt-BR" dirty="0" smtClean="0"/>
              <a:t>Nas células ociosas o campo de payload possui o valor 01101010 repetido 48 vezes.</a:t>
            </a:r>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128</a:t>
            </a:fld>
            <a:endParaRPr lang="pt-PT"/>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129</a:t>
            </a:fld>
            <a:endParaRPr lang="pt-PT"/>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A camada ATM descreve os fundamentos do ATM como, estrutura da célula e o uso de caminhos e canais virtuais.</a:t>
            </a:r>
          </a:p>
          <a:p>
            <a:r>
              <a:rPr lang="pt-BR" dirty="0" smtClean="0"/>
              <a:t>A camada ATM, assim como a camada física, está presente em todos os elementos da rede, incluindo os comutadores.</a:t>
            </a:r>
          </a:p>
          <a:p>
            <a:r>
              <a:rPr lang="pt-BR" dirty="0" smtClean="0"/>
              <a:t>Todo processamento na camada ATM é feito a partir da geração e inspeção dos campos do cabeçalho da célula ATM.</a:t>
            </a:r>
          </a:p>
          <a:p>
            <a:endParaRPr lang="pt-BR" dirty="0" smtClean="0"/>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132</a:t>
            </a:fld>
            <a:endParaRPr lang="pt-PT"/>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As células são transmitidas através de conexões com circuitos virtuais, onde uma rota é estabelecida no momento da conexão. Independente de ser na interface usuário rede (UNI) ou na interface rede-rede, cada célula consiste de:</a:t>
            </a:r>
          </a:p>
          <a:p>
            <a:r>
              <a:rPr lang="pt-BR" dirty="0" smtClean="0"/>
              <a:t>Cabeçalho: com um tamanho de 5 bytes, contém o campo utilizado para identificar o circuito virtual.</a:t>
            </a:r>
          </a:p>
          <a:p>
            <a:r>
              <a:rPr lang="pt-BR" dirty="0" smtClean="0"/>
              <a:t>Payload: com um tamanho de 48 bytes, contém as informações propriamente ditas, que podem ser de usuários ou de gerenciamento da rede.</a:t>
            </a:r>
          </a:p>
          <a:p>
            <a:r>
              <a:rPr lang="pt-BR" dirty="0" smtClean="0"/>
              <a:t> Existe uma pequena diferença entre os cabeçalhos das células na interface UNI e na NNI. Na célula UNI os 04 primeiros bits são utilizados para controle genérico de fluxo (GFC), que não foi ainda definido, e portanto, não é utilizado.</a:t>
            </a:r>
          </a:p>
          <a:p>
            <a:r>
              <a:rPr lang="pt-BR" dirty="0" smtClean="0"/>
              <a:t>Na célula NNI, os quatro primeiros bits são utilizados para VPI, permitindo que uma maior quantidade de caminhos virtuais possam ser suportados.</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133</a:t>
            </a:fld>
            <a:endParaRPr lang="pt-PT"/>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smtClean="0"/>
              <a:t>Se vários canais devem ser transmitidos de uma origem para um mesmo destino, eles poderão ser associados a um único caminho virtual. Esses canais poderão ser comutados com base no caminho, sem terem que ser comutados individualmente em cada switch ATM intermediário.</a:t>
            </a:r>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150</a:t>
            </a:fld>
            <a:endParaRPr lang="pt-PT"/>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algn="just"/>
            <a:r>
              <a:rPr lang="pt-BR" dirty="0" smtClean="0"/>
              <a:t>Várias características devem ser analisadas para verificar o desempenho de um comutador. Algumas dessas características são:</a:t>
            </a:r>
          </a:p>
          <a:p>
            <a:pPr algn="just">
              <a:buFont typeface="Times New Roman" pitchFamily="18" charset="0"/>
              <a:buChar char="•"/>
            </a:pPr>
            <a:r>
              <a:rPr lang="pt-BR" dirty="0" smtClean="0"/>
              <a:t>Probabilidade de Bloqueio: permitir o establecimento simultâneo entre todas as entradas suportadas e as saídas disponíveis (non-blocking)</a:t>
            </a:r>
          </a:p>
          <a:p>
            <a:pPr algn="just">
              <a:buFont typeface="Times New Roman" pitchFamily="18" charset="0"/>
              <a:buChar char="•"/>
            </a:pPr>
            <a:r>
              <a:rPr lang="pt-BR" dirty="0" smtClean="0"/>
              <a:t>Capacidade dos Buffers: quantidades de células que um comutador poderá armazenar temporariamente, diminuindo a probabilidade de descartes de célula</a:t>
            </a:r>
          </a:p>
          <a:p>
            <a:pPr algn="just">
              <a:buFont typeface="Times New Roman" pitchFamily="18" charset="0"/>
              <a:buChar char="•"/>
            </a:pPr>
            <a:r>
              <a:rPr lang="pt-BR" dirty="0" smtClean="0"/>
              <a:t>Número e tipos de Portas: indica a quantidade de equipamentos do usuário assim como de outros comutadores que poderão ser conectadas aquele comutador considerado. Os tipos de portas mais comuns correspondem  aos vários padrões nativos para a camada física ATM, como: DS3, SONET OC-3 (ou STM-1), ATM25</a:t>
            </a:r>
          </a:p>
          <a:p>
            <a:pPr algn="just">
              <a:buFont typeface="Times New Roman" pitchFamily="18" charset="0"/>
              <a:buChar char="•"/>
            </a:pPr>
            <a:r>
              <a:rPr lang="pt-BR" dirty="0" smtClean="0"/>
              <a:t>Capacidade de Tráfego: indica a soma das capacidades de tráfego de todos os caminhos suportados simultaneamente pelo comutador.A figura anterior mostra um comutador que suporta 8 ligações simultâneas a 155,52Mb/s, e portanto, possui uma capacidade de tráfego de aproximadamente 1,25 Gb/s (4x(155,52+155,52)1,25 Gb/s.</a:t>
            </a:r>
          </a:p>
          <a:p>
            <a:pPr algn="just">
              <a:buFont typeface="Times New Roman" pitchFamily="18" charset="0"/>
              <a:buChar char="•"/>
            </a:pPr>
            <a:r>
              <a:rPr lang="pt-BR" dirty="0" smtClean="0"/>
              <a:t>Suporte à LAN virtual, Conexões ponto-multiponto, a AALs, a PVC e SVC.</a:t>
            </a:r>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154</a:t>
            </a:fld>
            <a:endParaRPr lang="pt-PT"/>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algn="just"/>
            <a:r>
              <a:rPr lang="pt-BR" dirty="0" smtClean="0"/>
              <a:t>Quando vários comutadores elementares são interconectados em uma rede, é obtida uma malha de comutação, que normalmente é composta por um grande número de comutadores elementares idênticos. A figura anterrior mostra uma configuração composta de 3 estágios, cada um com 4 comutadores elementares.</a:t>
            </a:r>
          </a:p>
          <a:p>
            <a:pPr algn="just"/>
            <a:r>
              <a:rPr lang="pt-BR" dirty="0" smtClean="0"/>
              <a:t>Observa-se que de qualquer terminal de entrada pode-se alcançar qualquer terminal de saída, mostrando que a malha tem conectividade total.</a:t>
            </a:r>
          </a:p>
          <a:p>
            <a:pPr algn="just"/>
            <a:endParaRPr lang="pt-BR" dirty="0" smtClean="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155</a:t>
            </a:fld>
            <a:endParaRPr lang="pt-PT"/>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smtClean="0"/>
              <a:t>Uma outra rede bastante difundida é a rede Banyan Delta, que possui a propriedade de auto-roteamento, isto é, independentemente da entrada por onde a célula entrar na rede, ela sempre alcançará a saída correta. A rota a ser seguida é descrita por uma seqüência de bits chamada etiqueta de roteamento, que contém o endereço terminal de saída. A figura anterior ilustra esta idéia. Os bits consecutivos do endereço de destino (etiqueta de roteamento) são interpretados estágio por estágio. Se o bit de endereço é </a:t>
            </a:r>
            <a:r>
              <a:rPr lang="pt-BR" b="1" dirty="0" smtClean="0"/>
              <a:t>0</a:t>
            </a:r>
            <a:r>
              <a:rPr lang="pt-BR" dirty="0" smtClean="0"/>
              <a:t>, a saída superior do comutador 2X2 é selecionado; se o bit é 1, a saída inferior é selecionada. A cada estágio, a seqüência de bits é deslocada internamente de um bit. A figura  mostra ainda, duas células, uma na entrada 0001 e outra na entrada 1011, ambas endereçadas à saída 1011.</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156</a:t>
            </a:fld>
            <a:endParaRPr lang="pt-PT"/>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smtClean="0"/>
              <a:t>É importante observar que células podem ser comutadas através da rede de forma simultânea. Contudo estas redes podem ter bloqueio interno (contenção) mesmo que as células tenham destinos diferentes. A figura anterior ilustra duas células, uma endereçada à saída 0100 e outra à saída 0110, contidas no comutador básico situado na segunda linha e segunda coluna.</a:t>
            </a:r>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157</a:t>
            </a:fld>
            <a:endParaRPr lang="pt-PT"/>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algn="just"/>
            <a:r>
              <a:rPr lang="pt-BR" dirty="0" smtClean="0"/>
              <a:t>Existem malhas que são construídas utilizando topologia apropriada, em que não há disputa interna, e são chamadas de malhas sem bloqueio. A mais famosa estrutura com esta característica é denominada de Rede Batcher-Banyan. Observa-se uma rede Batcher precedendo uma rede Banyan, interconectadas de uma forma especial denominada Shuffle-Exchange.</a:t>
            </a:r>
          </a:p>
          <a:p>
            <a:pPr algn="just"/>
            <a:r>
              <a:rPr lang="pt-BR" dirty="0" smtClean="0"/>
              <a:t>A rede Batcher é também chamada de Rede ordenadora, pois ela ordena as células de acordo com o seu endereço de destino, de modo que a célula de endereço mais baixo aparece no terminal de saída superior da rede. Os elementos de ordenação (2 entradas) que comparam os bits do endereço de destino e chaveam para “passar” ou para “comutar”. A opção de ordenação selecionada é indicada pela seta. Esta seta aponta para o terminal de saída para o qual a célula com maior endereço será encaminhada. Se somente uma célula está presente nas entradas do elemento, ela é considerada como tendo menor endereço. A figura anterior mostra 2 células através do comutador, sendo ordenadas pela rede Batcher.</a:t>
            </a:r>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158</a:t>
            </a:fld>
            <a:endParaRPr lang="pt-PT"/>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O campo HEC carrega o código de verificação de erro do cabeçalho. As células com HEC inválido são descartadas pelo comutador. O HEC é também utilizado para delimitar células que são empacotadas em um quadro de transmissão, como por exemplo, SDH  e SONET.</a:t>
            </a:r>
          </a:p>
          <a:p>
            <a:r>
              <a:rPr lang="pt-BR" dirty="0" smtClean="0"/>
              <a:t>O HEC é capaz de detectar corrigir erros em um único bit, e detectar erros em múltiplos bits. Não existe mecanismos de detecção de erros no campo payload no interior da rede ATM.</a:t>
            </a:r>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159</a:t>
            </a:fld>
            <a:endParaRPr lang="pt-PT"/>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algn="just"/>
            <a:r>
              <a:rPr lang="pt-BR" dirty="0" smtClean="0"/>
              <a:t>O HEC protege todo cabeçalho da célula, incluindo ele próprio. Na transmissão a subcamada TC calcula o HEC utilizando o polinômio gerador dado por X</a:t>
            </a:r>
            <a:r>
              <a:rPr lang="pt-BR" baseline="30000" dirty="0" smtClean="0"/>
              <a:t>8</a:t>
            </a:r>
            <a:r>
              <a:rPr lang="pt-BR" dirty="0" smtClean="0"/>
              <a:t> + X</a:t>
            </a:r>
            <a:r>
              <a:rPr lang="pt-BR" baseline="30000" dirty="0" smtClean="0"/>
              <a:t>2</a:t>
            </a:r>
            <a:r>
              <a:rPr lang="pt-BR" dirty="0" smtClean="0"/>
              <a:t> + X +1. Na recepção o subcamada TC realiza o cômputo do HEC verificando se existe erro.</a:t>
            </a:r>
          </a:p>
          <a:p>
            <a:pPr algn="just"/>
            <a:r>
              <a:rPr lang="pt-BR" dirty="0" smtClean="0"/>
              <a:t>A verificação do HEC possui dois modos: correção e detecção. </a:t>
            </a:r>
            <a:r>
              <a:rPr lang="pt-BR" smtClean="0"/>
              <a:t>No modo correção a subcamada TC efetua a correções de um único bit em cabeçalhos recebidos com erro, porém ao receber o primeiro cabeçalho com erro, ela passa para o estado de detecção, no qual descarta todas as células com erro.</a:t>
            </a:r>
            <a:endParaRPr lang="pt-PT"/>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160</a:t>
            </a:fld>
            <a:endParaRPr lang="pt-PT"/>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A camada de adaptação ATM (AAL - ATM Adaptation Layer) é o componente que dá as redes ATM sua característica de multi-serviço. A camada de adaptação realiza a adaptação dos dados gerados pelo serviço do usuário ao modo de transporte ATM (que é baseado em células).</a:t>
            </a:r>
          </a:p>
          <a:p>
            <a:r>
              <a:rPr lang="pt-BR" dirty="0" smtClean="0"/>
              <a:t>Dividida em duas subcamadas:</a:t>
            </a:r>
          </a:p>
          <a:p>
            <a:pPr lvl="1"/>
            <a:r>
              <a:rPr lang="pt-BR" dirty="0" smtClean="0"/>
              <a:t>CS – Sub-camada de convergência (não está presente em todas as AALs)</a:t>
            </a:r>
          </a:p>
          <a:p>
            <a:pPr lvl="1"/>
            <a:r>
              <a:rPr lang="pt-BR" dirty="0" smtClean="0"/>
              <a:t>SAR – Sub-camada de segmentação e remontagem</a:t>
            </a:r>
          </a:p>
          <a:p>
            <a:r>
              <a:rPr lang="pt-BR" dirty="0" smtClean="0"/>
              <a:t>No Plano do Usuário, a camada AAL é a primeira camada fim-a-fim no modelo de protocolo ATM. Porém, os switches precisam implementar a camada AAL por causa da sinalização (Plano de Controle)</a:t>
            </a:r>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161</a:t>
            </a:fld>
            <a:endParaRPr lang="pt-PT"/>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A camada de adaptação AAL provê quatro classes de serviços denominadas Classe A, B, C e D, que atendem uma vasta gama de aplicações. O objetivo desta classificação é diminuir o número de protocolos na camada de adaptação.</a:t>
            </a:r>
          </a:p>
          <a:p>
            <a:r>
              <a:rPr lang="pt-BR" dirty="0" smtClean="0"/>
              <a:t>O ITU dividiu  as classes de tráfego existentes levando em consideração a sua natureza (VBR ou CBR), a necessidade ou não de manter a relação temporal da informação (sincronismo entre origem e destino) e o modo de conexão.</a:t>
            </a:r>
          </a:p>
          <a:p>
            <a:r>
              <a:rPr lang="pt-BR" dirty="0" smtClean="0"/>
              <a:t>Sincronismo entre origem e destino: determina se o serviço terá um comportamento isócrono ou não.</a:t>
            </a:r>
          </a:p>
          <a:p>
            <a:r>
              <a:rPr lang="pt-BR" dirty="0" smtClean="0"/>
              <a:t>Taxa de bit: visa diferenciar as fontes que geram tráfego com taxa de bit constante daquelas que geram tráfego com taxa de bits variável.</a:t>
            </a:r>
          </a:p>
          <a:p>
            <a:r>
              <a:rPr lang="pt-BR" dirty="0" smtClean="0"/>
              <a:t>Modo de conexão: visa garantir às aplicações uma determinada qualidade de serviço (QoS).</a:t>
            </a:r>
          </a:p>
          <a:p>
            <a:r>
              <a:rPr lang="pt-BR" dirty="0" smtClean="0"/>
              <a:t>Existe uma relação entre entre as classes de serviços da camada de adaptação (A,B,C e D) e as categorias de serviços (CBR, rt-VBR,...).</a:t>
            </a:r>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163</a:t>
            </a:fld>
            <a:endParaRPr lang="pt-PT"/>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O serviço Classe A se destina a aplicações que geram informações a uma taxa constante e demandam sincronismo entre fonte e destino, ou seja, a fonte deverá submeter à rede dados a uma taxa de bit constante, entregando-os ao receptor na mesma taxa gerada pela fonte. É realizado sobre uma conexão CBR da camada ATM.</a:t>
            </a:r>
          </a:p>
          <a:p>
            <a:r>
              <a:rPr lang="pt-BR" dirty="0" smtClean="0"/>
              <a:t>O serviço Classe B atende às aplicações com restrições de tempo-real e que geram uma taxa de bit variável. É realizado sobre uma conexão rt-VBR da camada ATM</a:t>
            </a:r>
          </a:p>
          <a:p>
            <a:r>
              <a:rPr lang="pt-BR" dirty="0" smtClean="0"/>
              <a:t>O serviço Classe C permite uma taxa de bit variável mas não garante sincronismo entre transmissor e receptor. Como é orientado a conexão, é ideal para o provimento de Frame Relay sobre ATM. É realizado sobre uma conexão VBR da camada ATM</a:t>
            </a:r>
          </a:p>
          <a:p>
            <a:r>
              <a:rPr lang="pt-BR" dirty="0" smtClean="0"/>
              <a:t>O serviço Classe D oferece um serviço datagrama às aplicações, utilizado para propagar o tráfego de LANs ou IP Clássico sobre ATM. É realizado sobre uma conexão UBR ou ABR da camada ATM.</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166</a:t>
            </a:fld>
            <a:endParaRPr lang="pt-PT"/>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Embora o uso da subcamada de convergência (CS) seja especificada para a AAL, nem todo tipo dados a requisita.</a:t>
            </a:r>
          </a:p>
          <a:p>
            <a:r>
              <a:rPr lang="pt-BR" dirty="0" smtClean="0"/>
              <a:t>Genericamente, a subcamada CS segmenta a aplicação do usuário em segmentos menores (tipicamente em 64k) podendo acrescentar seu próprio trailer (T) e cabeçalho (H), transformando em uma CS-PDU.</a:t>
            </a:r>
          </a:p>
          <a:p>
            <a:r>
              <a:rPr lang="pt-BR" dirty="0" smtClean="0"/>
              <a:t>A subcamada recebe a CS-PDU como uma SAR-SDU, segmenta em células podendo acrescentar seu próprio cabeçalho, transformando em SAR-PDU de 48 bytes.</a:t>
            </a:r>
          </a:p>
          <a:p>
            <a:r>
              <a:rPr lang="pt-BR" dirty="0" smtClean="0"/>
              <a:t>A camada ATM recebe a célula de 48 bytes, acrescenta o cabeçalho ATM de 5 bytes, transformando a célula em 53 bytes.</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168</a:t>
            </a:fld>
            <a:endParaRPr lang="pt-PT"/>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algn="just"/>
            <a:r>
              <a:rPr lang="pt-BR" dirty="0" smtClean="0"/>
              <a:t>A camada AAL 1 [I.363.1] é subdividida nas subcamdas CS (Convergence Sublayer) e SAR (Segmentation and Reassembly). A subcamada CS executa o empacotamento (desempacotamento) das amostras (AAL-SDUs) no (do) campo de informação da unidade CS-PDU, adicionando (extraindo) 1 byte de “header” no caso de emulação de circuitos estruturados.</a:t>
            </a:r>
          </a:p>
          <a:p>
            <a:pPr algn="just"/>
            <a:r>
              <a:rPr lang="pt-BR" dirty="0" smtClean="0"/>
              <a:t>A subcamada SAR adiciona 1 byte à CS-SDU, para deteção de erros no transporte, completando os 48 bytes que irão compor a campo de informação da célula ATM.</a:t>
            </a:r>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170</a:t>
            </a:fld>
            <a:endParaRPr lang="pt-PT"/>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algn="just"/>
            <a:r>
              <a:rPr lang="pt-BR" dirty="0" smtClean="0"/>
              <a:t>A subcamada SAR é reponsável basicamente pela função de deteção de perda e inserção de células, ocasionados durante o transporte destas. Esta função é executada através do campo SNC (Sequence Nunber Count) presente no cabeçalho da SAR-PDU.</a:t>
            </a:r>
          </a:p>
          <a:p>
            <a:pPr algn="just"/>
            <a:r>
              <a:rPr lang="pt-BR" dirty="0" smtClean="0"/>
              <a:t>Considerando que para os serviços isócronos a deteção de perda e inserção de células é muito importante para a recuperação do sincronismo e dependendo do serviço para a recuperação da informação do usuários, por códigos corretores, o campo SNC é protegido pelo campo SNP (Sequence Number Protection). Este campo permite a deteção e correção de erros simples no campo SNC. O campo SNP é formado pelo campo CRC (Cyclic Redundance Check) que protege o campo SN e pelo campo “parity” que protege os campos SN e CRC.</a:t>
            </a:r>
          </a:p>
          <a:p>
            <a:pPr algn="just"/>
            <a:r>
              <a:rPr lang="pt-BR" dirty="0" smtClean="0"/>
              <a:t>O campo CSI (CS Indication) é utilizado pela subcamada CS para a execução das funções de recuperação de sincronismo e de estrutura de quadro conforme descrito no item  “Subcamada CS”. Este campo é transportado de forma transparente pela subcamada SAR.</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172</a:t>
            </a:fld>
            <a:endParaRPr lang="pt-PT"/>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Utilizada para prover serviços para dados com tráfego de taxa variável, orientado a conexão, em tempo real (sensível ao atraso), como por exemplo vídeo e áudio compactado.</a:t>
            </a:r>
          </a:p>
          <a:p>
            <a:r>
              <a:rPr lang="pt-BR" dirty="0" smtClean="0"/>
              <a:t>Permite identificar e multiplexar múltiplos usuários sobre uma única conexão ATM, transferindo unidades de dados a uma taxa variável, e indicando a perda ou erros de informação</a:t>
            </a:r>
          </a:p>
          <a:p>
            <a:r>
              <a:rPr lang="pt-BR" dirty="0" smtClean="0"/>
              <a:t>A grande característica da AAL2 é sua habilidade de aceitar vários fluxos de tráfegos e multiplexá-los em uma conexão.</a:t>
            </a:r>
          </a:p>
          <a:p>
            <a:r>
              <a:rPr lang="pt-BR" dirty="0" smtClean="0"/>
              <a:t>Na figura, amostras de três usuários são multiplexadas em uma célula. Cada amostra recebe um pequeno cabeçalho inicial, onde o objetivo principal é identificar aquela amostra dentro da célula. As amostras com os seus respectivos cabeçalhos preenchem 47 bytes do campo payload da célula.</a:t>
            </a:r>
          </a:p>
          <a:p>
            <a:r>
              <a:rPr lang="pt-BR" dirty="0" smtClean="0"/>
              <a:t>Um segundo cabeçalho de um byte é então acrescentado pela subcamada SAR, preenchendo o campo payload da célula com 48 bytes. Note na figura que a próxima célula com amostras não começa com um cabeçalho, ou seja, ela começa com parte da amostra do usuário 3 que não foi na célula anterior. O objetivo deste cabeçalho é indicar onde começa o próximo cabeçalho.</a:t>
            </a:r>
          </a:p>
          <a:p>
            <a:r>
              <a:rPr lang="pt-BR" dirty="0" smtClean="0"/>
              <a:t>Finalmente, ao pacote de 48 bytes é acrescentado o cabeçalho ATM de 5 bytes.</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175</a:t>
            </a:fld>
            <a:endParaRPr lang="pt-PT"/>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O cabeçalho inicial é colocado pela CPCS, com funções de identificar usuários multiplexados sobre um único VCC ATM e gerenciar a montagem e desmontagem dos payloads de comprimento variável de cada usuário. Cada usuário AAL2 gera pacotes CPCS com um cabeçalho de 3 octetos e um payload de comprimento variável.</a:t>
            </a:r>
          </a:p>
          <a:p>
            <a:r>
              <a:rPr lang="pt-BR" dirty="0" smtClean="0"/>
              <a:t>CID - Channel Identifier: utilizado para identificar o canal do usuário dentro da AAL2, e permitir até 248 usuários individuais por VCC, com oito valores reservados para procedimentos de gerência e funções futuras.</a:t>
            </a:r>
          </a:p>
          <a:p>
            <a:r>
              <a:rPr lang="pt-BR" dirty="0" smtClean="0"/>
              <a:t>LI - Lenght Indicator: especifica o número de octetos (menos um) no payload. O valor máximo default do payload é 45 octetos, mas pode ser setado para 64 octetos.</a:t>
            </a:r>
          </a:p>
          <a:p>
            <a:r>
              <a:rPr lang="pt-BR" dirty="0" smtClean="0"/>
              <a:t>UUI - User to User Indication : permite identificar a SSCS utilizada e suporta funções de OAM.</a:t>
            </a:r>
          </a:p>
          <a:p>
            <a:r>
              <a:rPr lang="pt-BR" dirty="0" smtClean="0"/>
              <a:t>HEC - Header Erro Check: usado para proteger o cabeçalho da CPCS</a:t>
            </a:r>
          </a:p>
          <a:p>
            <a:r>
              <a:rPr lang="pt-BR" dirty="0" smtClean="0"/>
              <a:t>O segundo cabeçalho é colocado pela SAR, com os seguintes campos:</a:t>
            </a:r>
          </a:p>
          <a:p>
            <a:r>
              <a:rPr lang="pt-BR" dirty="0" smtClean="0"/>
              <a:t>Offset : identifica o ponto de início do próximo cabeçalho de pacote dentro da célula. Note que se mais de um pacote CPS estiver presente na célula, a AAL2 utiliza o Length Indicator (LI) no cabeçalho do pacote CPCS para definir o limite do próximo pacote.</a:t>
            </a:r>
          </a:p>
          <a:p>
            <a:r>
              <a:rPr lang="pt-BR" dirty="0" smtClean="0"/>
              <a:t>SN - Sequence number: contador de seqüência</a:t>
            </a:r>
          </a:p>
          <a:p>
            <a:r>
              <a:rPr lang="pt-BR" dirty="0" smtClean="0"/>
              <a:t>P - Parity: bit de paridade</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176</a:t>
            </a:fld>
            <a:endParaRPr lang="pt-PT"/>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en-US" dirty="0" err="1" smtClean="0"/>
              <a:t>Fornece</a:t>
            </a:r>
            <a:r>
              <a:rPr lang="en-US" dirty="0" smtClean="0"/>
              <a:t> </a:t>
            </a:r>
            <a:r>
              <a:rPr lang="en-US" dirty="0" err="1" smtClean="0"/>
              <a:t>suporte</a:t>
            </a:r>
            <a:r>
              <a:rPr lang="en-US" dirty="0" smtClean="0"/>
              <a:t> </a:t>
            </a:r>
            <a:r>
              <a:rPr lang="en-US" dirty="0" err="1" smtClean="0"/>
              <a:t>para</a:t>
            </a:r>
            <a:r>
              <a:rPr lang="en-US" dirty="0" smtClean="0"/>
              <a:t> </a:t>
            </a:r>
            <a:r>
              <a:rPr lang="en-US" dirty="0" err="1" smtClean="0"/>
              <a:t>serviços</a:t>
            </a:r>
            <a:r>
              <a:rPr lang="en-US" dirty="0" smtClean="0"/>
              <a:t> com </a:t>
            </a:r>
            <a:r>
              <a:rPr lang="en-US" dirty="0" err="1" smtClean="0"/>
              <a:t>conexão</a:t>
            </a:r>
            <a:r>
              <a:rPr lang="en-US" dirty="0" smtClean="0"/>
              <a:t> e </a:t>
            </a:r>
            <a:r>
              <a:rPr lang="en-US" dirty="0" err="1" smtClean="0"/>
              <a:t>sem</a:t>
            </a:r>
            <a:r>
              <a:rPr lang="en-US" dirty="0" smtClean="0"/>
              <a:t> </a:t>
            </a:r>
            <a:r>
              <a:rPr lang="en-US" dirty="0" err="1" smtClean="0"/>
              <a:t>conexão</a:t>
            </a:r>
            <a:r>
              <a:rPr lang="en-US" dirty="0" smtClean="0"/>
              <a:t> (classes C e D)</a:t>
            </a:r>
          </a:p>
          <a:p>
            <a:r>
              <a:rPr lang="en-US" dirty="0" err="1" smtClean="0"/>
              <a:t>Atende</a:t>
            </a:r>
            <a:r>
              <a:rPr lang="en-US" dirty="0" smtClean="0"/>
              <a:t> </a:t>
            </a:r>
            <a:r>
              <a:rPr lang="en-US" dirty="0" err="1" smtClean="0"/>
              <a:t>ao</a:t>
            </a:r>
            <a:r>
              <a:rPr lang="en-US" dirty="0" smtClean="0"/>
              <a:t> </a:t>
            </a:r>
            <a:r>
              <a:rPr lang="en-US" dirty="0" err="1" smtClean="0"/>
              <a:t>tráfego</a:t>
            </a:r>
            <a:r>
              <a:rPr lang="en-US" dirty="0" smtClean="0"/>
              <a:t> VBR</a:t>
            </a:r>
          </a:p>
          <a:p>
            <a:r>
              <a:rPr lang="en-US" dirty="0" smtClean="0"/>
              <a:t>A sub-</a:t>
            </a:r>
            <a:r>
              <a:rPr lang="en-US" dirty="0" err="1" smtClean="0"/>
              <a:t>camada</a:t>
            </a:r>
            <a:r>
              <a:rPr lang="en-US" dirty="0" smtClean="0"/>
              <a:t> CS é </a:t>
            </a:r>
            <a:r>
              <a:rPr lang="en-US" dirty="0" err="1" smtClean="0"/>
              <a:t>subdividida</a:t>
            </a:r>
            <a:r>
              <a:rPr lang="en-US" dirty="0" smtClean="0"/>
              <a:t> </a:t>
            </a:r>
            <a:r>
              <a:rPr lang="en-US" dirty="0" err="1" smtClean="0"/>
              <a:t>em</a:t>
            </a:r>
            <a:r>
              <a:rPr lang="en-US" dirty="0" smtClean="0"/>
              <a:t>.  </a:t>
            </a:r>
          </a:p>
          <a:p>
            <a:pPr lvl="1"/>
            <a:r>
              <a:rPr lang="en-US" dirty="0" smtClean="0"/>
              <a:t>SSCS- Sub-</a:t>
            </a:r>
            <a:r>
              <a:rPr lang="en-US" dirty="0" err="1" smtClean="0"/>
              <a:t>camada</a:t>
            </a:r>
            <a:r>
              <a:rPr lang="en-US" dirty="0" smtClean="0"/>
              <a:t> de </a:t>
            </a:r>
            <a:r>
              <a:rPr lang="en-US" dirty="0" err="1" smtClean="0"/>
              <a:t>convergência</a:t>
            </a:r>
            <a:r>
              <a:rPr lang="en-US" dirty="0" smtClean="0"/>
              <a:t> </a:t>
            </a:r>
            <a:r>
              <a:rPr lang="en-US" dirty="0" err="1" smtClean="0"/>
              <a:t>específica</a:t>
            </a:r>
            <a:r>
              <a:rPr lang="en-US" dirty="0" smtClean="0"/>
              <a:t> do </a:t>
            </a:r>
            <a:r>
              <a:rPr lang="en-US" dirty="0" err="1" smtClean="0"/>
              <a:t>serviço</a:t>
            </a:r>
            <a:endParaRPr lang="en-US" dirty="0" smtClean="0"/>
          </a:p>
          <a:p>
            <a:pPr lvl="1"/>
            <a:r>
              <a:rPr lang="en-US" dirty="0" smtClean="0"/>
              <a:t>CPCS-Sub-</a:t>
            </a:r>
            <a:r>
              <a:rPr lang="en-US" dirty="0" err="1" smtClean="0"/>
              <a:t>camada</a:t>
            </a:r>
            <a:r>
              <a:rPr lang="en-US" dirty="0" smtClean="0"/>
              <a:t> de </a:t>
            </a:r>
            <a:r>
              <a:rPr lang="en-US" dirty="0" err="1" smtClean="0"/>
              <a:t>convergência</a:t>
            </a:r>
            <a:r>
              <a:rPr lang="en-US" dirty="0" smtClean="0"/>
              <a:t> de parte </a:t>
            </a:r>
            <a:r>
              <a:rPr lang="en-US" dirty="0" err="1" smtClean="0"/>
              <a:t>comum</a:t>
            </a:r>
            <a:endParaRPr lang="en-US" dirty="0" smtClean="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178</a:t>
            </a:fld>
            <a:endParaRPr lang="pt-PT"/>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fontScale="92500"/>
          </a:bodyPr>
          <a:lstStyle/>
          <a:p>
            <a:r>
              <a:rPr lang="pt-BR" sz="1200" dirty="0" smtClean="0"/>
              <a:t>Campos da CPCS-PDU</a:t>
            </a:r>
          </a:p>
          <a:p>
            <a:pPr>
              <a:buFont typeface="Times New Roman" pitchFamily="18" charset="0"/>
              <a:buChar char="•"/>
            </a:pPr>
            <a:r>
              <a:rPr lang="pt-BR" sz="1200" dirty="0" smtClean="0"/>
              <a:t>CPI - Commom part indicator: Indica a unidade (bits ou bytes) para os campo BASize e Lenght</a:t>
            </a:r>
          </a:p>
          <a:p>
            <a:pPr>
              <a:buFont typeface="Times New Roman" pitchFamily="18" charset="0"/>
              <a:buChar char="•"/>
            </a:pPr>
            <a:r>
              <a:rPr lang="pt-BR" sz="1200" dirty="0" smtClean="0"/>
              <a:t>Btag (Beginning Tag) e Etag (Ending Tag): o mesmo valor é atribuído aos dois. Ao efetuar a remontagem  deve-se ter Btag = Etag. A cada  PDU construída este valor é incrementado.</a:t>
            </a:r>
          </a:p>
          <a:p>
            <a:pPr>
              <a:buFont typeface="Times New Roman" pitchFamily="18" charset="0"/>
              <a:buChar char="•"/>
            </a:pPr>
            <a:r>
              <a:rPr lang="pt-BR" sz="1200" dirty="0" smtClean="0"/>
              <a:t>BASize - Buffer allocation size: utilizado para informar ao receptor quanto espaço de armazenamento temporário é necessário ser alocado para a remontagem da CPCS-PDU.</a:t>
            </a:r>
          </a:p>
          <a:p>
            <a:pPr>
              <a:buFont typeface="Times New Roman" pitchFamily="18" charset="0"/>
              <a:buChar char="•"/>
            </a:pPr>
            <a:r>
              <a:rPr lang="pt-BR" sz="1200" dirty="0" smtClean="0"/>
              <a:t>PAD - Campo variável (zero a 3 octetos):  adicionado para garantir que o tamanho da CPCS-PDU seja um múltiplo de 32 bits (4 bytes), para tornar o processamento final mais eficiente.</a:t>
            </a:r>
          </a:p>
          <a:p>
            <a:pPr>
              <a:buFont typeface="Times New Roman" pitchFamily="18" charset="0"/>
              <a:buChar char="•"/>
            </a:pPr>
            <a:r>
              <a:rPr lang="pt-BR" sz="1200" dirty="0" smtClean="0"/>
              <a:t>AL - Alignment field: utilizado apenas para se ter o Trailer com 32 bits, simplificando o receptor.</a:t>
            </a:r>
          </a:p>
          <a:p>
            <a:pPr>
              <a:buFont typeface="Times New Roman" pitchFamily="18" charset="0"/>
              <a:buChar char="•"/>
            </a:pPr>
            <a:r>
              <a:rPr lang="pt-BR" sz="1200" dirty="0" smtClean="0"/>
              <a:t>Lenght: especifica o tamanho real (em bytes, se CPI = 0) do payload do CPCS-PDU.</a:t>
            </a:r>
          </a:p>
          <a:p>
            <a:r>
              <a:rPr lang="pt-BR" sz="1200" dirty="0" smtClean="0"/>
              <a:t>Campos da SAR-PDU</a:t>
            </a:r>
          </a:p>
          <a:p>
            <a:pPr>
              <a:buFont typeface="Times New Roman" pitchFamily="18" charset="0"/>
              <a:buChar char="•"/>
            </a:pPr>
            <a:r>
              <a:rPr lang="pt-BR" sz="1200" dirty="0" smtClean="0"/>
              <a:t>ST - Segmentation Type: indica se a SAR-PDU é o início, fim, continuação ou segmento único de mensagem</a:t>
            </a:r>
          </a:p>
          <a:p>
            <a:pPr>
              <a:lnSpc>
                <a:spcPct val="90000"/>
              </a:lnSpc>
              <a:buFont typeface="Times New Roman" pitchFamily="18" charset="0"/>
              <a:buChar char="•"/>
            </a:pPr>
            <a:r>
              <a:rPr lang="pt-BR" sz="1200" dirty="0" smtClean="0"/>
              <a:t>SN - Sequence Number: 04 bits para numerar as SAR-PDU em seqüência (módulo 16). Utilizado para a verificação da sequência correta no momento da remontagem da SAR-SDU</a:t>
            </a:r>
          </a:p>
          <a:p>
            <a:pPr>
              <a:lnSpc>
                <a:spcPct val="90000"/>
              </a:lnSpc>
              <a:buFont typeface="Times New Roman" pitchFamily="18" charset="0"/>
              <a:buChar char="•"/>
            </a:pPr>
            <a:r>
              <a:rPr lang="pt-BR" sz="1200" dirty="0" smtClean="0"/>
              <a:t>MID - Multiplexing Identifier: permite multiplexar até  1024 diferentes CPCS-PDU sobre um único VCC.</a:t>
            </a:r>
          </a:p>
          <a:p>
            <a:pPr>
              <a:lnSpc>
                <a:spcPct val="90000"/>
              </a:lnSpc>
              <a:buFont typeface="Times New Roman" pitchFamily="18" charset="0"/>
              <a:buChar char="•"/>
            </a:pPr>
            <a:r>
              <a:rPr lang="pt-BR" sz="1200" dirty="0" smtClean="0"/>
              <a:t>LI - Lenght Indicator: especifica quantos octetos de informação existem no payload da SAR-PDU. Deve ser igual a 44 para todas as SAR-PDUs, com exceção da última, onde pode assumir qualquer valor entre 4 e 44.</a:t>
            </a:r>
          </a:p>
          <a:p>
            <a:pPr>
              <a:lnSpc>
                <a:spcPct val="90000"/>
              </a:lnSpc>
              <a:buFont typeface="Times New Roman" pitchFamily="18" charset="0"/>
              <a:buChar char="•"/>
            </a:pPr>
            <a:r>
              <a:rPr lang="pt-BR" sz="1200" dirty="0" smtClean="0"/>
              <a:t>CRC - Cyclic Redundancy Check: calculado sobre toda a SAR-PDU, excetuando-se o próprio CRC.</a:t>
            </a:r>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179</a:t>
            </a:fld>
            <a:endParaRPr lang="pt-PT"/>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A camada AAL 3/4 permite que várias aplicações possam ser multiplexadas sobre uma mesma conexão. O campo MID (Multiplexing Identifier - Identificador de Multiplexação) permite identificar os elementos de uma CPCS-SDU.</a:t>
            </a:r>
          </a:p>
          <a:p>
            <a:r>
              <a:rPr lang="pt-BR" dirty="0" smtClean="0"/>
              <a:t>Por exemplo, um usuário com um serviço multimídia (voz, dados e vídeo) poderá ter um único par VPI/VCI assinalado para ele e multiplexar todos os seus serviços (voz, dados e vídeo) neste par VPI/VCI dado. Neste caso cada SAR-PDU de um determinado serviço deverá ter o mesmo valor MID.</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181</a:t>
            </a:fld>
            <a:endParaRPr lang="pt-PT"/>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186</a:t>
            </a:fld>
            <a:endParaRPr lang="pt-PT"/>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en-US" dirty="0" smtClean="0"/>
              <a:t>A </a:t>
            </a:r>
            <a:r>
              <a:rPr lang="en-US" dirty="0" err="1" smtClean="0"/>
              <a:t>subcamada</a:t>
            </a:r>
            <a:r>
              <a:rPr lang="en-US" dirty="0" smtClean="0"/>
              <a:t> SAR </a:t>
            </a:r>
            <a:r>
              <a:rPr lang="en-US" dirty="0" err="1" smtClean="0"/>
              <a:t>entrega</a:t>
            </a:r>
            <a:r>
              <a:rPr lang="en-US" dirty="0" smtClean="0"/>
              <a:t> à </a:t>
            </a:r>
            <a:r>
              <a:rPr lang="en-US" dirty="0" err="1" smtClean="0"/>
              <a:t>camada</a:t>
            </a:r>
            <a:r>
              <a:rPr lang="en-US" dirty="0" smtClean="0"/>
              <a:t> ATM </a:t>
            </a:r>
            <a:r>
              <a:rPr lang="en-US" dirty="0" err="1" smtClean="0"/>
              <a:t>os</a:t>
            </a:r>
            <a:r>
              <a:rPr lang="en-US" dirty="0" smtClean="0"/>
              <a:t> </a:t>
            </a:r>
            <a:r>
              <a:rPr lang="en-US" dirty="0" err="1" smtClean="0"/>
              <a:t>segmentos</a:t>
            </a:r>
            <a:r>
              <a:rPr lang="en-US" dirty="0" smtClean="0"/>
              <a:t> de 48 bytes, </a:t>
            </a:r>
            <a:r>
              <a:rPr lang="en-US" dirty="0" err="1" smtClean="0"/>
              <a:t>denominados</a:t>
            </a:r>
            <a:r>
              <a:rPr lang="en-US" dirty="0" smtClean="0"/>
              <a:t> ATM-SDUs, e </a:t>
            </a:r>
            <a:r>
              <a:rPr lang="en-US" dirty="0" err="1" smtClean="0"/>
              <a:t>indica</a:t>
            </a:r>
            <a:r>
              <a:rPr lang="en-US" dirty="0" smtClean="0"/>
              <a:t> </a:t>
            </a:r>
            <a:r>
              <a:rPr lang="en-US" dirty="0" err="1" smtClean="0"/>
              <a:t>através</a:t>
            </a:r>
            <a:r>
              <a:rPr lang="en-US" dirty="0" smtClean="0"/>
              <a:t> de um </a:t>
            </a:r>
            <a:r>
              <a:rPr lang="en-US" dirty="0" err="1" smtClean="0"/>
              <a:t>parâmetro</a:t>
            </a:r>
            <a:r>
              <a:rPr lang="en-US" dirty="0" smtClean="0"/>
              <a:t> de </a:t>
            </a:r>
            <a:r>
              <a:rPr lang="en-US" dirty="0" err="1" smtClean="0"/>
              <a:t>primitiva</a:t>
            </a:r>
            <a:r>
              <a:rPr lang="en-US" dirty="0" smtClean="0"/>
              <a:t>, o </a:t>
            </a:r>
            <a:r>
              <a:rPr lang="en-US" dirty="0" err="1" smtClean="0"/>
              <a:t>último</a:t>
            </a:r>
            <a:r>
              <a:rPr lang="en-US" dirty="0" smtClean="0"/>
              <a:t> </a:t>
            </a:r>
            <a:r>
              <a:rPr lang="en-US" dirty="0" err="1" smtClean="0"/>
              <a:t>segmento</a:t>
            </a:r>
            <a:r>
              <a:rPr lang="en-US" dirty="0" smtClean="0"/>
              <a:t> (</a:t>
            </a:r>
            <a:r>
              <a:rPr lang="en-US" dirty="0" err="1" smtClean="0"/>
              <a:t>ou</a:t>
            </a:r>
            <a:r>
              <a:rPr lang="en-US" dirty="0" smtClean="0"/>
              <a:t> </a:t>
            </a:r>
            <a:r>
              <a:rPr lang="en-US" dirty="0" err="1" smtClean="0"/>
              <a:t>último</a:t>
            </a:r>
            <a:r>
              <a:rPr lang="en-US" dirty="0" smtClean="0"/>
              <a:t> ATM-SDU </a:t>
            </a:r>
            <a:r>
              <a:rPr lang="en-US" dirty="0" err="1" smtClean="0"/>
              <a:t>ou</a:t>
            </a:r>
            <a:r>
              <a:rPr lang="en-US" dirty="0" smtClean="0"/>
              <a:t> a </a:t>
            </a:r>
            <a:r>
              <a:rPr lang="en-US" dirty="0" err="1" smtClean="0"/>
              <a:t>última</a:t>
            </a:r>
            <a:r>
              <a:rPr lang="en-US" dirty="0" smtClean="0"/>
              <a:t> </a:t>
            </a:r>
            <a:r>
              <a:rPr lang="en-US" dirty="0" err="1" smtClean="0"/>
              <a:t>célula</a:t>
            </a:r>
            <a:r>
              <a:rPr lang="en-US" dirty="0" smtClean="0"/>
              <a:t>)  do </a:t>
            </a:r>
            <a:r>
              <a:rPr lang="en-US" dirty="0" err="1" smtClean="0"/>
              <a:t>grupo</a:t>
            </a:r>
            <a:r>
              <a:rPr lang="en-US" dirty="0" smtClean="0"/>
              <a:t> </a:t>
            </a:r>
            <a:r>
              <a:rPr lang="en-US" dirty="0" err="1" smtClean="0"/>
              <a:t>originado</a:t>
            </a:r>
            <a:r>
              <a:rPr lang="en-US" dirty="0" smtClean="0"/>
              <a:t> </a:t>
            </a:r>
            <a:r>
              <a:rPr lang="en-US" dirty="0" err="1" smtClean="0"/>
              <a:t>pela</a:t>
            </a:r>
            <a:r>
              <a:rPr lang="en-US" dirty="0" smtClean="0"/>
              <a:t> </a:t>
            </a:r>
            <a:r>
              <a:rPr lang="en-US" dirty="0" err="1" smtClean="0"/>
              <a:t>mesma</a:t>
            </a:r>
            <a:r>
              <a:rPr lang="en-US" dirty="0" smtClean="0"/>
              <a:t> SAR-SDU.</a:t>
            </a:r>
          </a:p>
          <a:p>
            <a:r>
              <a:rPr lang="en-US" dirty="0" smtClean="0"/>
              <a:t>A </a:t>
            </a:r>
            <a:r>
              <a:rPr lang="en-US" dirty="0" err="1" smtClean="0"/>
              <a:t>camada</a:t>
            </a:r>
            <a:r>
              <a:rPr lang="en-US" dirty="0" smtClean="0"/>
              <a:t> ATM </a:t>
            </a:r>
            <a:r>
              <a:rPr lang="en-US" dirty="0" err="1" smtClean="0"/>
              <a:t>monta</a:t>
            </a:r>
            <a:r>
              <a:rPr lang="en-US" dirty="0" smtClean="0"/>
              <a:t> as </a:t>
            </a:r>
            <a:r>
              <a:rPr lang="en-US" dirty="0" err="1" smtClean="0"/>
              <a:t>células</a:t>
            </a:r>
            <a:r>
              <a:rPr lang="en-US" dirty="0" smtClean="0"/>
              <a:t> com o </a:t>
            </a:r>
            <a:r>
              <a:rPr lang="en-US" dirty="0" err="1" smtClean="0"/>
              <a:t>cabeçalho</a:t>
            </a:r>
            <a:r>
              <a:rPr lang="en-US" dirty="0" smtClean="0"/>
              <a:t> e </a:t>
            </a:r>
            <a:r>
              <a:rPr lang="en-US" dirty="0" err="1" smtClean="0"/>
              <a:t>inclui</a:t>
            </a:r>
            <a:r>
              <a:rPr lang="en-US" dirty="0" smtClean="0"/>
              <a:t> no campo PTI a </a:t>
            </a:r>
            <a:r>
              <a:rPr lang="en-US" dirty="0" err="1" smtClean="0"/>
              <a:t>indicação</a:t>
            </a:r>
            <a:r>
              <a:rPr lang="en-US" dirty="0" smtClean="0"/>
              <a:t> de </a:t>
            </a:r>
            <a:r>
              <a:rPr lang="en-US" dirty="0" err="1" smtClean="0"/>
              <a:t>última</a:t>
            </a:r>
            <a:r>
              <a:rPr lang="en-US" dirty="0" smtClean="0"/>
              <a:t> </a:t>
            </a:r>
            <a:r>
              <a:rPr lang="en-US" dirty="0" err="1" smtClean="0"/>
              <a:t>célula</a:t>
            </a:r>
            <a:r>
              <a:rPr lang="en-US" dirty="0" smtClean="0"/>
              <a:t> do </a:t>
            </a:r>
            <a:r>
              <a:rPr lang="en-US" dirty="0" err="1" smtClean="0"/>
              <a:t>grupo</a:t>
            </a:r>
            <a:r>
              <a:rPr lang="en-US" dirty="0" smtClean="0"/>
              <a:t> (PTI = 1).</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187</a:t>
            </a:fld>
            <a:endParaRPr lang="pt-PT"/>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algn="just"/>
            <a:r>
              <a:rPr lang="pt-BR" dirty="0" smtClean="0"/>
              <a:t>Assuma que A (parte chamadora) deseja estabelecer um SVC com B (Parte chamada). Primeiro uma mensagem chamada de Setup é enviada pelo canal de sinalização. Esta mensagem contém uma série de informações, como: endereço do terminal chamado, endereço do terminal chamador, características do tráfego, e qualidade de serviço (QoS) requerida para a conexão. Ainda, uma vez que podemos ter várias conexões sendo estabelecidas simultaneamente sobre o mesmo enlace, todas utilizando o mesmo VPI = 0 e VCI = 5, precisamos de um identificador que identifique inequivocamente a chamada em questão. Neste ponto, o primeiro switch simplesmente reconhece a conexão e associa um valor de VPI/VCI para a mesma. A conexão ainda não existe, mas o terminal já conhece o valor de VPI/VCI associado a ela.</a:t>
            </a:r>
          </a:p>
          <a:p>
            <a:pPr algn="just"/>
            <a:r>
              <a:rPr lang="pt-BR" dirty="0" smtClean="0"/>
              <a:t>Após receber a mensagem Setup, a rede irá  verificar seus recursos, verificar os caminhos, etc, para tentar descobrir uma forma de estabelecer a conexão, com os atributos solicitados, para o destino. Se não houver recursos disponíveis para aceitar a conexão a rede responde com um RELEASE.</a:t>
            </a:r>
          </a:p>
          <a:p>
            <a:r>
              <a:rPr lang="pt-BR" dirty="0" smtClean="0"/>
              <a:t>O roteamento da conexão através da rede ATM é feito pelo protocolo PNNI.</a:t>
            </a:r>
          </a:p>
          <a:p>
            <a:pPr algn="just"/>
            <a:r>
              <a:rPr lang="pt-BR" dirty="0" smtClean="0"/>
              <a:t>Admitindo que o terminal aceitou a chamada, uma mensagem de Connect é enviada ao switch, que a reconhece através de um Connect Ack.</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189</a:t>
            </a:fld>
            <a:endParaRPr lang="pt-PT"/>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algn="just"/>
            <a:r>
              <a:rPr lang="pt-BR" dirty="0" smtClean="0"/>
              <a:t>Qualquer uma das partes pode iniciar o processo de desconexão. Neste caso, admitindo que o terminal chamador inicia o processo, ele gera uma mensagem de RELEASE. O primeiro switch ao receber esta mensagem, encaminha-a para o próximo switch e simultaneamente responde com um RELEASE COMPLETE.</a:t>
            </a:r>
          </a:p>
          <a:p>
            <a:pPr algn="just"/>
            <a:r>
              <a:rPr lang="pt-BR" dirty="0" smtClean="0"/>
              <a:t>A rede também pode iniciar um processo de liberação de uma conexão, ou seja, gerar uma mensagem de RELEASE, por exemplo, em caso de falha na rede ou na ausência de tráfego por um determinado período de tempo.</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190</a:t>
            </a:fld>
            <a:endParaRPr lang="pt-PT"/>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algn="just"/>
            <a:r>
              <a:rPr lang="pt-BR" dirty="0" smtClean="0"/>
              <a:t>A mensagem de sinalização é segmentada em células através da camada AAL5, e enviada em uma conexão específica com VPI=0 e VCI=5.</a:t>
            </a:r>
          </a:p>
          <a:p>
            <a:pPr algn="just"/>
            <a:r>
              <a:rPr lang="pt-BR" dirty="0" smtClean="0"/>
              <a:t>Além do endereço ATM de destino, a mensagem de SETUP transporta os parâmetros básicos necessários para determinar a largura de faixa nos sentidos direto e reverso e a classe de qualidade de serviço. Ela também poderá transportar a o endereço ATM de origem.</a:t>
            </a:r>
          </a:p>
          <a:p>
            <a:pPr algn="just"/>
            <a:r>
              <a:rPr lang="pt-BR" dirty="0" smtClean="0"/>
              <a:t>O contrato de tráfego corresponde ao somatório dos parâmetros requeridos para definir as características da conexão. Parâmetros como taxa de pico de célula, taxa média, atraso, são analisados pela rede para verificar se com os recursos disponíveis ele poderá aceitar aquela conexão.</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191</a:t>
            </a:fld>
            <a:endParaRPr lang="pt-PT"/>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smtClean="0"/>
              <a:t>Os descritores de tráfego da fonte indicam  a rede quais são as características do tráfego a ser gerado pela fonte, enquanto os descritores de tráfego da conexão indicam quais são os requisitos exigidos da rede pela aplicação.</a:t>
            </a:r>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197</a:t>
            </a:fld>
            <a:endParaRPr lang="pt-PT"/>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O PCR é a taxa máxima absoluta a qual a rede garante a entrega de células. O usuário poderá transmitir células a esta taxa, por um período curto de tempo. A taxa PCR poderá ser reduzida para manter o valor médio contratado (SCR).</a:t>
            </a:r>
          </a:p>
          <a:p>
            <a:r>
              <a:rPr lang="pt-BR" dirty="0" smtClean="0"/>
              <a:t>O SCR é a taxa média que a rede garante a entrega de células. A rede ATM calcula o SCR de um fluxo de tráfego por um período de tempo (tipicamente 50 ms) afim de comparar com SCR contratado.</a:t>
            </a:r>
          </a:p>
          <a:p>
            <a:r>
              <a:rPr lang="pt-BR" dirty="0" smtClean="0"/>
              <a:t>MBS é o tamanho máximo da largura da rajada, em células, que pode ser acomodado no buffer de entrada do comutador. Se a transmissão exceder o valor de MBS, as células poderão ser descartada.</a:t>
            </a:r>
          </a:p>
          <a:p>
            <a:r>
              <a:rPr lang="pt-BR" dirty="0" smtClean="0"/>
              <a:t>BT, que está relacionada ao MBS, é definido como período máximo durante o qual a rede aceitará células na taxa PCR. Quando uma chamada é estabelecida, o parâmetro de tráfego fornecido é o MBS. O BT é calculado por:</a:t>
            </a:r>
          </a:p>
          <a:p>
            <a:pPr algn="ctr"/>
            <a:r>
              <a:rPr lang="pt-BR" b="1" dirty="0" smtClean="0"/>
              <a:t>BT = (MBS -1)(1/SCR - 1/PCR)</a:t>
            </a:r>
          </a:p>
          <a:p>
            <a:r>
              <a:rPr lang="pt-BR" dirty="0" smtClean="0"/>
              <a:t>MCR é a taxa mais alta a qual a rede garante a entrega de células. Este parâmetro é utilizado para suportar serviços ABR, que tem por objetivo permitir a uma aplicação certa banda de rede quando esta se tornar disponível</a:t>
            </a:r>
          </a:p>
          <a:p>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198</a:t>
            </a:fld>
            <a:endParaRPr lang="pt-PT"/>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algn="just"/>
            <a:r>
              <a:rPr lang="pt-BR" dirty="0" smtClean="0"/>
              <a:t>Os serviços classificados como voz, são na verdade aqueles serviços que utilizam uma faixa de freqüência equivalente ao canal de telefonia (em torno de 4khz).</a:t>
            </a:r>
          </a:p>
          <a:p>
            <a:pPr algn="just"/>
            <a:r>
              <a:rPr lang="pt-BR" dirty="0" smtClean="0"/>
              <a:t>Quando o sinal a ser transferido é uma conversação telefônica, parâmetros como atraso, variação do atraso, sincronismo entre fonte e destino são fatores determinante na qualidade da transmissão, o que normalmente não acontece quando o sinal a ser transferido é, por exemplo, um fax ou dados de um modem analógico.</a:t>
            </a:r>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205</a:t>
            </a:fld>
            <a:endParaRPr lang="pt-PT"/>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A conversão do sinal de voz em células ATM pode se dá pela utilização das camadas AAL1, AAL2 ou AAL5, dependendo da aplicação.</a:t>
            </a:r>
          </a:p>
          <a:p>
            <a:r>
              <a:rPr lang="pt-BR" dirty="0" smtClean="0"/>
              <a:t>Para o transporte de voz entre centrais telefônicas que utilizam a rede ATM como backbone, a camada adequada é a AAL1, uma vez que ela permite a emulação de circuitos Nx64kbps, no modo estruturado e não estruturado.</a:t>
            </a:r>
          </a:p>
          <a:p>
            <a:r>
              <a:rPr lang="pt-BR" dirty="0" smtClean="0"/>
              <a:t>A AAL2 tem sido aplicada principalmente na área de celular, onde a taxa de amostragem do sinal é baixa (o que leva a a um tempo maior para o preenchimento da célula) e já possui a voz empacotada (alguns padrões). Estes pacotes poderão ser multiplexados dentro das células ATM, levando a uma eficiência maior.</a:t>
            </a:r>
          </a:p>
          <a:p>
            <a:r>
              <a:rPr lang="pt-BR" dirty="0" smtClean="0"/>
              <a:t>A AAL5 é uma opção interessante principalmente para assinantes residenciais e empresas de pequeno porte, que por exemplo, já adquiriu uma placa AAL5 para outras aplicações e não deseja ter um gasto adicional de uma AAL1 só para suas aplicações de voz.</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206</a:t>
            </a:fld>
            <a:endParaRPr lang="pt-PT"/>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Uma aplicação que já começa a ficar constante é a utilização de um backbone ATM para interconectar centrais telefônicas, possibilitando que os circuitos existentes possam ser mapeados sobre uma rede ATM.</a:t>
            </a:r>
          </a:p>
          <a:p>
            <a:r>
              <a:rPr lang="pt-BR" dirty="0" smtClean="0"/>
              <a:t> O objetivo da emulação de circuito provida pela rede ATM é garantir que o sinal na saída seja exatamente o mesmo da entrada.</a:t>
            </a:r>
          </a:p>
          <a:p>
            <a:r>
              <a:rPr lang="pt-BR" dirty="0" smtClean="0"/>
              <a:t>Entre o PBX e o switch tem-se um ponto de interfuncionamento, cujas funções podem estar implementadas no PBX ou no Switch. Caso esteja no Switch, o mesmo deverá ter, no exemplo, uma placa de interface E1.</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207</a:t>
            </a:fld>
            <a:endParaRPr lang="pt-PT"/>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No modo não estruturado, a emulação de circuito transporta o circuito de entrada através da rede ATM, sem nenhum reconhecimento de estrutura de quadro interna, operando como uma “linha alugada” de 2Mbps.</a:t>
            </a:r>
          </a:p>
          <a:p>
            <a:r>
              <a:rPr lang="pt-BR" dirty="0" smtClean="0"/>
              <a:t>Neste caso, segmentos de 47 bytes do sinal fonte E1 são tomados e colocados na célula. A estes 47 bytes é acrescentado o byte camada AAL1 formando o payload de 48 bytes.</a:t>
            </a:r>
            <a:endParaRPr lang="pt-PT" dirty="0"/>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208</a:t>
            </a:fld>
            <a:endParaRPr lang="pt-PT"/>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r>
              <a:rPr lang="pt-BR" dirty="0" smtClean="0"/>
              <a:t>A emulação de circuito no modo estruturado reconhece os time slots (canais) dentro do circuito a ser emulado. No exemplo, um único time slot é extraído do sinal E1 e mapeado para uma célula ATM. Isto significa que particulares time slots podem ser mapeados para diferentes circuitos virtuais e, portanto, para diferentes destinos. Vários time slots de um circuito fonte podem ser mapeados para um determinado circuito vitual.</a:t>
            </a:r>
          </a:p>
          <a:p>
            <a:r>
              <a:rPr lang="pt-BR" dirty="0" smtClean="0"/>
              <a:t>No exemplo, todos os time slots 1s de cada quadro são mapeados para uma célula ATM, e, consequentemente, para um VC. O mapeamento sendo feita desta forma, nos leva a uma questão que é o tempo necessário para o preenchimento da célula. Para o uso da banda ATM tão eficiência quanto possível, deveríamos esperar por 47 time slot 1s. Isto pode levar ao comprometimento da QoS da aplicação.</a:t>
            </a:r>
          </a:p>
          <a:p>
            <a:r>
              <a:rPr lang="pt-BR" dirty="0" smtClean="0"/>
              <a:t>Para não se ter uma latência muito grande, a célula pode ser preenchida parcialmente com o sinal de voz, adicionado um enchimento. O nível de enchimento depende de vários fatores, entre eles, fazendo o reconhecimento se a chamada é de longa distância, internacional ou local.</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209</a:t>
            </a:fld>
            <a:endParaRPr lang="pt-PT"/>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smtClean="0"/>
              <a:t>Vários time slots de um mesmo quadro podem ser mapeados em uma célula ATM. O usuário pode montar a emulação de circuito estruturado da forma que ele desejar. Várias interfaces de gerência oferecem flexibilidade total como, seleção de quais time slots e o quanto de enchimento é adicionado a célula.</a:t>
            </a:r>
          </a:p>
        </p:txBody>
      </p:sp>
      <p:sp>
        <p:nvSpPr>
          <p:cNvPr id="4" name="Marcador de Posição do Número do Diapositivo 3"/>
          <p:cNvSpPr>
            <a:spLocks noGrp="1"/>
          </p:cNvSpPr>
          <p:nvPr>
            <p:ph type="sldNum" sz="quarter" idx="10"/>
          </p:nvPr>
        </p:nvSpPr>
        <p:spPr/>
        <p:txBody>
          <a:bodyPr/>
          <a:lstStyle/>
          <a:p>
            <a:fld id="{829F3C07-39B6-4678-A6E4-2C447523BCF9}" type="slidenum">
              <a:rPr lang="pt-PT" smtClean="0"/>
              <a:pPr/>
              <a:t>210</a:t>
            </a:fld>
            <a:endParaRPr lang="pt-P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o de título">
    <p:bg>
      <p:bgRef idx="1003">
        <a:schemeClr val="bg1"/>
      </p:bgRef>
    </p:bg>
    <p:spTree>
      <p:nvGrpSpPr>
        <p:cNvPr id="1" name=""/>
        <p:cNvGrpSpPr/>
        <p:nvPr/>
      </p:nvGrpSpPr>
      <p:grpSpPr>
        <a:xfrm>
          <a:off x="0" y="0"/>
          <a:ext cx="0" cy="0"/>
          <a:chOff x="0" y="0"/>
          <a:chExt cx="0" cy="0"/>
        </a:xfrm>
      </p:grpSpPr>
      <p:sp>
        <p:nvSpPr>
          <p:cNvPr id="12" name="Rectângulo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ectângulo arredondado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ítulo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pt-PT" smtClean="0"/>
              <a:t>Faça clique para editar o estilo</a:t>
            </a:r>
            <a:endParaRPr kumimoji="0" lang="en-US"/>
          </a:p>
        </p:txBody>
      </p:sp>
      <p:sp>
        <p:nvSpPr>
          <p:cNvPr id="28" name="Marcador de Posição da Data 27"/>
          <p:cNvSpPr>
            <a:spLocks noGrp="1"/>
          </p:cNvSpPr>
          <p:nvPr>
            <p:ph type="dt" sz="half" idx="10"/>
          </p:nvPr>
        </p:nvSpPr>
        <p:spPr/>
        <p:txBody>
          <a:bodyPr/>
          <a:lstStyle/>
          <a:p>
            <a:fld id="{C58EFE4E-F9DE-4CB6-B862-3742B02B4EAC}" type="datetimeFigureOut">
              <a:rPr lang="pt-PT" smtClean="0"/>
              <a:pPr/>
              <a:t>10/06/2021</a:t>
            </a:fld>
            <a:endParaRPr lang="pt-PT"/>
          </a:p>
        </p:txBody>
      </p:sp>
      <p:sp>
        <p:nvSpPr>
          <p:cNvPr id="17" name="Marcador de Posição do Rodapé 16"/>
          <p:cNvSpPr>
            <a:spLocks noGrp="1"/>
          </p:cNvSpPr>
          <p:nvPr>
            <p:ph type="ftr" sz="quarter" idx="11"/>
          </p:nvPr>
        </p:nvSpPr>
        <p:spPr/>
        <p:txBody>
          <a:bodyPr/>
          <a:lstStyle/>
          <a:p>
            <a:endParaRPr lang="pt-PT"/>
          </a:p>
        </p:txBody>
      </p:sp>
      <p:sp>
        <p:nvSpPr>
          <p:cNvPr id="29" name="Marcador de Posição do Número do Diapositivo 28"/>
          <p:cNvSpPr>
            <a:spLocks noGrp="1"/>
          </p:cNvSpPr>
          <p:nvPr>
            <p:ph type="sldNum" sz="quarter" idx="12"/>
          </p:nvPr>
        </p:nvSpPr>
        <p:spPr/>
        <p:txBody>
          <a:bodyPr lIns="0" tIns="0" rIns="0" bIns="0">
            <a:noAutofit/>
          </a:bodyPr>
          <a:lstStyle>
            <a:lvl1pPr>
              <a:defRPr sz="1400">
                <a:solidFill>
                  <a:srgbClr val="FFFFFF"/>
                </a:solidFill>
              </a:defRPr>
            </a:lvl1pPr>
          </a:lstStyle>
          <a:p>
            <a:fld id="{1D096472-BD75-49E5-B8D6-C1CF65650D54}" type="slidenum">
              <a:rPr lang="pt-PT" smtClean="0"/>
              <a:pPr/>
              <a:t>‹nº›</a:t>
            </a:fld>
            <a:endParaRPr lang="pt-PT"/>
          </a:p>
        </p:txBody>
      </p:sp>
      <p:sp>
        <p:nvSpPr>
          <p:cNvPr id="7" name="Rectângulo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ângulo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ângulo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ítulo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pt-PT" smtClean="0"/>
              <a:t>Clique para editar o estilo</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ct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PT" smtClean="0"/>
              <a:t>Clique para editar o estilo</a:t>
            </a:r>
            <a:endParaRPr kumimoji="0" lang="en-US"/>
          </a:p>
        </p:txBody>
      </p:sp>
      <p:sp>
        <p:nvSpPr>
          <p:cNvPr id="4" name="Marcador de Posição da Data 3"/>
          <p:cNvSpPr>
            <a:spLocks noGrp="1"/>
          </p:cNvSpPr>
          <p:nvPr>
            <p:ph type="dt" sz="half" idx="10"/>
          </p:nvPr>
        </p:nvSpPr>
        <p:spPr/>
        <p:txBody>
          <a:bodyPr/>
          <a:lstStyle/>
          <a:p>
            <a:fld id="{C58EFE4E-F9DE-4CB6-B862-3742B02B4EAC}" type="datetimeFigureOut">
              <a:rPr lang="pt-PT" smtClean="0"/>
              <a:pPr/>
              <a:t>10/06/2021</a:t>
            </a:fld>
            <a:endParaRPr lang="pt-PT"/>
          </a:p>
        </p:txBody>
      </p:sp>
      <p:sp>
        <p:nvSpPr>
          <p:cNvPr id="5" name="Marcador de Posição do Rodapé 4"/>
          <p:cNvSpPr>
            <a:spLocks noGrp="1"/>
          </p:cNvSpPr>
          <p:nvPr>
            <p:ph type="ftr" sz="quarter" idx="11"/>
          </p:nvPr>
        </p:nvSpPr>
        <p:spPr/>
        <p:txBody>
          <a:bodyPr/>
          <a:lstStyle/>
          <a:p>
            <a:endParaRPr lang="pt-PT"/>
          </a:p>
        </p:txBody>
      </p:sp>
      <p:sp>
        <p:nvSpPr>
          <p:cNvPr id="6" name="Marcador de Posição do Número do Diapositivo 5"/>
          <p:cNvSpPr>
            <a:spLocks noGrp="1"/>
          </p:cNvSpPr>
          <p:nvPr>
            <p:ph type="sldNum" sz="quarter" idx="12"/>
          </p:nvPr>
        </p:nvSpPr>
        <p:spPr/>
        <p:txBody>
          <a:bodyPr/>
          <a:lstStyle/>
          <a:p>
            <a:fld id="{1D096472-BD75-49E5-B8D6-C1CF65650D54}" type="slidenum">
              <a:rPr lang="pt-PT" smtClean="0"/>
              <a:pPr/>
              <a:t>‹nº›</a:t>
            </a:fld>
            <a:endParaRPr lang="pt-PT"/>
          </a:p>
        </p:txBody>
      </p:sp>
      <p:sp>
        <p:nvSpPr>
          <p:cNvPr id="8" name="Marcador de Posição de Conteúdo 7"/>
          <p:cNvSpPr>
            <a:spLocks noGrp="1"/>
          </p:cNvSpPr>
          <p:nvPr>
            <p:ph sz="quarter" idx="1"/>
          </p:nvPr>
        </p:nvSpPr>
        <p:spPr>
          <a:xfrm>
            <a:off x="914400" y="1447800"/>
            <a:ext cx="7772400" cy="4572000"/>
          </a:xfrm>
        </p:spPr>
        <p:txBody>
          <a:bodyPr vert="horz"/>
          <a:lstStyle/>
          <a:p>
            <a:pPr lvl="0" eaLnBrk="1" latinLnBrk="0" hangingPunct="1"/>
            <a:r>
              <a:rPr lang="pt-PT" smtClean="0"/>
              <a:t>Clique para editar os estilos</a:t>
            </a:r>
          </a:p>
          <a:p>
            <a:pPr lvl="1" eaLnBrk="1" latinLnBrk="0" hangingPunct="1"/>
            <a:r>
              <a:rPr lang="pt-PT" smtClean="0"/>
              <a:t>Segundo nível</a:t>
            </a:r>
          </a:p>
          <a:p>
            <a:pPr lvl="2" eaLnBrk="1" latinLnBrk="0" hangingPunct="1"/>
            <a:r>
              <a:rPr lang="pt-PT" smtClean="0"/>
              <a:t>Terceiro nível</a:t>
            </a:r>
          </a:p>
          <a:p>
            <a:pPr lvl="3" eaLnBrk="1" latinLnBrk="0" hangingPunct="1"/>
            <a:r>
              <a:rPr lang="pt-PT" smtClean="0"/>
              <a:t>Quarto nível</a:t>
            </a:r>
          </a:p>
          <a:p>
            <a:pPr lvl="4" eaLnBrk="1" latinLnBrk="0" hangingPunct="1"/>
            <a:r>
              <a:rPr lang="pt-PT" smtClean="0"/>
              <a:t>Quinto nível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cção">
    <p:bg>
      <p:bgRef idx="1003">
        <a:schemeClr val="bg1"/>
      </p:bgRef>
    </p:bg>
    <p:spTree>
      <p:nvGrpSpPr>
        <p:cNvPr id="1" name=""/>
        <p:cNvGrpSpPr/>
        <p:nvPr/>
      </p:nvGrpSpPr>
      <p:grpSpPr>
        <a:xfrm>
          <a:off x="0" y="0"/>
          <a:ext cx="0" cy="0"/>
          <a:chOff x="0" y="0"/>
          <a:chExt cx="0" cy="0"/>
        </a:xfrm>
      </p:grpSpPr>
      <p:sp>
        <p:nvSpPr>
          <p:cNvPr id="11" name="Rectângulo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ectângulo arredondado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ítulo 1"/>
          <p:cNvSpPr>
            <a:spLocks noGrp="1"/>
          </p:cNvSpPr>
          <p:nvPr>
            <p:ph type="title"/>
          </p:nvPr>
        </p:nvSpPr>
        <p:spPr>
          <a:xfrm>
            <a:off x="722313" y="952500"/>
            <a:ext cx="7772400" cy="1362075"/>
          </a:xfrm>
        </p:spPr>
        <p:txBody>
          <a:bodyPr anchor="b" anchorCtr="0"/>
          <a:lstStyle>
            <a:lvl1pPr algn="l">
              <a:buNone/>
              <a:defRPr sz="4000" b="0" cap="none"/>
            </a:lvl1pPr>
          </a:lstStyle>
          <a:p>
            <a:r>
              <a:rPr kumimoji="0" lang="pt-PT" smtClean="0"/>
              <a:t>Clique para editar o estilo</a:t>
            </a:r>
            <a:endParaRPr kumimoji="0" lang="en-US"/>
          </a:p>
        </p:txBody>
      </p:sp>
      <p:sp>
        <p:nvSpPr>
          <p:cNvPr id="3" name="Marcador de Posição do Texto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pt-PT" smtClean="0"/>
              <a:t>Clique para editar os estilos</a:t>
            </a:r>
          </a:p>
        </p:txBody>
      </p:sp>
      <p:sp>
        <p:nvSpPr>
          <p:cNvPr id="4" name="Marcador de Posição da Data 3"/>
          <p:cNvSpPr>
            <a:spLocks noGrp="1"/>
          </p:cNvSpPr>
          <p:nvPr>
            <p:ph type="dt" sz="half" idx="10"/>
          </p:nvPr>
        </p:nvSpPr>
        <p:spPr/>
        <p:txBody>
          <a:bodyPr/>
          <a:lstStyle/>
          <a:p>
            <a:fld id="{C58EFE4E-F9DE-4CB6-B862-3742B02B4EAC}" type="datetimeFigureOut">
              <a:rPr lang="pt-PT" smtClean="0"/>
              <a:pPr/>
              <a:t>10/06/2021</a:t>
            </a:fld>
            <a:endParaRPr lang="pt-PT"/>
          </a:p>
        </p:txBody>
      </p:sp>
      <p:sp>
        <p:nvSpPr>
          <p:cNvPr id="5" name="Marcador de Posição do Rodapé 4"/>
          <p:cNvSpPr>
            <a:spLocks noGrp="1"/>
          </p:cNvSpPr>
          <p:nvPr>
            <p:ph type="ftr" sz="quarter" idx="11"/>
          </p:nvPr>
        </p:nvSpPr>
        <p:spPr>
          <a:xfrm>
            <a:off x="800100" y="6172200"/>
            <a:ext cx="4000500" cy="457200"/>
          </a:xfrm>
        </p:spPr>
        <p:txBody>
          <a:bodyPr/>
          <a:lstStyle/>
          <a:p>
            <a:endParaRPr lang="pt-PT"/>
          </a:p>
        </p:txBody>
      </p:sp>
      <p:sp>
        <p:nvSpPr>
          <p:cNvPr id="7" name="Rectângulo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ângulo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ângulo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Marcador de Posição do Número do Diapositivo 5"/>
          <p:cNvSpPr>
            <a:spLocks noGrp="1"/>
          </p:cNvSpPr>
          <p:nvPr>
            <p:ph type="sldNum" sz="quarter" idx="12"/>
          </p:nvPr>
        </p:nvSpPr>
        <p:spPr>
          <a:xfrm>
            <a:off x="146304" y="6208776"/>
            <a:ext cx="457200" cy="457200"/>
          </a:xfrm>
        </p:spPr>
        <p:txBody>
          <a:bodyPr/>
          <a:lstStyle/>
          <a:p>
            <a:fld id="{1D096472-BD75-49E5-B8D6-C1CF65650D54}" type="slidenum">
              <a:rPr lang="pt-PT" smtClean="0"/>
              <a:pPr/>
              <a:t>‹nº›</a:t>
            </a:fld>
            <a:endParaRPr lang="pt-PT"/>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PT" smtClean="0"/>
              <a:t>Clique para editar o estilo</a:t>
            </a:r>
            <a:endParaRPr kumimoji="0" lang="en-US"/>
          </a:p>
        </p:txBody>
      </p:sp>
      <p:sp>
        <p:nvSpPr>
          <p:cNvPr id="5" name="Marcador de Posição da Data 4"/>
          <p:cNvSpPr>
            <a:spLocks noGrp="1"/>
          </p:cNvSpPr>
          <p:nvPr>
            <p:ph type="dt" sz="half" idx="10"/>
          </p:nvPr>
        </p:nvSpPr>
        <p:spPr/>
        <p:txBody>
          <a:bodyPr/>
          <a:lstStyle/>
          <a:p>
            <a:fld id="{C58EFE4E-F9DE-4CB6-B862-3742B02B4EAC}" type="datetimeFigureOut">
              <a:rPr lang="pt-PT" smtClean="0"/>
              <a:pPr/>
              <a:t>10/06/2021</a:t>
            </a:fld>
            <a:endParaRPr lang="pt-PT"/>
          </a:p>
        </p:txBody>
      </p:sp>
      <p:sp>
        <p:nvSpPr>
          <p:cNvPr id="6" name="Marcador de Posição do Rodapé 5"/>
          <p:cNvSpPr>
            <a:spLocks noGrp="1"/>
          </p:cNvSpPr>
          <p:nvPr>
            <p:ph type="ftr" sz="quarter" idx="11"/>
          </p:nvPr>
        </p:nvSpPr>
        <p:spPr/>
        <p:txBody>
          <a:bodyPr/>
          <a:lstStyle/>
          <a:p>
            <a:endParaRPr lang="pt-PT"/>
          </a:p>
        </p:txBody>
      </p:sp>
      <p:sp>
        <p:nvSpPr>
          <p:cNvPr id="7" name="Marcador de Posição do Número do Diapositivo 6"/>
          <p:cNvSpPr>
            <a:spLocks noGrp="1"/>
          </p:cNvSpPr>
          <p:nvPr>
            <p:ph type="sldNum" sz="quarter" idx="12"/>
          </p:nvPr>
        </p:nvSpPr>
        <p:spPr/>
        <p:txBody>
          <a:bodyPr/>
          <a:lstStyle/>
          <a:p>
            <a:fld id="{1D096472-BD75-49E5-B8D6-C1CF65650D54}" type="slidenum">
              <a:rPr lang="pt-PT" smtClean="0"/>
              <a:pPr/>
              <a:t>‹nº›</a:t>
            </a:fld>
            <a:endParaRPr lang="pt-PT"/>
          </a:p>
        </p:txBody>
      </p:sp>
      <p:sp>
        <p:nvSpPr>
          <p:cNvPr id="9" name="Marcador de Posição de Conteúdo 8"/>
          <p:cNvSpPr>
            <a:spLocks noGrp="1"/>
          </p:cNvSpPr>
          <p:nvPr>
            <p:ph sz="quarter" idx="1"/>
          </p:nvPr>
        </p:nvSpPr>
        <p:spPr>
          <a:xfrm>
            <a:off x="914400" y="1447800"/>
            <a:ext cx="3749040" cy="4572000"/>
          </a:xfrm>
        </p:spPr>
        <p:txBody>
          <a:bodyPr vert="horz"/>
          <a:lstStyle/>
          <a:p>
            <a:pPr lvl="0" eaLnBrk="1" latinLnBrk="0" hangingPunct="1"/>
            <a:r>
              <a:rPr lang="pt-PT" smtClean="0"/>
              <a:t>Clique para editar os estilos</a:t>
            </a:r>
          </a:p>
          <a:p>
            <a:pPr lvl="1" eaLnBrk="1" latinLnBrk="0" hangingPunct="1"/>
            <a:r>
              <a:rPr lang="pt-PT" smtClean="0"/>
              <a:t>Segundo nível</a:t>
            </a:r>
          </a:p>
          <a:p>
            <a:pPr lvl="2" eaLnBrk="1" latinLnBrk="0" hangingPunct="1"/>
            <a:r>
              <a:rPr lang="pt-PT" smtClean="0"/>
              <a:t>Terceiro nível</a:t>
            </a:r>
          </a:p>
          <a:p>
            <a:pPr lvl="3" eaLnBrk="1" latinLnBrk="0" hangingPunct="1"/>
            <a:r>
              <a:rPr lang="pt-PT" smtClean="0"/>
              <a:t>Quarto nível</a:t>
            </a:r>
          </a:p>
          <a:p>
            <a:pPr lvl="4" eaLnBrk="1" latinLnBrk="0" hangingPunct="1"/>
            <a:r>
              <a:rPr lang="pt-PT" smtClean="0"/>
              <a:t>Quinto nível</a:t>
            </a:r>
            <a:endParaRPr kumimoji="0" lang="en-US"/>
          </a:p>
        </p:txBody>
      </p:sp>
      <p:sp>
        <p:nvSpPr>
          <p:cNvPr id="11" name="Marcador de Posição de Conteúdo 10"/>
          <p:cNvSpPr>
            <a:spLocks noGrp="1"/>
          </p:cNvSpPr>
          <p:nvPr>
            <p:ph sz="quarter" idx="2"/>
          </p:nvPr>
        </p:nvSpPr>
        <p:spPr>
          <a:xfrm>
            <a:off x="4933950" y="1447800"/>
            <a:ext cx="3749040" cy="4572000"/>
          </a:xfrm>
        </p:spPr>
        <p:txBody>
          <a:bodyPr vert="horz"/>
          <a:lstStyle/>
          <a:p>
            <a:pPr lvl="0" eaLnBrk="1" latinLnBrk="0" hangingPunct="1"/>
            <a:r>
              <a:rPr lang="pt-PT" smtClean="0"/>
              <a:t>Clique para editar os estilos</a:t>
            </a:r>
          </a:p>
          <a:p>
            <a:pPr lvl="1" eaLnBrk="1" latinLnBrk="0" hangingPunct="1"/>
            <a:r>
              <a:rPr lang="pt-PT" smtClean="0"/>
              <a:t>Segundo nível</a:t>
            </a:r>
          </a:p>
          <a:p>
            <a:pPr lvl="2" eaLnBrk="1" latinLnBrk="0" hangingPunct="1"/>
            <a:r>
              <a:rPr lang="pt-PT" smtClean="0"/>
              <a:t>Terceiro nível</a:t>
            </a:r>
          </a:p>
          <a:p>
            <a:pPr lvl="3" eaLnBrk="1" latinLnBrk="0" hangingPunct="1"/>
            <a:r>
              <a:rPr lang="pt-PT" smtClean="0"/>
              <a:t>Quarto nível</a:t>
            </a:r>
          </a:p>
          <a:p>
            <a:pPr lvl="4" eaLnBrk="1" latinLnBrk="0" hangingPunct="1"/>
            <a:r>
              <a:rPr lang="pt-PT" smtClean="0"/>
              <a:t>Quinto nível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3050"/>
            <a:ext cx="7772400" cy="1143000"/>
          </a:xfrm>
        </p:spPr>
        <p:txBody>
          <a:bodyPr anchor="b" anchorCtr="0"/>
          <a:lstStyle>
            <a:lvl1pPr>
              <a:defRPr/>
            </a:lvl1pPr>
          </a:lstStyle>
          <a:p>
            <a:r>
              <a:rPr kumimoji="0" lang="pt-PT" smtClean="0"/>
              <a:t>Clique para editar o estilo</a:t>
            </a:r>
            <a:endParaRPr kumimoji="0" lang="en-US"/>
          </a:p>
        </p:txBody>
      </p:sp>
      <p:sp>
        <p:nvSpPr>
          <p:cNvPr id="3" name="Marcador de Posição do Texto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pt-PT" smtClean="0"/>
              <a:t>Clique para editar os estilos</a:t>
            </a:r>
          </a:p>
        </p:txBody>
      </p:sp>
      <p:sp>
        <p:nvSpPr>
          <p:cNvPr id="4" name="Marcador de Posição do Texto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pt-PT" smtClean="0"/>
              <a:t>Clique para editar os estilos</a:t>
            </a:r>
          </a:p>
        </p:txBody>
      </p:sp>
      <p:sp>
        <p:nvSpPr>
          <p:cNvPr id="7" name="Marcador de Posição da Data 6"/>
          <p:cNvSpPr>
            <a:spLocks noGrp="1"/>
          </p:cNvSpPr>
          <p:nvPr>
            <p:ph type="dt" sz="half" idx="10"/>
          </p:nvPr>
        </p:nvSpPr>
        <p:spPr/>
        <p:txBody>
          <a:bodyPr/>
          <a:lstStyle/>
          <a:p>
            <a:fld id="{C58EFE4E-F9DE-4CB6-B862-3742B02B4EAC}" type="datetimeFigureOut">
              <a:rPr lang="pt-PT" smtClean="0"/>
              <a:pPr/>
              <a:t>10/06/2021</a:t>
            </a:fld>
            <a:endParaRPr lang="pt-PT"/>
          </a:p>
        </p:txBody>
      </p:sp>
      <p:sp>
        <p:nvSpPr>
          <p:cNvPr id="8" name="Marcador de Posição do Rodapé 7"/>
          <p:cNvSpPr>
            <a:spLocks noGrp="1"/>
          </p:cNvSpPr>
          <p:nvPr>
            <p:ph type="ftr" sz="quarter" idx="11"/>
          </p:nvPr>
        </p:nvSpPr>
        <p:spPr/>
        <p:txBody>
          <a:bodyPr/>
          <a:lstStyle/>
          <a:p>
            <a:endParaRPr lang="pt-PT"/>
          </a:p>
        </p:txBody>
      </p:sp>
      <p:sp>
        <p:nvSpPr>
          <p:cNvPr id="9" name="Marcador de Posição do Número do Diapositivo 8"/>
          <p:cNvSpPr>
            <a:spLocks noGrp="1"/>
          </p:cNvSpPr>
          <p:nvPr>
            <p:ph type="sldNum" sz="quarter" idx="12"/>
          </p:nvPr>
        </p:nvSpPr>
        <p:spPr/>
        <p:txBody>
          <a:bodyPr/>
          <a:lstStyle/>
          <a:p>
            <a:fld id="{1D096472-BD75-49E5-B8D6-C1CF65650D54}" type="slidenum">
              <a:rPr lang="pt-PT" smtClean="0"/>
              <a:pPr/>
              <a:t>‹nº›</a:t>
            </a:fld>
            <a:endParaRPr lang="pt-PT"/>
          </a:p>
        </p:txBody>
      </p:sp>
      <p:sp>
        <p:nvSpPr>
          <p:cNvPr id="11" name="Marcador de Posição de Conteúdo 10"/>
          <p:cNvSpPr>
            <a:spLocks noGrp="1"/>
          </p:cNvSpPr>
          <p:nvPr>
            <p:ph sz="half" idx="2"/>
          </p:nvPr>
        </p:nvSpPr>
        <p:spPr>
          <a:xfrm>
            <a:off x="914400" y="2247900"/>
            <a:ext cx="3733800" cy="3886200"/>
          </a:xfrm>
        </p:spPr>
        <p:txBody>
          <a:bodyPr vert="horz"/>
          <a:lstStyle/>
          <a:p>
            <a:pPr lvl="0" eaLnBrk="1" latinLnBrk="0" hangingPunct="1"/>
            <a:r>
              <a:rPr lang="pt-PT" smtClean="0"/>
              <a:t>Clique para editar os estilos</a:t>
            </a:r>
          </a:p>
          <a:p>
            <a:pPr lvl="1" eaLnBrk="1" latinLnBrk="0" hangingPunct="1"/>
            <a:r>
              <a:rPr lang="pt-PT" smtClean="0"/>
              <a:t>Segundo nível</a:t>
            </a:r>
          </a:p>
          <a:p>
            <a:pPr lvl="2" eaLnBrk="1" latinLnBrk="0" hangingPunct="1"/>
            <a:r>
              <a:rPr lang="pt-PT" smtClean="0"/>
              <a:t>Terceiro nível</a:t>
            </a:r>
          </a:p>
          <a:p>
            <a:pPr lvl="3" eaLnBrk="1" latinLnBrk="0" hangingPunct="1"/>
            <a:r>
              <a:rPr lang="pt-PT" smtClean="0"/>
              <a:t>Quarto nível</a:t>
            </a:r>
          </a:p>
          <a:p>
            <a:pPr lvl="4" eaLnBrk="1" latinLnBrk="0" hangingPunct="1"/>
            <a:r>
              <a:rPr lang="pt-PT" smtClean="0"/>
              <a:t>Quinto nível</a:t>
            </a:r>
            <a:endParaRPr kumimoji="0" lang="en-US"/>
          </a:p>
        </p:txBody>
      </p:sp>
      <p:sp>
        <p:nvSpPr>
          <p:cNvPr id="13" name="Marcador de Posição de Conteúdo 12"/>
          <p:cNvSpPr>
            <a:spLocks noGrp="1"/>
          </p:cNvSpPr>
          <p:nvPr>
            <p:ph sz="half" idx="4"/>
          </p:nvPr>
        </p:nvSpPr>
        <p:spPr>
          <a:xfrm>
            <a:off x="4953000" y="2247900"/>
            <a:ext cx="3733800" cy="3886200"/>
          </a:xfrm>
        </p:spPr>
        <p:txBody>
          <a:bodyPr vert="horz"/>
          <a:lstStyle/>
          <a:p>
            <a:pPr lvl="0" eaLnBrk="1" latinLnBrk="0" hangingPunct="1"/>
            <a:r>
              <a:rPr lang="pt-PT" smtClean="0"/>
              <a:t>Clique para editar os estilos</a:t>
            </a:r>
          </a:p>
          <a:p>
            <a:pPr lvl="1" eaLnBrk="1" latinLnBrk="0" hangingPunct="1"/>
            <a:r>
              <a:rPr lang="pt-PT" smtClean="0"/>
              <a:t>Segundo nível</a:t>
            </a:r>
          </a:p>
          <a:p>
            <a:pPr lvl="2" eaLnBrk="1" latinLnBrk="0" hangingPunct="1"/>
            <a:r>
              <a:rPr lang="pt-PT" smtClean="0"/>
              <a:t>Terceiro nível</a:t>
            </a:r>
          </a:p>
          <a:p>
            <a:pPr lvl="3" eaLnBrk="1" latinLnBrk="0" hangingPunct="1"/>
            <a:r>
              <a:rPr lang="pt-PT" smtClean="0"/>
              <a:t>Quarto nível</a:t>
            </a:r>
          </a:p>
          <a:p>
            <a:pPr lvl="4" eaLnBrk="1" latinLnBrk="0" hangingPunct="1"/>
            <a:r>
              <a:rPr lang="pt-PT" smtClean="0"/>
              <a:t>Quinto nível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PT" smtClean="0"/>
              <a:t>Clique para editar o estilo</a:t>
            </a:r>
            <a:endParaRPr kumimoji="0" lang="en-US"/>
          </a:p>
        </p:txBody>
      </p:sp>
      <p:sp>
        <p:nvSpPr>
          <p:cNvPr id="3" name="Marcador de Posição da Data 2"/>
          <p:cNvSpPr>
            <a:spLocks noGrp="1"/>
          </p:cNvSpPr>
          <p:nvPr>
            <p:ph type="dt" sz="half" idx="10"/>
          </p:nvPr>
        </p:nvSpPr>
        <p:spPr/>
        <p:txBody>
          <a:bodyPr/>
          <a:lstStyle/>
          <a:p>
            <a:fld id="{C58EFE4E-F9DE-4CB6-B862-3742B02B4EAC}" type="datetimeFigureOut">
              <a:rPr lang="pt-PT" smtClean="0"/>
              <a:pPr/>
              <a:t>10/06/2021</a:t>
            </a:fld>
            <a:endParaRPr lang="pt-PT"/>
          </a:p>
        </p:txBody>
      </p:sp>
      <p:sp>
        <p:nvSpPr>
          <p:cNvPr id="4" name="Marcador de Posição do Rodapé 3"/>
          <p:cNvSpPr>
            <a:spLocks noGrp="1"/>
          </p:cNvSpPr>
          <p:nvPr>
            <p:ph type="ftr" sz="quarter" idx="11"/>
          </p:nvPr>
        </p:nvSpPr>
        <p:spPr/>
        <p:txBody>
          <a:bodyPr/>
          <a:lstStyle/>
          <a:p>
            <a:endParaRPr lang="pt-PT"/>
          </a:p>
        </p:txBody>
      </p:sp>
      <p:sp>
        <p:nvSpPr>
          <p:cNvPr id="5" name="Marcador de Posição do Número do Diapositivo 4"/>
          <p:cNvSpPr>
            <a:spLocks noGrp="1"/>
          </p:cNvSpPr>
          <p:nvPr>
            <p:ph type="sldNum" sz="quarter" idx="12"/>
          </p:nvPr>
        </p:nvSpPr>
        <p:spPr/>
        <p:txBody>
          <a:bodyPr/>
          <a:lstStyle/>
          <a:p>
            <a:fld id="{1D096472-BD75-49E5-B8D6-C1CF65650D54}" type="slidenum">
              <a:rPr lang="pt-PT" smtClean="0"/>
              <a:pPr/>
              <a:t>‹nº›</a:t>
            </a:fld>
            <a:endParaRPr lang="pt-P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a:lstStyle/>
          <a:p>
            <a:fld id="{C58EFE4E-F9DE-4CB6-B862-3742B02B4EAC}" type="datetimeFigureOut">
              <a:rPr lang="pt-PT" smtClean="0"/>
              <a:pPr/>
              <a:t>10/06/2021</a:t>
            </a:fld>
            <a:endParaRPr lang="pt-PT"/>
          </a:p>
        </p:txBody>
      </p:sp>
      <p:sp>
        <p:nvSpPr>
          <p:cNvPr id="3" name="Marcador de Posição do Rodapé 2"/>
          <p:cNvSpPr>
            <a:spLocks noGrp="1"/>
          </p:cNvSpPr>
          <p:nvPr>
            <p:ph type="ftr" sz="quarter" idx="11"/>
          </p:nvPr>
        </p:nvSpPr>
        <p:spPr/>
        <p:txBody>
          <a:bodyPr/>
          <a:lstStyle/>
          <a:p>
            <a:endParaRPr lang="pt-PT"/>
          </a:p>
        </p:txBody>
      </p:sp>
      <p:sp>
        <p:nvSpPr>
          <p:cNvPr id="4" name="Marcador de Posição do Número do Diapositivo 3"/>
          <p:cNvSpPr>
            <a:spLocks noGrp="1"/>
          </p:cNvSpPr>
          <p:nvPr>
            <p:ph type="sldNum" sz="quarter" idx="12"/>
          </p:nvPr>
        </p:nvSpPr>
        <p:spPr/>
        <p:txBody>
          <a:bodyPr/>
          <a:lstStyle/>
          <a:p>
            <a:fld id="{1D096472-BD75-49E5-B8D6-C1CF65650D54}" type="slidenum">
              <a:rPr lang="pt-PT" smtClean="0"/>
              <a:pPr/>
              <a:t>‹nº›</a:t>
            </a:fld>
            <a:endParaRPr lang="pt-P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8" name="Rectângulo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ectângulo arredondado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ítulo 1"/>
          <p:cNvSpPr>
            <a:spLocks noGrp="1"/>
          </p:cNvSpPr>
          <p:nvPr>
            <p:ph type="title"/>
          </p:nvPr>
        </p:nvSpPr>
        <p:spPr>
          <a:xfrm>
            <a:off x="914400" y="273050"/>
            <a:ext cx="7772400" cy="1143000"/>
          </a:xfrm>
        </p:spPr>
        <p:txBody>
          <a:bodyPr anchor="b" anchorCtr="0"/>
          <a:lstStyle>
            <a:lvl1pPr algn="l">
              <a:buNone/>
              <a:defRPr sz="4000" b="0"/>
            </a:lvl1pPr>
          </a:lstStyle>
          <a:p>
            <a:r>
              <a:rPr kumimoji="0" lang="pt-PT" smtClean="0"/>
              <a:t>Clique para editar o estilo</a:t>
            </a:r>
            <a:endParaRPr kumimoji="0" lang="en-US"/>
          </a:p>
        </p:txBody>
      </p:sp>
      <p:sp>
        <p:nvSpPr>
          <p:cNvPr id="3" name="Marcador de Posição do Texto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pt-PT" smtClean="0"/>
              <a:t>Clique para editar os estilos</a:t>
            </a:r>
          </a:p>
        </p:txBody>
      </p:sp>
      <p:sp>
        <p:nvSpPr>
          <p:cNvPr id="5" name="Marcador de Posição da Data 4"/>
          <p:cNvSpPr>
            <a:spLocks noGrp="1"/>
          </p:cNvSpPr>
          <p:nvPr>
            <p:ph type="dt" sz="half" idx="10"/>
          </p:nvPr>
        </p:nvSpPr>
        <p:spPr/>
        <p:txBody>
          <a:bodyPr/>
          <a:lstStyle/>
          <a:p>
            <a:fld id="{C58EFE4E-F9DE-4CB6-B862-3742B02B4EAC}" type="datetimeFigureOut">
              <a:rPr lang="pt-PT" smtClean="0"/>
              <a:pPr/>
              <a:t>10/06/2021</a:t>
            </a:fld>
            <a:endParaRPr lang="pt-PT"/>
          </a:p>
        </p:txBody>
      </p:sp>
      <p:sp>
        <p:nvSpPr>
          <p:cNvPr id="6" name="Marcador de Posição do Rodapé 5"/>
          <p:cNvSpPr>
            <a:spLocks noGrp="1"/>
          </p:cNvSpPr>
          <p:nvPr>
            <p:ph type="ftr" sz="quarter" idx="11"/>
          </p:nvPr>
        </p:nvSpPr>
        <p:spPr/>
        <p:txBody>
          <a:bodyPr/>
          <a:lstStyle/>
          <a:p>
            <a:endParaRPr lang="pt-PT"/>
          </a:p>
        </p:txBody>
      </p:sp>
      <p:sp>
        <p:nvSpPr>
          <p:cNvPr id="7" name="Marcador de Posição do Número do Diapositivo 6"/>
          <p:cNvSpPr>
            <a:spLocks noGrp="1"/>
          </p:cNvSpPr>
          <p:nvPr>
            <p:ph type="sldNum" sz="quarter" idx="12"/>
          </p:nvPr>
        </p:nvSpPr>
        <p:spPr/>
        <p:txBody>
          <a:bodyPr/>
          <a:lstStyle/>
          <a:p>
            <a:fld id="{1D096472-BD75-49E5-B8D6-C1CF65650D54}" type="slidenum">
              <a:rPr lang="pt-PT" smtClean="0"/>
              <a:pPr/>
              <a:t>‹nº›</a:t>
            </a:fld>
            <a:endParaRPr lang="pt-PT"/>
          </a:p>
        </p:txBody>
      </p:sp>
      <p:sp>
        <p:nvSpPr>
          <p:cNvPr id="11" name="Marcador de Posição de Conteúdo 10"/>
          <p:cNvSpPr>
            <a:spLocks noGrp="1"/>
          </p:cNvSpPr>
          <p:nvPr>
            <p:ph sz="quarter" idx="1"/>
          </p:nvPr>
        </p:nvSpPr>
        <p:spPr>
          <a:xfrm>
            <a:off x="2971800" y="1600200"/>
            <a:ext cx="5715000" cy="4495800"/>
          </a:xfrm>
        </p:spPr>
        <p:txBody>
          <a:bodyPr vert="horz"/>
          <a:lstStyle/>
          <a:p>
            <a:pPr lvl="0" eaLnBrk="1" latinLnBrk="0" hangingPunct="1"/>
            <a:r>
              <a:rPr lang="pt-PT" smtClean="0"/>
              <a:t>Clique para editar os estilos</a:t>
            </a:r>
          </a:p>
          <a:p>
            <a:pPr lvl="1" eaLnBrk="1" latinLnBrk="0" hangingPunct="1"/>
            <a:r>
              <a:rPr lang="pt-PT" smtClean="0"/>
              <a:t>Segundo nível</a:t>
            </a:r>
          </a:p>
          <a:p>
            <a:pPr lvl="2" eaLnBrk="1" latinLnBrk="0" hangingPunct="1"/>
            <a:r>
              <a:rPr lang="pt-PT" smtClean="0"/>
              <a:t>Terceiro nível</a:t>
            </a:r>
          </a:p>
          <a:p>
            <a:pPr lvl="3" eaLnBrk="1" latinLnBrk="0" hangingPunct="1"/>
            <a:r>
              <a:rPr lang="pt-PT" smtClean="0"/>
              <a:t>Quarto nível</a:t>
            </a:r>
          </a:p>
          <a:p>
            <a:pPr lvl="4" eaLnBrk="1" latinLnBrk="0" hangingPunct="1"/>
            <a:r>
              <a:rPr lang="pt-PT" smtClean="0"/>
              <a:t>Quinto nível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pt-PT" smtClean="0"/>
              <a:t>Clique para editar o estilo</a:t>
            </a:r>
            <a:endParaRPr kumimoji="0" lang="en-US"/>
          </a:p>
        </p:txBody>
      </p:sp>
      <p:sp>
        <p:nvSpPr>
          <p:cNvPr id="4" name="Marcador de Posição do Texto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pt-PT" smtClean="0"/>
              <a:t>Clique para editar os estilos</a:t>
            </a:r>
          </a:p>
        </p:txBody>
      </p:sp>
      <p:sp>
        <p:nvSpPr>
          <p:cNvPr id="5" name="Marcador de Posição da Data 4"/>
          <p:cNvSpPr>
            <a:spLocks noGrp="1"/>
          </p:cNvSpPr>
          <p:nvPr>
            <p:ph type="dt" sz="half" idx="10"/>
          </p:nvPr>
        </p:nvSpPr>
        <p:spPr/>
        <p:txBody>
          <a:bodyPr/>
          <a:lstStyle/>
          <a:p>
            <a:fld id="{C58EFE4E-F9DE-4CB6-B862-3742B02B4EAC}" type="datetimeFigureOut">
              <a:rPr lang="pt-PT" smtClean="0"/>
              <a:pPr/>
              <a:t>10/06/2021</a:t>
            </a:fld>
            <a:endParaRPr lang="pt-PT"/>
          </a:p>
        </p:txBody>
      </p:sp>
      <p:sp>
        <p:nvSpPr>
          <p:cNvPr id="6" name="Marcador de Posição do Rodapé 5"/>
          <p:cNvSpPr>
            <a:spLocks noGrp="1"/>
          </p:cNvSpPr>
          <p:nvPr>
            <p:ph type="ftr" sz="quarter" idx="11"/>
          </p:nvPr>
        </p:nvSpPr>
        <p:spPr>
          <a:xfrm>
            <a:off x="914400" y="6172200"/>
            <a:ext cx="3886200" cy="457200"/>
          </a:xfrm>
        </p:spPr>
        <p:txBody>
          <a:bodyPr/>
          <a:lstStyle/>
          <a:p>
            <a:endParaRPr lang="pt-PT"/>
          </a:p>
        </p:txBody>
      </p:sp>
      <p:sp>
        <p:nvSpPr>
          <p:cNvPr id="7" name="Marcador de Posição do Número do Diapositivo 6"/>
          <p:cNvSpPr>
            <a:spLocks noGrp="1"/>
          </p:cNvSpPr>
          <p:nvPr>
            <p:ph type="sldNum" sz="quarter" idx="12"/>
          </p:nvPr>
        </p:nvSpPr>
        <p:spPr>
          <a:xfrm>
            <a:off x="146304" y="6208776"/>
            <a:ext cx="457200" cy="457200"/>
          </a:xfrm>
        </p:spPr>
        <p:txBody>
          <a:bodyPr/>
          <a:lstStyle/>
          <a:p>
            <a:fld id="{1D096472-BD75-49E5-B8D6-C1CF65650D54}" type="slidenum">
              <a:rPr lang="pt-PT" smtClean="0"/>
              <a:pPr/>
              <a:t>‹nº›</a:t>
            </a:fld>
            <a:endParaRPr lang="pt-PT"/>
          </a:p>
        </p:txBody>
      </p:sp>
      <p:sp>
        <p:nvSpPr>
          <p:cNvPr id="11" name="Rectângulo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ângulo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ângulo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Marcador de Posição da Imagem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pt-PT" smtClean="0"/>
              <a:t>Clique no ícone para adicionar uma imagem</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PT" smtClean="0"/>
              <a:t>Clique para editar o estilo</a:t>
            </a:r>
            <a:endParaRPr kumimoji="0" lang="en-US"/>
          </a:p>
        </p:txBody>
      </p:sp>
      <p:sp>
        <p:nvSpPr>
          <p:cNvPr id="3" name="Marcador de Posição de Texto Vertical 2"/>
          <p:cNvSpPr>
            <a:spLocks noGrp="1"/>
          </p:cNvSpPr>
          <p:nvPr>
            <p:ph type="body" orient="vert" idx="1"/>
          </p:nvPr>
        </p:nvSpPr>
        <p:spPr/>
        <p:txBody>
          <a:bodyPr vert="eaVert"/>
          <a:lstStyle/>
          <a:p>
            <a:pPr lvl="0" eaLnBrk="1" latinLnBrk="0" hangingPunct="1"/>
            <a:r>
              <a:rPr lang="pt-PT" smtClean="0"/>
              <a:t>Clique para editar os estilos</a:t>
            </a:r>
          </a:p>
          <a:p>
            <a:pPr lvl="1" eaLnBrk="1" latinLnBrk="0" hangingPunct="1"/>
            <a:r>
              <a:rPr lang="pt-PT" smtClean="0"/>
              <a:t>Segundo nível</a:t>
            </a:r>
          </a:p>
          <a:p>
            <a:pPr lvl="2" eaLnBrk="1" latinLnBrk="0" hangingPunct="1"/>
            <a:r>
              <a:rPr lang="pt-PT" smtClean="0"/>
              <a:t>Terceiro nível</a:t>
            </a:r>
          </a:p>
          <a:p>
            <a:pPr lvl="3" eaLnBrk="1" latinLnBrk="0" hangingPunct="1"/>
            <a:r>
              <a:rPr lang="pt-PT" smtClean="0"/>
              <a:t>Quarto nível</a:t>
            </a:r>
          </a:p>
          <a:p>
            <a:pPr lvl="4" eaLnBrk="1" latinLnBrk="0" hangingPunct="1"/>
            <a:r>
              <a:rPr lang="pt-PT" smtClean="0"/>
              <a:t>Quinto nível</a:t>
            </a:r>
            <a:endParaRPr kumimoji="0" lang="en-US"/>
          </a:p>
        </p:txBody>
      </p:sp>
      <p:sp>
        <p:nvSpPr>
          <p:cNvPr id="4" name="Marcador de Posição da Data 3"/>
          <p:cNvSpPr>
            <a:spLocks noGrp="1"/>
          </p:cNvSpPr>
          <p:nvPr>
            <p:ph type="dt" sz="half" idx="10"/>
          </p:nvPr>
        </p:nvSpPr>
        <p:spPr/>
        <p:txBody>
          <a:bodyPr/>
          <a:lstStyle/>
          <a:p>
            <a:fld id="{C58EFE4E-F9DE-4CB6-B862-3742B02B4EAC}" type="datetimeFigureOut">
              <a:rPr lang="pt-PT" smtClean="0"/>
              <a:pPr/>
              <a:t>10/06/2021</a:t>
            </a:fld>
            <a:endParaRPr lang="pt-PT"/>
          </a:p>
        </p:txBody>
      </p:sp>
      <p:sp>
        <p:nvSpPr>
          <p:cNvPr id="5" name="Marcador de Posição do Rodapé 4"/>
          <p:cNvSpPr>
            <a:spLocks noGrp="1"/>
          </p:cNvSpPr>
          <p:nvPr>
            <p:ph type="ftr" sz="quarter" idx="11"/>
          </p:nvPr>
        </p:nvSpPr>
        <p:spPr/>
        <p:txBody>
          <a:bodyPr/>
          <a:lstStyle/>
          <a:p>
            <a:endParaRPr lang="pt-PT"/>
          </a:p>
        </p:txBody>
      </p:sp>
      <p:sp>
        <p:nvSpPr>
          <p:cNvPr id="6" name="Marcador de Posição do Número do Diapositivo 5"/>
          <p:cNvSpPr>
            <a:spLocks noGrp="1"/>
          </p:cNvSpPr>
          <p:nvPr>
            <p:ph type="sldNum" sz="quarter" idx="12"/>
          </p:nvPr>
        </p:nvSpPr>
        <p:spPr/>
        <p:txBody>
          <a:bodyPr/>
          <a:lstStyle/>
          <a:p>
            <a:fld id="{1D096472-BD75-49E5-B8D6-C1CF65650D54}" type="slidenum">
              <a:rPr lang="pt-PT" smtClean="0"/>
              <a:pPr/>
              <a:t>‹nº›</a:t>
            </a:fld>
            <a:endParaRPr lang="pt-P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41"/>
            <a:ext cx="2011680" cy="5851525"/>
          </a:xfrm>
        </p:spPr>
        <p:txBody>
          <a:bodyPr vert="eaVert"/>
          <a:lstStyle/>
          <a:p>
            <a:r>
              <a:rPr kumimoji="0" lang="pt-PT" smtClean="0"/>
              <a:t>Clique para editar o estilo</a:t>
            </a:r>
            <a:endParaRPr kumimoji="0" lang="en-US"/>
          </a:p>
        </p:txBody>
      </p:sp>
      <p:sp>
        <p:nvSpPr>
          <p:cNvPr id="3" name="Marcador de Posição de Texto Vertical 2"/>
          <p:cNvSpPr>
            <a:spLocks noGrp="1"/>
          </p:cNvSpPr>
          <p:nvPr>
            <p:ph type="body" orient="vert" idx="1"/>
          </p:nvPr>
        </p:nvSpPr>
        <p:spPr>
          <a:xfrm>
            <a:off x="914400" y="274640"/>
            <a:ext cx="5562600" cy="5851525"/>
          </a:xfrm>
        </p:spPr>
        <p:txBody>
          <a:bodyPr vert="eaVert"/>
          <a:lstStyle/>
          <a:p>
            <a:pPr lvl="0" eaLnBrk="1" latinLnBrk="0" hangingPunct="1"/>
            <a:r>
              <a:rPr lang="pt-PT" smtClean="0"/>
              <a:t>Clique para editar os estilos</a:t>
            </a:r>
          </a:p>
          <a:p>
            <a:pPr lvl="1" eaLnBrk="1" latinLnBrk="0" hangingPunct="1"/>
            <a:r>
              <a:rPr lang="pt-PT" smtClean="0"/>
              <a:t>Segundo nível</a:t>
            </a:r>
          </a:p>
          <a:p>
            <a:pPr lvl="2" eaLnBrk="1" latinLnBrk="0" hangingPunct="1"/>
            <a:r>
              <a:rPr lang="pt-PT" smtClean="0"/>
              <a:t>Terceiro nível</a:t>
            </a:r>
          </a:p>
          <a:p>
            <a:pPr lvl="3" eaLnBrk="1" latinLnBrk="0" hangingPunct="1"/>
            <a:r>
              <a:rPr lang="pt-PT" smtClean="0"/>
              <a:t>Quarto nível</a:t>
            </a:r>
          </a:p>
          <a:p>
            <a:pPr lvl="4" eaLnBrk="1" latinLnBrk="0" hangingPunct="1"/>
            <a:r>
              <a:rPr lang="pt-PT" smtClean="0"/>
              <a:t>Quinto nível</a:t>
            </a:r>
            <a:endParaRPr kumimoji="0" lang="en-US"/>
          </a:p>
        </p:txBody>
      </p:sp>
      <p:sp>
        <p:nvSpPr>
          <p:cNvPr id="4" name="Marcador de Posição da Data 3"/>
          <p:cNvSpPr>
            <a:spLocks noGrp="1"/>
          </p:cNvSpPr>
          <p:nvPr>
            <p:ph type="dt" sz="half" idx="10"/>
          </p:nvPr>
        </p:nvSpPr>
        <p:spPr/>
        <p:txBody>
          <a:bodyPr/>
          <a:lstStyle/>
          <a:p>
            <a:fld id="{C58EFE4E-F9DE-4CB6-B862-3742B02B4EAC}" type="datetimeFigureOut">
              <a:rPr lang="pt-PT" smtClean="0"/>
              <a:pPr/>
              <a:t>10/06/2021</a:t>
            </a:fld>
            <a:endParaRPr lang="pt-PT"/>
          </a:p>
        </p:txBody>
      </p:sp>
      <p:sp>
        <p:nvSpPr>
          <p:cNvPr id="5" name="Marcador de Posição do Rodapé 4"/>
          <p:cNvSpPr>
            <a:spLocks noGrp="1"/>
          </p:cNvSpPr>
          <p:nvPr>
            <p:ph type="ftr" sz="quarter" idx="11"/>
          </p:nvPr>
        </p:nvSpPr>
        <p:spPr/>
        <p:txBody>
          <a:bodyPr/>
          <a:lstStyle/>
          <a:p>
            <a:endParaRPr lang="pt-PT"/>
          </a:p>
        </p:txBody>
      </p:sp>
      <p:sp>
        <p:nvSpPr>
          <p:cNvPr id="6" name="Marcador de Posição do Número do Diapositivo 5"/>
          <p:cNvSpPr>
            <a:spLocks noGrp="1"/>
          </p:cNvSpPr>
          <p:nvPr>
            <p:ph type="sldNum" sz="quarter" idx="12"/>
          </p:nvPr>
        </p:nvSpPr>
        <p:spPr/>
        <p:txBody>
          <a:bodyPr/>
          <a:lstStyle/>
          <a:p>
            <a:fld id="{1D096472-BD75-49E5-B8D6-C1CF65650D54}" type="slidenum">
              <a:rPr lang="pt-PT" smtClean="0"/>
              <a:pPr/>
              <a:t>‹nº›</a:t>
            </a:fld>
            <a:endParaRPr lang="pt-P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ângulo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ectângulo arredondado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Marcador de Posição do Título 21"/>
          <p:cNvSpPr>
            <a:spLocks noGrp="1"/>
          </p:cNvSpPr>
          <p:nvPr>
            <p:ph type="title"/>
          </p:nvPr>
        </p:nvSpPr>
        <p:spPr>
          <a:xfrm>
            <a:off x="914400" y="274638"/>
            <a:ext cx="7772400" cy="1143000"/>
          </a:xfrm>
          <a:prstGeom prst="rect">
            <a:avLst/>
          </a:prstGeom>
        </p:spPr>
        <p:txBody>
          <a:bodyPr bIns="91440" anchor="b" anchorCtr="0">
            <a:normAutofit/>
          </a:bodyPr>
          <a:lstStyle/>
          <a:p>
            <a:r>
              <a:rPr kumimoji="0" lang="pt-PT" smtClean="0"/>
              <a:t>Clique para editar o estilo</a:t>
            </a:r>
            <a:endParaRPr kumimoji="0" lang="en-US"/>
          </a:p>
        </p:txBody>
      </p:sp>
      <p:sp>
        <p:nvSpPr>
          <p:cNvPr id="13" name="Marcador de Posição do Texto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pt-PT" smtClean="0"/>
              <a:t>Clique para editar os estilos</a:t>
            </a:r>
          </a:p>
          <a:p>
            <a:pPr lvl="1" eaLnBrk="1" latinLnBrk="0" hangingPunct="1"/>
            <a:r>
              <a:rPr kumimoji="0" lang="pt-PT" smtClean="0"/>
              <a:t>Segundo nível</a:t>
            </a:r>
          </a:p>
          <a:p>
            <a:pPr lvl="2" eaLnBrk="1" latinLnBrk="0" hangingPunct="1"/>
            <a:r>
              <a:rPr kumimoji="0" lang="pt-PT" smtClean="0"/>
              <a:t>Terceiro nível</a:t>
            </a:r>
          </a:p>
          <a:p>
            <a:pPr lvl="3" eaLnBrk="1" latinLnBrk="0" hangingPunct="1"/>
            <a:r>
              <a:rPr kumimoji="0" lang="pt-PT" smtClean="0"/>
              <a:t>Quarto nível</a:t>
            </a:r>
          </a:p>
          <a:p>
            <a:pPr lvl="4" eaLnBrk="1" latinLnBrk="0" hangingPunct="1"/>
            <a:r>
              <a:rPr kumimoji="0" lang="pt-PT" smtClean="0"/>
              <a:t>Quinto nível</a:t>
            </a:r>
            <a:endParaRPr kumimoji="0" lang="en-US"/>
          </a:p>
        </p:txBody>
      </p:sp>
      <p:sp>
        <p:nvSpPr>
          <p:cNvPr id="14" name="Marcador de Posição da Data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C58EFE4E-F9DE-4CB6-B862-3742B02B4EAC}" type="datetimeFigureOut">
              <a:rPr lang="pt-PT" smtClean="0"/>
              <a:pPr/>
              <a:t>10/06/2021</a:t>
            </a:fld>
            <a:endParaRPr lang="pt-PT"/>
          </a:p>
        </p:txBody>
      </p:sp>
      <p:sp>
        <p:nvSpPr>
          <p:cNvPr id="3" name="Marcador de Posição do Rodapé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pt-PT"/>
          </a:p>
        </p:txBody>
      </p:sp>
      <p:sp>
        <p:nvSpPr>
          <p:cNvPr id="23" name="Marcador de Posição do Número do Diapositivo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D096472-BD75-49E5-B8D6-C1CF65650D54}" type="slidenum">
              <a:rPr lang="pt-PT" smtClean="0"/>
              <a:pPr/>
              <a:t>‹nº›</a:t>
            </a:fld>
            <a:endParaRPr lang="pt-PT"/>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251520" y="1844824"/>
            <a:ext cx="8712968" cy="4824536"/>
          </a:xfrm>
        </p:spPr>
        <p:txBody>
          <a:bodyPr>
            <a:normAutofit/>
          </a:bodyPr>
          <a:lstStyle/>
          <a:p>
            <a:r>
              <a:rPr lang="pt-PT" sz="4000" dirty="0" smtClean="0">
                <a:solidFill>
                  <a:schemeClr val="tx1"/>
                </a:solidFill>
              </a:rPr>
              <a:t>REDES DE TELECOMUCAÇÕES IV</a:t>
            </a:r>
          </a:p>
          <a:p>
            <a:endParaRPr lang="pt-PT" dirty="0" smtClean="0">
              <a:solidFill>
                <a:schemeClr val="tx1"/>
              </a:solidFill>
            </a:endParaRPr>
          </a:p>
          <a:p>
            <a:endParaRPr lang="pt-PT" dirty="0" smtClean="0">
              <a:solidFill>
                <a:schemeClr val="tx1"/>
              </a:solidFill>
            </a:endParaRPr>
          </a:p>
          <a:p>
            <a:endParaRPr lang="pt-PT" dirty="0" smtClean="0">
              <a:solidFill>
                <a:schemeClr val="tx1"/>
              </a:solidFill>
            </a:endParaRPr>
          </a:p>
          <a:p>
            <a:endParaRPr lang="pt-PT" dirty="0" smtClean="0">
              <a:solidFill>
                <a:schemeClr val="tx1"/>
              </a:solidFill>
            </a:endParaRPr>
          </a:p>
          <a:p>
            <a:endParaRPr lang="pt-PT" dirty="0" smtClean="0">
              <a:solidFill>
                <a:schemeClr val="tx1"/>
              </a:solidFill>
            </a:endParaRPr>
          </a:p>
          <a:p>
            <a:r>
              <a:rPr lang="pt-PT" dirty="0" smtClean="0">
                <a:solidFill>
                  <a:schemeClr val="tx1"/>
                </a:solidFill>
              </a:rPr>
              <a:t>                                              </a:t>
            </a:r>
          </a:p>
          <a:p>
            <a:r>
              <a:rPr lang="pt-PT" b="1" dirty="0" smtClean="0">
                <a:solidFill>
                  <a:schemeClr val="tx1"/>
                </a:solidFill>
              </a:rPr>
              <a:t>                                             </a:t>
            </a:r>
          </a:p>
          <a:p>
            <a:r>
              <a:rPr lang="pt-PT" b="1" dirty="0" smtClean="0">
                <a:solidFill>
                  <a:schemeClr val="tx1"/>
                </a:solidFill>
              </a:rPr>
              <a:t>            Adaptado </a:t>
            </a:r>
            <a:endParaRPr lang="pt-PT" dirty="0" smtClean="0">
              <a:solidFill>
                <a:schemeClr val="tx1"/>
              </a:solidFill>
            </a:endParaRPr>
          </a:p>
        </p:txBody>
      </p:sp>
      <p:sp>
        <p:nvSpPr>
          <p:cNvPr id="2" name="Título 1"/>
          <p:cNvSpPr>
            <a:spLocks noGrp="1"/>
          </p:cNvSpPr>
          <p:nvPr>
            <p:ph type="ctrTitle"/>
          </p:nvPr>
        </p:nvSpPr>
        <p:spPr>
          <a:xfrm>
            <a:off x="457200" y="260649"/>
            <a:ext cx="8229600" cy="1440159"/>
          </a:xfrm>
        </p:spPr>
        <p:txBody>
          <a:bodyPr>
            <a:normAutofit/>
          </a:bodyPr>
          <a:lstStyle/>
          <a:p>
            <a:r>
              <a:rPr lang="pt-PT" sz="2000" b="1" dirty="0" smtClean="0">
                <a:solidFill>
                  <a:schemeClr val="tx1"/>
                </a:solidFill>
              </a:rPr>
              <a:t>Ministério do Ensino Superior </a:t>
            </a:r>
            <a:br>
              <a:rPr lang="pt-PT" sz="2000" b="1" dirty="0" smtClean="0">
                <a:solidFill>
                  <a:schemeClr val="tx1"/>
                </a:solidFill>
              </a:rPr>
            </a:br>
            <a:r>
              <a:rPr lang="pt-PT" sz="2000" b="1" dirty="0" smtClean="0">
                <a:solidFill>
                  <a:schemeClr val="tx1"/>
                </a:solidFill>
              </a:rPr>
              <a:t>Instituto  de Tecnologias de Informação e comunicação </a:t>
            </a:r>
            <a:br>
              <a:rPr lang="pt-PT" sz="2000" b="1" dirty="0" smtClean="0">
                <a:solidFill>
                  <a:schemeClr val="tx1"/>
                </a:solidFill>
              </a:rPr>
            </a:br>
            <a:r>
              <a:rPr lang="pt-PT" sz="2000" b="1" dirty="0" smtClean="0">
                <a:solidFill>
                  <a:schemeClr val="tx1"/>
                </a:solidFill>
              </a:rPr>
              <a:t>(INSTIC) </a:t>
            </a:r>
            <a:endParaRPr lang="pt-PT" sz="2000" b="1" dirty="0">
              <a:solidFill>
                <a:schemeClr val="tx1"/>
              </a:solidFill>
            </a:endParaRPr>
          </a:p>
        </p:txBody>
      </p:sp>
      <p:pic>
        <p:nvPicPr>
          <p:cNvPr id="4" name="Picture 2"/>
          <p:cNvPicPr>
            <a:picLocks noChangeAspect="1" noChangeArrowheads="1"/>
          </p:cNvPicPr>
          <p:nvPr/>
        </p:nvPicPr>
        <p:blipFill>
          <a:blip r:embed="rId2" cstate="print"/>
          <a:srcRect/>
          <a:stretch>
            <a:fillRect/>
          </a:stretch>
        </p:blipFill>
        <p:spPr bwMode="auto">
          <a:xfrm>
            <a:off x="2771800" y="3356992"/>
            <a:ext cx="3960440" cy="187220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1520" y="0"/>
            <a:ext cx="8712968" cy="1556792"/>
          </a:xfrm>
        </p:spPr>
        <p:txBody>
          <a:bodyPr>
            <a:normAutofit fontScale="90000"/>
          </a:bodyPr>
          <a:lstStyle/>
          <a:p>
            <a:r>
              <a:rPr lang="pt-PT" sz="2700" b="1" dirty="0" smtClean="0">
                <a:solidFill>
                  <a:schemeClr val="tx1"/>
                </a:solidFill>
                <a:latin typeface="Tahoma" pitchFamily="34" charset="0"/>
                <a:ea typeface="Tahoma" pitchFamily="34" charset="0"/>
                <a:cs typeface="Tahoma" pitchFamily="34" charset="0"/>
              </a:rPr>
              <a:t>APRESENTAÇÃO DA CADEIRA  REDES DE     TELECOMUNICAÇÕES I (RT IV )</a:t>
            </a:r>
            <a:r>
              <a:rPr lang="pt-PT" dirty="0" smtClean="0"/>
              <a:t/>
            </a:r>
            <a:br>
              <a:rPr lang="pt-PT" dirty="0" smtClean="0"/>
            </a:br>
            <a:endParaRPr lang="pt-PT" dirty="0"/>
          </a:p>
        </p:txBody>
      </p:sp>
      <p:sp>
        <p:nvSpPr>
          <p:cNvPr id="3" name="Marcador de Posição de Conteúdo 2"/>
          <p:cNvSpPr>
            <a:spLocks noGrp="1"/>
          </p:cNvSpPr>
          <p:nvPr>
            <p:ph sz="quarter" idx="1"/>
          </p:nvPr>
        </p:nvSpPr>
        <p:spPr>
          <a:xfrm>
            <a:off x="395536" y="1447800"/>
            <a:ext cx="8568952" cy="4933528"/>
          </a:xfrm>
        </p:spPr>
        <p:txBody>
          <a:bodyPr>
            <a:normAutofit fontScale="77500" lnSpcReduction="20000"/>
          </a:bodyPr>
          <a:lstStyle/>
          <a:p>
            <a:pPr>
              <a:buNone/>
            </a:pPr>
            <a:r>
              <a:rPr lang="pt-PT" sz="2800" b="1" dirty="0" smtClean="0">
                <a:latin typeface="Tahoma" pitchFamily="34" charset="0"/>
                <a:ea typeface="Tahoma" pitchFamily="34" charset="0"/>
                <a:cs typeface="Tahoma" pitchFamily="34" charset="0"/>
              </a:rPr>
              <a:t>Área cientifica: </a:t>
            </a:r>
          </a:p>
          <a:p>
            <a:r>
              <a:rPr lang="pt-PT" sz="2800" dirty="0" smtClean="0">
                <a:latin typeface="Tahoma" pitchFamily="34" charset="0"/>
                <a:ea typeface="Tahoma" pitchFamily="34" charset="0"/>
                <a:cs typeface="Tahoma" pitchFamily="34" charset="0"/>
              </a:rPr>
              <a:t>Sistemas de Telecomunicações</a:t>
            </a:r>
            <a:endParaRPr lang="pt-PT" dirty="0" smtClean="0"/>
          </a:p>
          <a:p>
            <a:pPr>
              <a:buNone/>
            </a:pPr>
            <a:endParaRPr lang="pt-PT" sz="2800" b="1" dirty="0" smtClean="0">
              <a:latin typeface="Tahoma" pitchFamily="34" charset="0"/>
              <a:ea typeface="Tahoma" pitchFamily="34" charset="0"/>
              <a:cs typeface="Tahoma" pitchFamily="34" charset="0"/>
            </a:endParaRPr>
          </a:p>
          <a:p>
            <a:pPr>
              <a:buNone/>
            </a:pPr>
            <a:r>
              <a:rPr lang="pt-PT" sz="2800" b="1" dirty="0" smtClean="0">
                <a:latin typeface="Tahoma" pitchFamily="34" charset="0"/>
                <a:ea typeface="Tahoma" pitchFamily="34" charset="0"/>
                <a:cs typeface="Tahoma" pitchFamily="34" charset="0"/>
              </a:rPr>
              <a:t>Objectivos: </a:t>
            </a:r>
          </a:p>
          <a:p>
            <a:r>
              <a:rPr lang="pt-PT" sz="2800" dirty="0" smtClean="0">
                <a:latin typeface="Tahoma" pitchFamily="34" charset="0"/>
                <a:ea typeface="Tahoma" pitchFamily="34" charset="0"/>
                <a:cs typeface="Tahoma" pitchFamily="34" charset="0"/>
              </a:rPr>
              <a:t>Em complementação ao estudo das redes de telecomunicações, transmitir aos alunos os conceitos mais relevantes associados às redes de acesso, às redes ATM e, principalmente, às redes NGN.</a:t>
            </a:r>
            <a:endParaRPr lang="pt-PT" sz="2800" b="1" dirty="0" smtClean="0">
              <a:latin typeface="Tahoma" pitchFamily="34" charset="0"/>
              <a:ea typeface="Tahoma" pitchFamily="34" charset="0"/>
              <a:cs typeface="Tahoma" pitchFamily="34" charset="0"/>
            </a:endParaRPr>
          </a:p>
          <a:p>
            <a:pPr>
              <a:buNone/>
            </a:pPr>
            <a:r>
              <a:rPr lang="pt-PT" sz="2800" b="1" dirty="0" smtClean="0">
                <a:latin typeface="Tahoma" pitchFamily="34" charset="0"/>
                <a:ea typeface="Tahoma" pitchFamily="34" charset="0"/>
                <a:cs typeface="Tahoma" pitchFamily="34" charset="0"/>
              </a:rPr>
              <a:t>Precedência: </a:t>
            </a:r>
          </a:p>
          <a:p>
            <a:r>
              <a:rPr lang="pt-PT" sz="2800" dirty="0" smtClean="0">
                <a:latin typeface="Tahoma" pitchFamily="34" charset="0"/>
                <a:ea typeface="Tahoma" pitchFamily="34" charset="0"/>
                <a:cs typeface="Tahoma" pitchFamily="34" charset="0"/>
              </a:rPr>
              <a:t>Redes de Telecomunicações I, II, III</a:t>
            </a:r>
          </a:p>
          <a:p>
            <a:pPr>
              <a:buNone/>
            </a:pPr>
            <a:endParaRPr lang="pt-PT" sz="2800" b="1" dirty="0" smtClean="0">
              <a:latin typeface="Tahoma" pitchFamily="34" charset="0"/>
              <a:ea typeface="Tahoma" pitchFamily="34" charset="0"/>
              <a:cs typeface="Tahoma" pitchFamily="34" charset="0"/>
            </a:endParaRPr>
          </a:p>
          <a:p>
            <a:pPr>
              <a:buNone/>
            </a:pPr>
            <a:r>
              <a:rPr lang="pt-PT" sz="2800" b="1" dirty="0" smtClean="0">
                <a:latin typeface="Tahoma" pitchFamily="34" charset="0"/>
                <a:ea typeface="Tahoma" pitchFamily="34" charset="0"/>
                <a:cs typeface="Tahoma" pitchFamily="34" charset="0"/>
              </a:rPr>
              <a:t>Número de horas</a:t>
            </a:r>
            <a:r>
              <a:rPr lang="pt-PT" sz="2800" b="1" dirty="0" smtClean="0">
                <a:solidFill>
                  <a:schemeClr val="bg1"/>
                </a:solidFill>
                <a:latin typeface="Tahoma" pitchFamily="34" charset="0"/>
                <a:ea typeface="Tahoma" pitchFamily="34" charset="0"/>
                <a:cs typeface="Tahoma" pitchFamily="34" charset="0"/>
              </a:rPr>
              <a:t>: </a:t>
            </a:r>
          </a:p>
          <a:p>
            <a:r>
              <a:rPr lang="pt-PT" sz="2800" dirty="0" smtClean="0">
                <a:latin typeface="Tahoma" pitchFamily="34" charset="0"/>
                <a:ea typeface="Tahoma" pitchFamily="34" charset="0"/>
                <a:cs typeface="Tahoma" pitchFamily="34" charset="0"/>
              </a:rPr>
              <a:t>Semestre II – 60h</a:t>
            </a:r>
            <a:r>
              <a:rPr lang="pt-PT" sz="2800" dirty="0" smtClean="0">
                <a:solidFill>
                  <a:schemeClr val="bg1"/>
                </a:solidFill>
                <a:latin typeface="Tahoma" pitchFamily="34" charset="0"/>
                <a:ea typeface="Tahoma" pitchFamily="34" charset="0"/>
                <a:cs typeface="Tahoma" pitchFamily="34" charset="0"/>
              </a:rPr>
              <a:t>.</a:t>
            </a:r>
          </a:p>
          <a:p>
            <a:pPr>
              <a:buNone/>
            </a:pPr>
            <a:r>
              <a:rPr lang="pt-PT" sz="2800" dirty="0" smtClean="0">
                <a:solidFill>
                  <a:schemeClr val="bg1"/>
                </a:solidFill>
                <a:latin typeface="Tahoma" pitchFamily="34" charset="0"/>
                <a:ea typeface="Tahoma" pitchFamily="34" charset="0"/>
                <a:cs typeface="Tahoma" pitchFamily="34" charset="0"/>
              </a:rPr>
              <a:t>.</a:t>
            </a:r>
            <a:endParaRPr lang="pt-PT"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1520" y="274638"/>
            <a:ext cx="8435280" cy="850106"/>
          </a:xfrm>
        </p:spPr>
        <p:txBody>
          <a:bodyPr>
            <a:normAutofit fontScale="90000"/>
          </a:bodyPr>
          <a:lstStyle/>
          <a:p>
            <a:r>
              <a:rPr lang="pt-PT" sz="3100" b="1" dirty="0" smtClean="0">
                <a:solidFill>
                  <a:schemeClr val="tx1"/>
                </a:solidFill>
                <a:latin typeface="Tahoma" pitchFamily="34" charset="0"/>
                <a:ea typeface="Tahoma" pitchFamily="34" charset="0"/>
                <a:cs typeface="Tahoma" pitchFamily="34" charset="0"/>
              </a:rPr>
              <a:t>Programa Curricular:</a:t>
            </a:r>
            <a:r>
              <a:rPr lang="pt-PT" b="1" dirty="0" smtClean="0">
                <a:solidFill>
                  <a:srgbClr val="FFFF00"/>
                </a:solidFill>
                <a:latin typeface="Tahoma" pitchFamily="34" charset="0"/>
                <a:ea typeface="Tahoma" pitchFamily="34" charset="0"/>
                <a:cs typeface="Tahoma" pitchFamily="34" charset="0"/>
              </a:rPr>
              <a:t/>
            </a:r>
            <a:br>
              <a:rPr lang="pt-PT" b="1" dirty="0" smtClean="0">
                <a:solidFill>
                  <a:srgbClr val="FFFF00"/>
                </a:solidFill>
                <a:latin typeface="Tahoma" pitchFamily="34" charset="0"/>
                <a:ea typeface="Tahoma" pitchFamily="34" charset="0"/>
                <a:cs typeface="Tahoma" pitchFamily="34" charset="0"/>
              </a:rPr>
            </a:br>
            <a:endParaRPr lang="pt-PT" dirty="0"/>
          </a:p>
        </p:txBody>
      </p:sp>
      <p:sp>
        <p:nvSpPr>
          <p:cNvPr id="3" name="Marcador de Posição de Conteúdo 2"/>
          <p:cNvSpPr>
            <a:spLocks noGrp="1"/>
          </p:cNvSpPr>
          <p:nvPr>
            <p:ph sz="quarter" idx="1"/>
          </p:nvPr>
        </p:nvSpPr>
        <p:spPr>
          <a:xfrm>
            <a:off x="323528" y="620688"/>
            <a:ext cx="8640960" cy="5832648"/>
          </a:xfrm>
        </p:spPr>
        <p:txBody>
          <a:bodyPr>
            <a:normAutofit fontScale="92500" lnSpcReduction="10000"/>
          </a:bodyPr>
          <a:lstStyle/>
          <a:p>
            <a:r>
              <a:rPr lang="pt-PT" dirty="0" smtClean="0"/>
              <a:t>1. Redes de Acesso: Família </a:t>
            </a:r>
            <a:r>
              <a:rPr lang="pt-PT" dirty="0" err="1" smtClean="0"/>
              <a:t>xDSL</a:t>
            </a:r>
            <a:r>
              <a:rPr lang="pt-PT" dirty="0" smtClean="0"/>
              <a:t>, Cable Modem, FTTH, WLL, Wi-Fi,</a:t>
            </a:r>
          </a:p>
          <a:p>
            <a:pPr>
              <a:buNone/>
            </a:pPr>
            <a:r>
              <a:rPr lang="pt-PT" dirty="0" smtClean="0"/>
              <a:t>    </a:t>
            </a:r>
            <a:r>
              <a:rPr lang="pt-PT" dirty="0" err="1" smtClean="0"/>
              <a:t>Wi</a:t>
            </a:r>
            <a:r>
              <a:rPr lang="pt-PT" dirty="0" smtClean="0"/>
              <a:t>-Max.</a:t>
            </a:r>
          </a:p>
          <a:p>
            <a:r>
              <a:rPr lang="pt-PT" dirty="0" smtClean="0"/>
              <a:t>2. Redes </a:t>
            </a:r>
            <a:r>
              <a:rPr lang="pt-PT" dirty="0" err="1" smtClean="0"/>
              <a:t>Frame-Relay</a:t>
            </a:r>
            <a:r>
              <a:rPr lang="pt-PT" dirty="0" smtClean="0"/>
              <a:t>.</a:t>
            </a:r>
          </a:p>
          <a:p>
            <a:r>
              <a:rPr lang="pt-PT" dirty="0" smtClean="0"/>
              <a:t>3. Redes ATM: Camadas, Conexões, Células e Comutação.</a:t>
            </a:r>
          </a:p>
          <a:p>
            <a:r>
              <a:rPr lang="pt-PT" dirty="0" smtClean="0"/>
              <a:t>4. Interconexão </a:t>
            </a:r>
            <a:r>
              <a:rPr lang="pt-PT" dirty="0" err="1" smtClean="0"/>
              <a:t>Frame</a:t>
            </a:r>
            <a:r>
              <a:rPr lang="pt-PT" dirty="0" smtClean="0"/>
              <a:t> </a:t>
            </a:r>
            <a:r>
              <a:rPr lang="pt-PT" dirty="0" err="1" smtClean="0"/>
              <a:t>Relay</a:t>
            </a:r>
            <a:r>
              <a:rPr lang="pt-PT" dirty="0" smtClean="0"/>
              <a:t> x ATM</a:t>
            </a:r>
          </a:p>
          <a:p>
            <a:r>
              <a:rPr lang="pt-PT" dirty="0" smtClean="0"/>
              <a:t>5. IP Sobre ATM</a:t>
            </a:r>
          </a:p>
          <a:p>
            <a:r>
              <a:rPr lang="pt-PT" dirty="0" smtClean="0"/>
              <a:t>6. Voz e Vídeo sobre ATM</a:t>
            </a:r>
          </a:p>
          <a:p>
            <a:r>
              <a:rPr lang="pt-PT" dirty="0" smtClean="0"/>
              <a:t>7. Redes NGN: A Próxima Geração de Redes</a:t>
            </a:r>
          </a:p>
          <a:p>
            <a:r>
              <a:rPr lang="pt-PT" dirty="0" smtClean="0"/>
              <a:t>8. Arquitetura da Rede NGN</a:t>
            </a:r>
          </a:p>
          <a:p>
            <a:r>
              <a:rPr lang="pt-PT" dirty="0" smtClean="0"/>
              <a:t>9. Equipamentos da Rede NGN: </a:t>
            </a:r>
            <a:r>
              <a:rPr lang="pt-PT" dirty="0" err="1" smtClean="0"/>
              <a:t>SoftSwitch</a:t>
            </a:r>
            <a:r>
              <a:rPr lang="pt-PT" dirty="0" smtClean="0"/>
              <a:t>, </a:t>
            </a:r>
            <a:r>
              <a:rPr lang="pt-PT" dirty="0" err="1" smtClean="0"/>
              <a:t>Midia</a:t>
            </a:r>
            <a:r>
              <a:rPr lang="pt-PT" dirty="0" smtClean="0"/>
              <a:t> Gateway e o </a:t>
            </a:r>
            <a:r>
              <a:rPr lang="pt-PT" dirty="0" err="1" smtClean="0"/>
              <a:t>Signaling</a:t>
            </a:r>
            <a:endParaRPr lang="pt-PT" dirty="0" smtClean="0"/>
          </a:p>
          <a:p>
            <a:pPr>
              <a:buNone/>
            </a:pPr>
            <a:r>
              <a:rPr lang="pt-PT" dirty="0" smtClean="0"/>
              <a:t>  Gateway.</a:t>
            </a:r>
          </a:p>
          <a:p>
            <a:r>
              <a:rPr lang="pt-PT" dirty="0" smtClean="0"/>
              <a:t>10. A Estrutura dos Protocolos Utilizados na NGN: Media Gateway</a:t>
            </a:r>
          </a:p>
          <a:p>
            <a:pPr>
              <a:buNone/>
            </a:pPr>
            <a:r>
              <a:rPr lang="pt-PT" dirty="0" err="1" smtClean="0"/>
              <a:t>Control</a:t>
            </a:r>
            <a:r>
              <a:rPr lang="pt-PT" dirty="0" smtClean="0"/>
              <a:t> </a:t>
            </a:r>
            <a:r>
              <a:rPr lang="pt-PT" dirty="0" err="1" smtClean="0"/>
              <a:t>Protocol</a:t>
            </a:r>
            <a:r>
              <a:rPr lang="pt-PT" dirty="0" smtClean="0"/>
              <a:t>: MGCP; H248/ </a:t>
            </a:r>
            <a:r>
              <a:rPr lang="pt-PT" dirty="0" err="1" smtClean="0"/>
              <a:t>Megaco</a:t>
            </a:r>
            <a:r>
              <a:rPr lang="pt-PT" dirty="0" smtClean="0"/>
              <a:t>; H 323 e SIP.</a:t>
            </a:r>
          </a:p>
          <a:p>
            <a:r>
              <a:rPr lang="pt-PT" dirty="0" smtClean="0"/>
              <a:t>11. Aplicações, Vantagens e Desvantagens da Rede NGN.</a:t>
            </a:r>
            <a:endParaRPr lang="pt-PT"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706090"/>
          </a:xfrm>
        </p:spPr>
        <p:txBody>
          <a:bodyPr>
            <a:normAutofit/>
          </a:bodyPr>
          <a:lstStyle/>
          <a:p>
            <a:r>
              <a:rPr lang="pt-PT" altLang="pt-PT" sz="2000" b="1" dirty="0" smtClean="0">
                <a:solidFill>
                  <a:srgbClr val="FF0000"/>
                </a:solidFill>
                <a:latin typeface="Arial" charset="0"/>
                <a:cs typeface="Arial" charset="0"/>
              </a:rPr>
              <a:t>1.  REDES DE ACESSO </a:t>
            </a:r>
            <a:endParaRPr lang="pt-PT" sz="2000" dirty="0"/>
          </a:p>
        </p:txBody>
      </p:sp>
      <p:sp>
        <p:nvSpPr>
          <p:cNvPr id="3" name="Marcador de Posição de Conteúdo 2"/>
          <p:cNvSpPr>
            <a:spLocks noGrp="1"/>
          </p:cNvSpPr>
          <p:nvPr>
            <p:ph sz="quarter" idx="1"/>
          </p:nvPr>
        </p:nvSpPr>
        <p:spPr>
          <a:xfrm>
            <a:off x="899592" y="1124744"/>
            <a:ext cx="7772400" cy="397024"/>
          </a:xfrm>
        </p:spPr>
        <p:txBody>
          <a:bodyPr/>
          <a:lstStyle/>
          <a:p>
            <a:pPr>
              <a:buNone/>
            </a:pPr>
            <a:r>
              <a:rPr lang="pt-PT" sz="1200" b="1" dirty="0" smtClean="0">
                <a:solidFill>
                  <a:srgbClr val="FF0000"/>
                </a:solidFill>
                <a:latin typeface="Arial" panose="020B0604020202020204" pitchFamily="34" charset="0"/>
                <a:cs typeface="Arial" panose="020B0604020202020204" pitchFamily="34" charset="0"/>
              </a:rPr>
              <a:t>       INTRODUÇÃO</a:t>
            </a:r>
          </a:p>
          <a:p>
            <a:endParaRPr lang="pt-PT" dirty="0"/>
          </a:p>
        </p:txBody>
      </p:sp>
      <p:sp>
        <p:nvSpPr>
          <p:cNvPr id="4" name="Rectângulo 3"/>
          <p:cNvSpPr/>
          <p:nvPr/>
        </p:nvSpPr>
        <p:spPr>
          <a:xfrm>
            <a:off x="2286000" y="3105835"/>
            <a:ext cx="4572000" cy="369332"/>
          </a:xfrm>
          <a:prstGeom prst="rect">
            <a:avLst/>
          </a:prstGeom>
        </p:spPr>
        <p:txBody>
          <a:bodyPr>
            <a:spAutoFit/>
          </a:bodyPr>
          <a:lstStyle/>
          <a:p>
            <a:pPr algn="ctr">
              <a:defRPr/>
            </a:pPr>
            <a:endParaRPr lang="pt-PT" b="1" dirty="0">
              <a:solidFill>
                <a:srgbClr val="FF0000"/>
              </a:solidFill>
              <a:latin typeface="Arial" panose="020B0604020202020204" pitchFamily="34" charset="0"/>
              <a:cs typeface="Arial" panose="020B0604020202020204" pitchFamily="34" charset="0"/>
            </a:endParaRPr>
          </a:p>
        </p:txBody>
      </p:sp>
      <p:sp>
        <p:nvSpPr>
          <p:cNvPr id="6" name="Rectângulo 5"/>
          <p:cNvSpPr/>
          <p:nvPr/>
        </p:nvSpPr>
        <p:spPr>
          <a:xfrm>
            <a:off x="1187624" y="1412776"/>
            <a:ext cx="7128792" cy="646331"/>
          </a:xfrm>
          <a:prstGeom prst="rect">
            <a:avLst/>
          </a:prstGeom>
        </p:spPr>
        <p:txBody>
          <a:bodyPr wrap="square">
            <a:spAutoFit/>
          </a:bodyPr>
          <a:lstStyle/>
          <a:p>
            <a:r>
              <a:rPr lang="pt-PT" dirty="0" smtClean="0"/>
              <a:t>Consiste de um enlace local e equipamentos associados, que conecta o usuário (residencial ou corporativo) ao seu provedor de serviço (última milha).</a:t>
            </a:r>
            <a:endParaRPr lang="pt-PT" dirty="0"/>
          </a:p>
        </p:txBody>
      </p:sp>
      <p:sp>
        <p:nvSpPr>
          <p:cNvPr id="7" name="Rectângulo 6"/>
          <p:cNvSpPr/>
          <p:nvPr/>
        </p:nvSpPr>
        <p:spPr>
          <a:xfrm>
            <a:off x="1259632" y="2348880"/>
            <a:ext cx="4572000" cy="1200329"/>
          </a:xfrm>
          <a:prstGeom prst="rect">
            <a:avLst/>
          </a:prstGeom>
        </p:spPr>
        <p:txBody>
          <a:bodyPr>
            <a:spAutoFit/>
          </a:bodyPr>
          <a:lstStyle/>
          <a:p>
            <a:r>
              <a:rPr lang="pt-PT" dirty="0" smtClean="0"/>
              <a:t>Provedor de Serviço???</a:t>
            </a:r>
          </a:p>
          <a:p>
            <a:r>
              <a:rPr lang="pt-PT" dirty="0" smtClean="0"/>
              <a:t>• Telefonia com ou sem fio (</a:t>
            </a:r>
            <a:r>
              <a:rPr lang="pt-PT" dirty="0" err="1" smtClean="0"/>
              <a:t>wireline</a:t>
            </a:r>
            <a:r>
              <a:rPr lang="pt-PT" dirty="0" smtClean="0"/>
              <a:t>/wireless)</a:t>
            </a:r>
          </a:p>
          <a:p>
            <a:r>
              <a:rPr lang="pt-PT" dirty="0" smtClean="0"/>
              <a:t>• Internet (ISP - Internet </a:t>
            </a:r>
            <a:r>
              <a:rPr lang="pt-PT" dirty="0" err="1" smtClean="0"/>
              <a:t>Service</a:t>
            </a:r>
            <a:r>
              <a:rPr lang="pt-PT" dirty="0" smtClean="0"/>
              <a:t> </a:t>
            </a:r>
            <a:r>
              <a:rPr lang="pt-PT" dirty="0" err="1" smtClean="0"/>
              <a:t>Provider</a:t>
            </a:r>
            <a:r>
              <a:rPr lang="pt-PT" dirty="0" smtClean="0"/>
              <a:t>)</a:t>
            </a:r>
          </a:p>
          <a:p>
            <a:r>
              <a:rPr lang="pt-PT" dirty="0" smtClean="0"/>
              <a:t>• CATV (TV a cabo).............</a:t>
            </a:r>
            <a:endParaRPr lang="pt-PT" dirty="0"/>
          </a:p>
        </p:txBody>
      </p:sp>
      <p:pic>
        <p:nvPicPr>
          <p:cNvPr id="1026" name="Picture 2"/>
          <p:cNvPicPr>
            <a:picLocks noChangeAspect="1" noChangeArrowheads="1"/>
          </p:cNvPicPr>
          <p:nvPr/>
        </p:nvPicPr>
        <p:blipFill>
          <a:blip r:embed="rId3" cstate="print"/>
          <a:srcRect/>
          <a:stretch>
            <a:fillRect/>
          </a:stretch>
        </p:blipFill>
        <p:spPr bwMode="auto">
          <a:xfrm>
            <a:off x="1331640" y="4005064"/>
            <a:ext cx="6096000" cy="2066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000" b="1" dirty="0" smtClean="0">
                <a:solidFill>
                  <a:srgbClr val="FF0000"/>
                </a:solidFill>
                <a:latin typeface="Arial" pitchFamily="34" charset="0"/>
                <a:cs typeface="Arial" pitchFamily="34" charset="0"/>
              </a:rPr>
              <a:t>2.   ALTERNATIVA DE ACESSOS</a:t>
            </a:r>
            <a:r>
              <a:rPr lang="pt-PT" altLang="pt-PT" b="1" dirty="0" smtClean="0">
                <a:solidFill>
                  <a:srgbClr val="FF0000"/>
                </a:solidFill>
              </a:rPr>
              <a:t/>
            </a:r>
            <a:br>
              <a:rPr lang="pt-PT" altLang="pt-PT" b="1" dirty="0" smtClean="0">
                <a:solidFill>
                  <a:srgbClr val="FF0000"/>
                </a:solidFill>
              </a:rPr>
            </a:br>
            <a:endParaRPr lang="pt-PT" dirty="0"/>
          </a:p>
        </p:txBody>
      </p:sp>
      <p:sp>
        <p:nvSpPr>
          <p:cNvPr id="3" name="Marcador de Posição de Conteúdo 2"/>
          <p:cNvSpPr>
            <a:spLocks noGrp="1"/>
          </p:cNvSpPr>
          <p:nvPr>
            <p:ph sz="quarter" idx="1"/>
          </p:nvPr>
        </p:nvSpPr>
        <p:spPr>
          <a:xfrm>
            <a:off x="0" y="1447800"/>
            <a:ext cx="9144000" cy="4572000"/>
          </a:xfrm>
        </p:spPr>
        <p:txBody>
          <a:bodyPr>
            <a:normAutofit/>
          </a:bodyPr>
          <a:lstStyle/>
          <a:p>
            <a:pPr algn="just">
              <a:buNone/>
            </a:pPr>
            <a:r>
              <a:rPr lang="pt-PT" altLang="pt-PT" sz="1800" dirty="0" smtClean="0">
                <a:solidFill>
                  <a:srgbClr val="FF0000"/>
                </a:solidFill>
                <a:latin typeface="Arial" pitchFamily="34" charset="0"/>
                <a:cs typeface="Arial" pitchFamily="34" charset="0"/>
              </a:rPr>
              <a:t>    </a:t>
            </a:r>
            <a:endParaRPr lang="pt-PT" altLang="pt-PT" sz="1800" b="1" dirty="0" smtClean="0">
              <a:latin typeface="Arial" pitchFamily="34" charset="0"/>
              <a:cs typeface="Arial" pitchFamily="34" charset="0"/>
            </a:endParaRPr>
          </a:p>
          <a:p>
            <a:pPr algn="just">
              <a:buNone/>
            </a:pPr>
            <a:endParaRPr lang="pt-PT" altLang="pt-PT" sz="1800" dirty="0" smtClean="0">
              <a:latin typeface="Arial" pitchFamily="34" charset="0"/>
              <a:cs typeface="Arial" pitchFamily="34" charset="0"/>
            </a:endParaRPr>
          </a:p>
          <a:p>
            <a:pPr algn="just">
              <a:buNone/>
            </a:pPr>
            <a:endParaRPr lang="pt-PT" dirty="0">
              <a:solidFill>
                <a:srgbClr val="FF0000"/>
              </a:solidFill>
            </a:endParaRPr>
          </a:p>
        </p:txBody>
      </p:sp>
      <p:sp>
        <p:nvSpPr>
          <p:cNvPr id="4" name="Rectângulo 3"/>
          <p:cNvSpPr/>
          <p:nvPr/>
        </p:nvSpPr>
        <p:spPr>
          <a:xfrm>
            <a:off x="971600" y="1052736"/>
            <a:ext cx="4572000" cy="1569660"/>
          </a:xfrm>
          <a:prstGeom prst="rect">
            <a:avLst/>
          </a:prstGeom>
        </p:spPr>
        <p:txBody>
          <a:bodyPr>
            <a:spAutoFit/>
          </a:bodyPr>
          <a:lstStyle/>
          <a:p>
            <a:r>
              <a:rPr lang="pt-PT" sz="2400" dirty="0" smtClean="0"/>
              <a:t>• Par trançado</a:t>
            </a:r>
          </a:p>
          <a:p>
            <a:r>
              <a:rPr lang="pt-PT" sz="2400" dirty="0" smtClean="0"/>
              <a:t>• Fibra/coaxial - Fibra/cobre</a:t>
            </a:r>
          </a:p>
          <a:p>
            <a:r>
              <a:rPr lang="pt-PT" sz="2400" dirty="0" smtClean="0"/>
              <a:t>• Wireless</a:t>
            </a:r>
          </a:p>
          <a:p>
            <a:r>
              <a:rPr lang="pt-PT" sz="2400" dirty="0" smtClean="0"/>
              <a:t>• Fibra</a:t>
            </a:r>
            <a:endParaRPr lang="pt-PT" sz="2400" dirty="0"/>
          </a:p>
        </p:txBody>
      </p:sp>
      <p:pic>
        <p:nvPicPr>
          <p:cNvPr id="2050" name="Picture 2"/>
          <p:cNvPicPr>
            <a:picLocks noChangeAspect="1" noChangeArrowheads="1"/>
          </p:cNvPicPr>
          <p:nvPr/>
        </p:nvPicPr>
        <p:blipFill>
          <a:blip r:embed="rId2" cstate="print"/>
          <a:srcRect/>
          <a:stretch>
            <a:fillRect/>
          </a:stretch>
        </p:blipFill>
        <p:spPr bwMode="auto">
          <a:xfrm>
            <a:off x="971600" y="2636912"/>
            <a:ext cx="5505450" cy="33432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000" b="1" dirty="0" smtClean="0">
                <a:solidFill>
                  <a:srgbClr val="FF0000"/>
                </a:solidFill>
                <a:latin typeface="Arial" pitchFamily="34" charset="0"/>
                <a:cs typeface="Arial" pitchFamily="34" charset="0"/>
              </a:rPr>
              <a:t> ALTERNATIVA DE ACESSOS </a:t>
            </a:r>
            <a:r>
              <a:rPr lang="pt-PT" altLang="pt-PT" b="1" dirty="0" smtClean="0">
                <a:solidFill>
                  <a:srgbClr val="FF0000"/>
                </a:solidFill>
              </a:rPr>
              <a:t/>
            </a:r>
            <a:br>
              <a:rPr lang="pt-PT" altLang="pt-PT" b="1" dirty="0" smtClean="0">
                <a:solidFill>
                  <a:srgbClr val="FF0000"/>
                </a:solidFill>
              </a:rPr>
            </a:br>
            <a:endParaRPr lang="pt-PT" dirty="0"/>
          </a:p>
        </p:txBody>
      </p:sp>
      <p:sp>
        <p:nvSpPr>
          <p:cNvPr id="8" name="Marcador de Posição de Conteúdo 7"/>
          <p:cNvSpPr>
            <a:spLocks noGrp="1"/>
          </p:cNvSpPr>
          <p:nvPr>
            <p:ph sz="quarter" idx="1"/>
          </p:nvPr>
        </p:nvSpPr>
        <p:spPr>
          <a:xfrm>
            <a:off x="827584" y="1124744"/>
            <a:ext cx="7772400" cy="4572000"/>
          </a:xfrm>
        </p:spPr>
        <p:txBody>
          <a:bodyPr>
            <a:normAutofit fontScale="77500" lnSpcReduction="20000"/>
          </a:bodyPr>
          <a:lstStyle/>
          <a:p>
            <a:r>
              <a:rPr lang="pt-PT" b="1" dirty="0" smtClean="0"/>
              <a:t>WLL</a:t>
            </a:r>
            <a:r>
              <a:rPr lang="pt-PT" dirty="0" smtClean="0"/>
              <a:t> - Wireless Local </a:t>
            </a:r>
            <a:r>
              <a:rPr lang="pt-PT" dirty="0" err="1" smtClean="0"/>
              <a:t>Loop</a:t>
            </a:r>
            <a:endParaRPr lang="pt-PT" dirty="0" smtClean="0"/>
          </a:p>
          <a:p>
            <a:r>
              <a:rPr lang="pt-PT" b="1" dirty="0" smtClean="0"/>
              <a:t>PCS</a:t>
            </a:r>
            <a:r>
              <a:rPr lang="pt-PT" dirty="0" smtClean="0"/>
              <a:t> - </a:t>
            </a:r>
            <a:r>
              <a:rPr lang="pt-PT" dirty="0" err="1" smtClean="0"/>
              <a:t>Personal</a:t>
            </a:r>
            <a:r>
              <a:rPr lang="pt-PT" dirty="0" smtClean="0"/>
              <a:t> </a:t>
            </a:r>
            <a:r>
              <a:rPr lang="pt-PT" dirty="0" err="1" smtClean="0"/>
              <a:t>Communication</a:t>
            </a:r>
            <a:r>
              <a:rPr lang="pt-PT" dirty="0" smtClean="0"/>
              <a:t> </a:t>
            </a:r>
            <a:r>
              <a:rPr lang="pt-PT" dirty="0" err="1" smtClean="0"/>
              <a:t>Services</a:t>
            </a:r>
            <a:endParaRPr lang="pt-PT" dirty="0" smtClean="0"/>
          </a:p>
          <a:p>
            <a:r>
              <a:rPr lang="fr-FR" b="1" dirty="0" smtClean="0"/>
              <a:t>MMDS</a:t>
            </a:r>
            <a:r>
              <a:rPr lang="fr-FR" dirty="0" smtClean="0"/>
              <a:t> - Multipoint </a:t>
            </a:r>
            <a:r>
              <a:rPr lang="fr-FR" dirty="0" err="1" smtClean="0"/>
              <a:t>Multichannel</a:t>
            </a:r>
            <a:r>
              <a:rPr lang="fr-FR" dirty="0" smtClean="0"/>
              <a:t> Distribution System</a:t>
            </a:r>
          </a:p>
          <a:p>
            <a:r>
              <a:rPr lang="pt-PT" b="1" dirty="0" smtClean="0"/>
              <a:t>HFC</a:t>
            </a:r>
            <a:r>
              <a:rPr lang="pt-PT" dirty="0" smtClean="0"/>
              <a:t> - </a:t>
            </a:r>
            <a:r>
              <a:rPr lang="pt-PT" dirty="0" err="1" smtClean="0"/>
              <a:t>Hybrid</a:t>
            </a:r>
            <a:r>
              <a:rPr lang="pt-PT" dirty="0" smtClean="0"/>
              <a:t> </a:t>
            </a:r>
            <a:r>
              <a:rPr lang="pt-PT" dirty="0" err="1" smtClean="0"/>
              <a:t>Fiber</a:t>
            </a:r>
            <a:r>
              <a:rPr lang="pt-PT" dirty="0" smtClean="0"/>
              <a:t>-Coaxial</a:t>
            </a:r>
          </a:p>
          <a:p>
            <a:r>
              <a:rPr lang="pt-PT" b="1" dirty="0" err="1" smtClean="0"/>
              <a:t>HFCop</a:t>
            </a:r>
            <a:r>
              <a:rPr lang="pt-PT" dirty="0" smtClean="0"/>
              <a:t> - </a:t>
            </a:r>
            <a:r>
              <a:rPr lang="pt-PT" dirty="0" err="1" smtClean="0"/>
              <a:t>Hybrid</a:t>
            </a:r>
            <a:r>
              <a:rPr lang="pt-PT" dirty="0" smtClean="0"/>
              <a:t> </a:t>
            </a:r>
            <a:r>
              <a:rPr lang="pt-PT" dirty="0" err="1" smtClean="0"/>
              <a:t>Fiber-Copper</a:t>
            </a:r>
            <a:endParaRPr lang="pt-PT" dirty="0" smtClean="0"/>
          </a:p>
          <a:p>
            <a:r>
              <a:rPr lang="pt-PT" b="1" dirty="0" smtClean="0"/>
              <a:t>SDH</a:t>
            </a:r>
            <a:r>
              <a:rPr lang="pt-PT" dirty="0" smtClean="0"/>
              <a:t> - </a:t>
            </a:r>
            <a:r>
              <a:rPr lang="pt-PT" dirty="0" err="1" smtClean="0"/>
              <a:t>Synchronous</a:t>
            </a:r>
            <a:r>
              <a:rPr lang="pt-PT" dirty="0" smtClean="0"/>
              <a:t> Digital </a:t>
            </a:r>
            <a:r>
              <a:rPr lang="pt-PT" dirty="0" err="1" smtClean="0"/>
              <a:t>Hierarchy</a:t>
            </a:r>
            <a:endParaRPr lang="pt-PT" dirty="0" smtClean="0"/>
          </a:p>
          <a:p>
            <a:r>
              <a:rPr lang="pt-PT" b="1" dirty="0" smtClean="0"/>
              <a:t>PON</a:t>
            </a:r>
            <a:r>
              <a:rPr lang="pt-PT" dirty="0" smtClean="0"/>
              <a:t> - Passive </a:t>
            </a:r>
            <a:r>
              <a:rPr lang="pt-PT" dirty="0" err="1" smtClean="0"/>
              <a:t>Optical</a:t>
            </a:r>
            <a:r>
              <a:rPr lang="pt-PT" dirty="0" smtClean="0"/>
              <a:t> Network</a:t>
            </a:r>
          </a:p>
          <a:p>
            <a:r>
              <a:rPr lang="pt-PT" b="1" dirty="0" smtClean="0"/>
              <a:t>VBD </a:t>
            </a:r>
            <a:r>
              <a:rPr lang="pt-PT" dirty="0" smtClean="0"/>
              <a:t>- </a:t>
            </a:r>
            <a:r>
              <a:rPr lang="pt-PT" dirty="0" err="1" smtClean="0"/>
              <a:t>Voice</a:t>
            </a:r>
            <a:r>
              <a:rPr lang="pt-PT" dirty="0" smtClean="0"/>
              <a:t> </a:t>
            </a:r>
            <a:r>
              <a:rPr lang="pt-PT" dirty="0" err="1" smtClean="0"/>
              <a:t>Band</a:t>
            </a:r>
            <a:r>
              <a:rPr lang="pt-PT" dirty="0" smtClean="0"/>
              <a:t> Data</a:t>
            </a:r>
          </a:p>
          <a:p>
            <a:r>
              <a:rPr lang="en-US" b="1" dirty="0" smtClean="0"/>
              <a:t>ISDN</a:t>
            </a:r>
            <a:r>
              <a:rPr lang="en-US" dirty="0" smtClean="0"/>
              <a:t> - Integrated Service Digital Network</a:t>
            </a:r>
          </a:p>
          <a:p>
            <a:r>
              <a:rPr lang="pt-PT" b="1" dirty="0" err="1" smtClean="0"/>
              <a:t>xDSL</a:t>
            </a:r>
            <a:r>
              <a:rPr lang="pt-PT" dirty="0" smtClean="0"/>
              <a:t> - Digital </a:t>
            </a:r>
            <a:r>
              <a:rPr lang="pt-PT" dirty="0" err="1" smtClean="0"/>
              <a:t>Subscriber</a:t>
            </a:r>
            <a:r>
              <a:rPr lang="pt-PT" dirty="0" smtClean="0"/>
              <a:t> </a:t>
            </a:r>
            <a:r>
              <a:rPr lang="pt-PT" dirty="0" err="1" smtClean="0"/>
              <a:t>Line</a:t>
            </a:r>
            <a:endParaRPr lang="pt-PT" dirty="0" smtClean="0"/>
          </a:p>
          <a:p>
            <a:r>
              <a:rPr lang="pt-PT" b="1" dirty="0" smtClean="0"/>
              <a:t>x=H </a:t>
            </a:r>
            <a:r>
              <a:rPr lang="pt-PT" dirty="0" smtClean="0"/>
              <a:t>=&gt; </a:t>
            </a:r>
            <a:r>
              <a:rPr lang="pt-PT" dirty="0" err="1" smtClean="0"/>
              <a:t>High</a:t>
            </a:r>
            <a:r>
              <a:rPr lang="pt-PT" dirty="0" smtClean="0"/>
              <a:t> bit rate</a:t>
            </a:r>
          </a:p>
          <a:p>
            <a:r>
              <a:rPr lang="pt-PT" b="1" dirty="0" smtClean="0"/>
              <a:t>x=S</a:t>
            </a:r>
            <a:r>
              <a:rPr lang="pt-PT" dirty="0" smtClean="0"/>
              <a:t> =&gt; Single </a:t>
            </a:r>
            <a:r>
              <a:rPr lang="pt-PT" dirty="0" err="1" smtClean="0"/>
              <a:t>line</a:t>
            </a:r>
            <a:endParaRPr lang="pt-PT" dirty="0" smtClean="0"/>
          </a:p>
          <a:p>
            <a:r>
              <a:rPr lang="pt-PT" b="1" dirty="0" smtClean="0"/>
              <a:t>x=A</a:t>
            </a:r>
            <a:r>
              <a:rPr lang="pt-PT" dirty="0" smtClean="0"/>
              <a:t> =&gt; </a:t>
            </a:r>
            <a:r>
              <a:rPr lang="pt-PT" dirty="0" err="1" smtClean="0"/>
              <a:t>Asymmetric</a:t>
            </a:r>
            <a:endParaRPr lang="pt-PT" dirty="0" smtClean="0"/>
          </a:p>
          <a:p>
            <a:r>
              <a:rPr lang="pt-PT" b="1" dirty="0" smtClean="0"/>
              <a:t>x=V</a:t>
            </a:r>
            <a:r>
              <a:rPr lang="pt-PT" dirty="0" smtClean="0"/>
              <a:t> =&gt; </a:t>
            </a:r>
            <a:r>
              <a:rPr lang="pt-PT" dirty="0" err="1" smtClean="0"/>
              <a:t>Very</a:t>
            </a:r>
            <a:r>
              <a:rPr lang="pt-PT" dirty="0" smtClean="0"/>
              <a:t> </a:t>
            </a:r>
            <a:r>
              <a:rPr lang="pt-PT" dirty="0" err="1" smtClean="0"/>
              <a:t>high</a:t>
            </a:r>
            <a:endParaRPr lang="pt-PT"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332656"/>
            <a:ext cx="7772400" cy="1008112"/>
          </a:xfrm>
        </p:spPr>
        <p:txBody>
          <a:bodyPr>
            <a:normAutofit fontScale="90000"/>
          </a:bodyPr>
          <a:lstStyle/>
          <a:p>
            <a:r>
              <a:rPr lang="pt-PT" altLang="pt-PT" sz="2000" b="1" dirty="0" smtClean="0">
                <a:solidFill>
                  <a:srgbClr val="FF0000"/>
                </a:solidFill>
                <a:latin typeface="Arial" pitchFamily="34" charset="0"/>
                <a:cs typeface="Arial" pitchFamily="34" charset="0"/>
              </a:rPr>
              <a:t>       REDE DE ACESSO – TELEFONIA FIXA</a:t>
            </a:r>
            <a:r>
              <a:rPr lang="pt-PT" altLang="pt-PT" b="1" dirty="0" smtClean="0">
                <a:solidFill>
                  <a:srgbClr val="FF0000"/>
                </a:solidFill>
              </a:rPr>
              <a:t/>
            </a:r>
            <a:br>
              <a:rPr lang="pt-PT" altLang="pt-PT" b="1" dirty="0" smtClean="0">
                <a:solidFill>
                  <a:srgbClr val="FF0000"/>
                </a:solidFill>
              </a:rPr>
            </a:br>
            <a:endParaRPr lang="pt-PT" dirty="0"/>
          </a:p>
        </p:txBody>
      </p:sp>
      <p:sp>
        <p:nvSpPr>
          <p:cNvPr id="3" name="Marcador de Posição de Conteúdo 2"/>
          <p:cNvSpPr>
            <a:spLocks noGrp="1"/>
          </p:cNvSpPr>
          <p:nvPr>
            <p:ph sz="quarter" idx="1"/>
          </p:nvPr>
        </p:nvSpPr>
        <p:spPr>
          <a:xfrm>
            <a:off x="914400" y="980728"/>
            <a:ext cx="7772400" cy="360040"/>
          </a:xfrm>
        </p:spPr>
        <p:txBody>
          <a:bodyPr>
            <a:normAutofit fontScale="25000" lnSpcReduction="20000"/>
          </a:bodyPr>
          <a:lstStyle/>
          <a:p>
            <a:pPr>
              <a:buNone/>
            </a:pPr>
            <a:endParaRPr lang="pt-PT" sz="8000" dirty="0">
              <a:latin typeface="Arial" pitchFamily="34" charset="0"/>
              <a:cs typeface="Arial" pitchFamily="34" charset="0"/>
            </a:endParaRPr>
          </a:p>
        </p:txBody>
      </p:sp>
      <p:pic>
        <p:nvPicPr>
          <p:cNvPr id="3074" name="Picture 2"/>
          <p:cNvPicPr>
            <a:picLocks noChangeAspect="1" noChangeArrowheads="1"/>
          </p:cNvPicPr>
          <p:nvPr/>
        </p:nvPicPr>
        <p:blipFill>
          <a:blip r:embed="rId3" cstate="print"/>
          <a:srcRect/>
          <a:stretch>
            <a:fillRect/>
          </a:stretch>
        </p:blipFill>
        <p:spPr bwMode="auto">
          <a:xfrm>
            <a:off x="611560" y="836712"/>
            <a:ext cx="8136904" cy="554461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noGrp="1"/>
          </p:cNvSpPr>
          <p:nvPr>
            <p:ph type="title"/>
          </p:nvPr>
        </p:nvSpPr>
        <p:spPr bwMode="auto">
          <a:prstGeom prst="rect">
            <a:avLst/>
          </a:prstGeom>
          <a:noFill/>
          <a:ln w="9525">
            <a:noFill/>
            <a:miter lim="800000"/>
            <a:headEnd/>
            <a:tailEnd/>
          </a:ln>
        </p:spPr>
        <p:txBody>
          <a:bodyPr anchor="ctr"/>
          <a:lstStyle/>
          <a:p>
            <a:pPr algn="ctr" eaLnBrk="1" hangingPunct="1"/>
            <a:r>
              <a:rPr lang="pt-PT" altLang="pt-PT" sz="2000" b="1" dirty="0" smtClean="0">
                <a:solidFill>
                  <a:srgbClr val="FF0000"/>
                </a:solidFill>
                <a:latin typeface="Arial" pitchFamily="34" charset="0"/>
                <a:cs typeface="Arial" pitchFamily="34" charset="0"/>
              </a:rPr>
              <a:t> EVOLUÇÃO DA REDE TELEFÔNICA EXTERNA</a:t>
            </a:r>
            <a:endParaRPr lang="pt-PT" altLang="pt-PT" sz="2000" b="1" dirty="0">
              <a:solidFill>
                <a:srgbClr val="FF0000"/>
              </a:solidFill>
              <a:latin typeface="Arial" pitchFamily="34" charset="0"/>
              <a:cs typeface="Arial" pitchFamily="34" charset="0"/>
            </a:endParaRPr>
          </a:p>
        </p:txBody>
      </p:sp>
      <p:sp>
        <p:nvSpPr>
          <p:cNvPr id="6" name="Marcador de Posição de Conteúdo 5"/>
          <p:cNvSpPr>
            <a:spLocks noGrp="1"/>
          </p:cNvSpPr>
          <p:nvPr>
            <p:ph sz="quarter" idx="1"/>
          </p:nvPr>
        </p:nvSpPr>
        <p:spPr/>
        <p:txBody>
          <a:bodyPr/>
          <a:lstStyle/>
          <a:p>
            <a:endParaRPr lang="pt-PT"/>
          </a:p>
        </p:txBody>
      </p:sp>
      <p:pic>
        <p:nvPicPr>
          <p:cNvPr id="4098" name="Picture 2"/>
          <p:cNvPicPr>
            <a:picLocks noChangeAspect="1" noChangeArrowheads="1"/>
          </p:cNvPicPr>
          <p:nvPr/>
        </p:nvPicPr>
        <p:blipFill>
          <a:blip r:embed="rId2" cstate="print"/>
          <a:srcRect/>
          <a:stretch>
            <a:fillRect/>
          </a:stretch>
        </p:blipFill>
        <p:spPr bwMode="auto">
          <a:xfrm>
            <a:off x="395536" y="1409700"/>
            <a:ext cx="8424936" cy="48996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000" b="1" dirty="0" smtClean="0">
                <a:solidFill>
                  <a:srgbClr val="FF0000"/>
                </a:solidFill>
                <a:latin typeface="Arial" pitchFamily="34" charset="0"/>
                <a:cs typeface="Arial" pitchFamily="34" charset="0"/>
              </a:rPr>
              <a:t>REDES DE ACESSO</a:t>
            </a:r>
            <a:r>
              <a:rPr lang="pt-PT" altLang="pt-PT" b="1" dirty="0" smtClean="0">
                <a:solidFill>
                  <a:srgbClr val="FF0000"/>
                </a:solidFill>
              </a:rPr>
              <a:t/>
            </a:r>
            <a:br>
              <a:rPr lang="pt-PT" altLang="pt-PT" b="1" dirty="0" smtClean="0">
                <a:solidFill>
                  <a:srgbClr val="FF0000"/>
                </a:solidFill>
              </a:rPr>
            </a:br>
            <a:endParaRPr lang="pt-PT" dirty="0"/>
          </a:p>
        </p:txBody>
      </p:sp>
      <p:sp>
        <p:nvSpPr>
          <p:cNvPr id="5" name="Marcador de Posição de Conteúdo 4"/>
          <p:cNvSpPr>
            <a:spLocks noGrp="1"/>
          </p:cNvSpPr>
          <p:nvPr>
            <p:ph sz="quarter" idx="1"/>
          </p:nvPr>
        </p:nvSpPr>
        <p:spPr>
          <a:xfrm>
            <a:off x="899592" y="1124744"/>
            <a:ext cx="7772400" cy="4572000"/>
          </a:xfrm>
        </p:spPr>
        <p:txBody>
          <a:bodyPr>
            <a:normAutofit fontScale="92500"/>
          </a:bodyPr>
          <a:lstStyle/>
          <a:p>
            <a:pPr>
              <a:buFont typeface="Wingdings" pitchFamily="2" charset="2"/>
              <a:buChar char="q"/>
            </a:pPr>
            <a:r>
              <a:rPr lang="pt-PT" dirty="0" smtClean="0"/>
              <a:t>Para sinais na faixa de voz (f ≤ 4Khz), o par metálico sem tratamento (pupinização) pode ter um  comprimento de até 5,5Kms.</a:t>
            </a:r>
          </a:p>
          <a:p>
            <a:pPr>
              <a:buFont typeface="Wingdings" pitchFamily="2" charset="2"/>
              <a:buChar char="q"/>
            </a:pPr>
            <a:r>
              <a:rPr lang="pt-PT" dirty="0" smtClean="0"/>
              <a:t>Para aumentar o alcance, as companhias telefônicas adotaram duas soluções:</a:t>
            </a:r>
          </a:p>
          <a:p>
            <a:pPr>
              <a:buNone/>
            </a:pPr>
            <a:r>
              <a:rPr lang="pt-PT" dirty="0" smtClean="0"/>
              <a:t>– Tratamento (pupinização) da linha, que consiste em modificar as características elétricas da linha permitindo melhor qualidade na transmissão de sinais na frequência de voz;</a:t>
            </a:r>
          </a:p>
          <a:p>
            <a:pPr>
              <a:buNone/>
            </a:pPr>
            <a:r>
              <a:rPr lang="pt-PT" dirty="0" smtClean="0"/>
              <a:t>– Utilização de estágios remotos (concentradores) com capacidade ou não de comutação local. A conexão entre o estágio remoto e a central é feita via T1/E1, baseado em par metálico ou fibra </a:t>
            </a:r>
            <a:r>
              <a:rPr lang="pt-PT" dirty="0" err="1" smtClean="0"/>
              <a:t>óptica</a:t>
            </a:r>
            <a:r>
              <a:rPr lang="pt-PT" dirty="0" smtClean="0"/>
              <a:t>.</a:t>
            </a:r>
            <a:endParaRPr lang="pt-PT"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PT" altLang="pt-PT" sz="3100" b="1" dirty="0" smtClean="0">
                <a:solidFill>
                  <a:srgbClr val="FF0000"/>
                </a:solidFill>
                <a:latin typeface="Arial" pitchFamily="34" charset="0"/>
                <a:cs typeface="Arial" pitchFamily="34" charset="0"/>
              </a:rPr>
              <a:t>PARÂMETROS DA LINHA TELEFÔNICA</a:t>
            </a:r>
            <a:r>
              <a:rPr lang="pt-PT" altLang="pt-PT" b="1" dirty="0" smtClean="0">
                <a:solidFill>
                  <a:srgbClr val="FF0000"/>
                </a:solidFill>
              </a:rPr>
              <a:t/>
            </a:r>
            <a:br>
              <a:rPr lang="pt-PT" altLang="pt-PT" b="1" dirty="0" smtClean="0">
                <a:solidFill>
                  <a:srgbClr val="FF0000"/>
                </a:solidFill>
              </a:rPr>
            </a:br>
            <a:endParaRPr lang="pt-PT" dirty="0"/>
          </a:p>
        </p:txBody>
      </p:sp>
      <p:sp>
        <p:nvSpPr>
          <p:cNvPr id="3" name="Marcador de Posição de Conteúdo 2"/>
          <p:cNvSpPr>
            <a:spLocks noGrp="1"/>
          </p:cNvSpPr>
          <p:nvPr>
            <p:ph sz="quarter" idx="1"/>
          </p:nvPr>
        </p:nvSpPr>
        <p:spPr>
          <a:xfrm>
            <a:off x="395536" y="980728"/>
            <a:ext cx="8568952" cy="4572000"/>
          </a:xfrm>
        </p:spPr>
        <p:txBody>
          <a:bodyPr>
            <a:normAutofit fontScale="77500" lnSpcReduction="20000"/>
          </a:bodyPr>
          <a:lstStyle/>
          <a:p>
            <a:pPr>
              <a:buFont typeface="Wingdings" pitchFamily="2" charset="2"/>
              <a:buChar char="q"/>
            </a:pPr>
            <a:r>
              <a:rPr lang="pt-PT" sz="2800" dirty="0" smtClean="0"/>
              <a:t>Parâmetros Primários</a:t>
            </a:r>
          </a:p>
          <a:p>
            <a:pPr>
              <a:buNone/>
            </a:pPr>
            <a:r>
              <a:rPr lang="pt-PT" sz="2800" dirty="0" smtClean="0"/>
              <a:t>– Resistência </a:t>
            </a:r>
            <a:r>
              <a:rPr lang="pt-PT" sz="2800" dirty="0" err="1" smtClean="0"/>
              <a:t>ôhmica</a:t>
            </a:r>
            <a:r>
              <a:rPr lang="pt-PT" sz="2800" dirty="0" smtClean="0"/>
              <a:t> dos condutores (R)-depende da bitola e varia com a distância</a:t>
            </a:r>
          </a:p>
          <a:p>
            <a:pPr>
              <a:buNone/>
            </a:pPr>
            <a:r>
              <a:rPr lang="pt-PT" sz="2800" dirty="0" smtClean="0"/>
              <a:t>– Indutância do condutores (L) - depende da frequência e varia com a distância</a:t>
            </a:r>
          </a:p>
          <a:p>
            <a:pPr>
              <a:buNone/>
            </a:pPr>
            <a:r>
              <a:rPr lang="pt-PT" sz="2800" dirty="0" smtClean="0"/>
              <a:t>– Capacitância dos condutores (C) - depende do material utilizado para isolar os condutores (papel, plástico) e varia com a distância</a:t>
            </a:r>
          </a:p>
          <a:p>
            <a:pPr>
              <a:buNone/>
            </a:pPr>
            <a:r>
              <a:rPr lang="pt-PT" sz="2800" dirty="0" smtClean="0"/>
              <a:t>– Condutância ou resistência de isolamento entre condutores (G) - depende do material utilizado para isolar os condutores, varia com a distância e a frequência</a:t>
            </a:r>
          </a:p>
          <a:p>
            <a:pPr>
              <a:buFont typeface="Wingdings" pitchFamily="2" charset="2"/>
              <a:buChar char="q"/>
            </a:pPr>
            <a:r>
              <a:rPr lang="pt-PT" sz="2800" dirty="0" smtClean="0"/>
              <a:t> Parâmetros Secundários (função dos parâmetros primários)</a:t>
            </a:r>
          </a:p>
          <a:p>
            <a:pPr>
              <a:buNone/>
            </a:pPr>
            <a:r>
              <a:rPr lang="pt-PT" sz="2800" dirty="0" smtClean="0"/>
              <a:t>– Impedância característica</a:t>
            </a:r>
          </a:p>
          <a:p>
            <a:pPr>
              <a:buNone/>
            </a:pPr>
            <a:r>
              <a:rPr lang="pt-PT" sz="2800" dirty="0" smtClean="0"/>
              <a:t>– Constante de propagação (atenuação e fase)</a:t>
            </a:r>
          </a:p>
          <a:p>
            <a:pPr>
              <a:buNone/>
            </a:pPr>
            <a:r>
              <a:rPr lang="pt-PT" sz="2800" dirty="0" smtClean="0"/>
              <a:t>– velocidade de propagação</a:t>
            </a:r>
          </a:p>
          <a:p>
            <a:pPr>
              <a:buNone/>
            </a:pPr>
            <a:endParaRPr lang="pt-PT" dirty="0"/>
          </a:p>
        </p:txBody>
      </p:sp>
      <p:pic>
        <p:nvPicPr>
          <p:cNvPr id="4" name="Picture 2"/>
          <p:cNvPicPr>
            <a:picLocks noChangeAspect="1" noChangeArrowheads="1"/>
          </p:cNvPicPr>
          <p:nvPr/>
        </p:nvPicPr>
        <p:blipFill>
          <a:blip r:embed="rId2" cstate="print"/>
          <a:srcRect/>
          <a:stretch>
            <a:fillRect/>
          </a:stretch>
        </p:blipFill>
        <p:spPr bwMode="auto">
          <a:xfrm>
            <a:off x="1187624" y="4941168"/>
            <a:ext cx="6115050" cy="141922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000" b="1" dirty="0" smtClean="0">
                <a:solidFill>
                  <a:srgbClr val="FF0000"/>
                </a:solidFill>
                <a:latin typeface="Arial" pitchFamily="34" charset="0"/>
                <a:cs typeface="Arial" pitchFamily="34" charset="0"/>
              </a:rPr>
              <a:t>REDE DE ACESSO</a:t>
            </a:r>
            <a:r>
              <a:rPr lang="pt-PT" altLang="pt-PT" b="1" dirty="0" smtClean="0">
                <a:solidFill>
                  <a:srgbClr val="FF0000"/>
                </a:solidFill>
              </a:rPr>
              <a:t/>
            </a:r>
            <a:br>
              <a:rPr lang="pt-PT" altLang="pt-PT" b="1" dirty="0" smtClean="0">
                <a:solidFill>
                  <a:srgbClr val="FF0000"/>
                </a:solidFill>
              </a:rPr>
            </a:br>
            <a:endParaRPr lang="pt-PT" dirty="0"/>
          </a:p>
        </p:txBody>
      </p:sp>
      <p:sp>
        <p:nvSpPr>
          <p:cNvPr id="5" name="Marcador de Posição de Conteúdo 4"/>
          <p:cNvSpPr>
            <a:spLocks noGrp="1"/>
          </p:cNvSpPr>
          <p:nvPr>
            <p:ph sz="quarter" idx="1"/>
          </p:nvPr>
        </p:nvSpPr>
        <p:spPr/>
        <p:txBody>
          <a:bodyPr/>
          <a:lstStyle/>
          <a:p>
            <a:endParaRPr lang="pt-PT"/>
          </a:p>
        </p:txBody>
      </p:sp>
      <p:pic>
        <p:nvPicPr>
          <p:cNvPr id="5122" name="Picture 2"/>
          <p:cNvPicPr>
            <a:picLocks noChangeAspect="1" noChangeArrowheads="1"/>
          </p:cNvPicPr>
          <p:nvPr/>
        </p:nvPicPr>
        <p:blipFill>
          <a:blip r:embed="rId3" cstate="print"/>
          <a:srcRect/>
          <a:stretch>
            <a:fillRect/>
          </a:stretch>
        </p:blipFill>
        <p:spPr bwMode="auto">
          <a:xfrm>
            <a:off x="611560" y="836712"/>
            <a:ext cx="8208912" cy="511256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EVOLUÇÃO DA REDE TELEFÔNICA EXTERNA</a:t>
            </a:r>
            <a:r>
              <a:rPr lang="pt-PT" altLang="pt-PT" b="1" dirty="0" smtClean="0">
                <a:solidFill>
                  <a:srgbClr val="FF0000"/>
                </a:solidFill>
              </a:rPr>
              <a:t/>
            </a:r>
            <a:br>
              <a:rPr lang="pt-PT" altLang="pt-PT" b="1" dirty="0" smtClean="0">
                <a:solidFill>
                  <a:srgbClr val="FF0000"/>
                </a:solidFill>
              </a:rPr>
            </a:br>
            <a:endParaRPr lang="pt-PT" dirty="0"/>
          </a:p>
        </p:txBody>
      </p:sp>
      <p:sp>
        <p:nvSpPr>
          <p:cNvPr id="5" name="Marcador de Posição de Conteúdo 4"/>
          <p:cNvSpPr>
            <a:spLocks noGrp="1"/>
          </p:cNvSpPr>
          <p:nvPr>
            <p:ph sz="quarter" idx="1"/>
          </p:nvPr>
        </p:nvSpPr>
        <p:spPr/>
        <p:txBody>
          <a:bodyPr/>
          <a:lstStyle/>
          <a:p>
            <a:endParaRPr lang="pt-PT"/>
          </a:p>
        </p:txBody>
      </p:sp>
      <p:pic>
        <p:nvPicPr>
          <p:cNvPr id="1026" name="Picture 2"/>
          <p:cNvPicPr>
            <a:picLocks noChangeAspect="1" noChangeArrowheads="1"/>
          </p:cNvPicPr>
          <p:nvPr/>
        </p:nvPicPr>
        <p:blipFill>
          <a:blip r:embed="rId3" cstate="print"/>
          <a:srcRect/>
          <a:stretch>
            <a:fillRect/>
          </a:stretch>
        </p:blipFill>
        <p:spPr bwMode="auto">
          <a:xfrm>
            <a:off x="323528" y="908720"/>
            <a:ext cx="8424936" cy="532859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CONFIGURAÇÃO PONTO A PONTO</a:t>
            </a:r>
            <a:r>
              <a:rPr lang="pt-PT" altLang="pt-PT" b="1" dirty="0" smtClean="0">
                <a:solidFill>
                  <a:srgbClr val="FF0000"/>
                </a:solidFill>
              </a:rPr>
              <a:t/>
            </a:r>
            <a:br>
              <a:rPr lang="pt-PT" altLang="pt-PT" b="1" dirty="0" smtClean="0">
                <a:solidFill>
                  <a:srgbClr val="FF0000"/>
                </a:solidFill>
              </a:rPr>
            </a:br>
            <a:endParaRPr lang="pt-PT" dirty="0"/>
          </a:p>
        </p:txBody>
      </p:sp>
      <p:sp>
        <p:nvSpPr>
          <p:cNvPr id="5" name="Marcador de Posição de Conteúdo 4"/>
          <p:cNvSpPr>
            <a:spLocks noGrp="1"/>
          </p:cNvSpPr>
          <p:nvPr>
            <p:ph sz="quarter" idx="1"/>
          </p:nvPr>
        </p:nvSpPr>
        <p:spPr/>
        <p:txBody>
          <a:bodyPr/>
          <a:lstStyle/>
          <a:p>
            <a:endParaRPr lang="pt-PT"/>
          </a:p>
        </p:txBody>
      </p:sp>
      <p:pic>
        <p:nvPicPr>
          <p:cNvPr id="2050" name="Picture 2"/>
          <p:cNvPicPr>
            <a:picLocks noChangeAspect="1" noChangeArrowheads="1"/>
          </p:cNvPicPr>
          <p:nvPr/>
        </p:nvPicPr>
        <p:blipFill>
          <a:blip r:embed="rId2" cstate="print"/>
          <a:srcRect/>
          <a:stretch>
            <a:fillRect/>
          </a:stretch>
        </p:blipFill>
        <p:spPr bwMode="auto">
          <a:xfrm>
            <a:off x="539552" y="980729"/>
            <a:ext cx="8352928" cy="5400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CONFIGURAÇÃO EM BARRAMENTO</a:t>
            </a:r>
            <a:r>
              <a:rPr lang="pt-PT" altLang="pt-PT" b="1" dirty="0" smtClean="0">
                <a:solidFill>
                  <a:srgbClr val="FF0000"/>
                </a:solidFill>
              </a:rPr>
              <a:t/>
            </a:r>
            <a:br>
              <a:rPr lang="pt-PT" altLang="pt-PT" b="1" dirty="0" smtClean="0">
                <a:solidFill>
                  <a:srgbClr val="FF0000"/>
                </a:solidFill>
              </a:rPr>
            </a:br>
            <a:endParaRPr lang="pt-PT" dirty="0"/>
          </a:p>
        </p:txBody>
      </p:sp>
      <p:sp>
        <p:nvSpPr>
          <p:cNvPr id="5" name="Marcador de Posição de Conteúdo 4"/>
          <p:cNvSpPr>
            <a:spLocks noGrp="1"/>
          </p:cNvSpPr>
          <p:nvPr>
            <p:ph sz="quarter" idx="1"/>
          </p:nvPr>
        </p:nvSpPr>
        <p:spPr/>
        <p:txBody>
          <a:bodyPr/>
          <a:lstStyle/>
          <a:p>
            <a:endParaRPr lang="pt-PT"/>
          </a:p>
        </p:txBody>
      </p:sp>
      <p:pic>
        <p:nvPicPr>
          <p:cNvPr id="3074" name="Picture 2"/>
          <p:cNvPicPr>
            <a:picLocks noChangeAspect="1" noChangeArrowheads="1"/>
          </p:cNvPicPr>
          <p:nvPr/>
        </p:nvPicPr>
        <p:blipFill>
          <a:blip r:embed="rId2" cstate="print"/>
          <a:srcRect/>
          <a:stretch>
            <a:fillRect/>
          </a:stretch>
        </p:blipFill>
        <p:spPr bwMode="auto">
          <a:xfrm>
            <a:off x="323528" y="1124744"/>
            <a:ext cx="8640960" cy="51845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DESAFIOS </a:t>
            </a:r>
            <a:r>
              <a:rPr lang="pt-PT" altLang="pt-PT" b="1" dirty="0" smtClean="0">
                <a:solidFill>
                  <a:srgbClr val="FF0000"/>
                </a:solidFill>
              </a:rPr>
              <a:t/>
            </a:r>
            <a:br>
              <a:rPr lang="pt-PT" altLang="pt-PT" b="1" dirty="0" smtClean="0">
                <a:solidFill>
                  <a:srgbClr val="FF0000"/>
                </a:solidFill>
              </a:rPr>
            </a:br>
            <a:endParaRPr lang="pt-PT" dirty="0"/>
          </a:p>
        </p:txBody>
      </p:sp>
      <p:sp>
        <p:nvSpPr>
          <p:cNvPr id="3" name="Marcador de Posição de Conteúdo 2"/>
          <p:cNvSpPr>
            <a:spLocks noGrp="1"/>
          </p:cNvSpPr>
          <p:nvPr>
            <p:ph sz="quarter" idx="1"/>
          </p:nvPr>
        </p:nvSpPr>
        <p:spPr>
          <a:xfrm>
            <a:off x="914400" y="980728"/>
            <a:ext cx="7772400" cy="576064"/>
          </a:xfrm>
        </p:spPr>
        <p:txBody>
          <a:bodyPr>
            <a:normAutofit/>
          </a:bodyPr>
          <a:lstStyle/>
          <a:p>
            <a:pPr algn="just">
              <a:buNone/>
            </a:pPr>
            <a:r>
              <a:rPr lang="pt-PT" altLang="pt-PT" sz="1800" b="1" dirty="0" smtClean="0">
                <a:latin typeface="Arial" pitchFamily="34" charset="0"/>
                <a:cs typeface="Arial" pitchFamily="34" charset="0"/>
              </a:rPr>
              <a:t> </a:t>
            </a:r>
          </a:p>
          <a:p>
            <a:pPr>
              <a:buNone/>
            </a:pPr>
            <a:endParaRPr lang="pt-PT" dirty="0"/>
          </a:p>
        </p:txBody>
      </p:sp>
      <p:sp>
        <p:nvSpPr>
          <p:cNvPr id="6" name="Rectângulo 5"/>
          <p:cNvSpPr/>
          <p:nvPr/>
        </p:nvSpPr>
        <p:spPr>
          <a:xfrm>
            <a:off x="611560" y="751344"/>
            <a:ext cx="8136904" cy="4832092"/>
          </a:xfrm>
          <a:prstGeom prst="rect">
            <a:avLst/>
          </a:prstGeom>
        </p:spPr>
        <p:txBody>
          <a:bodyPr wrap="square">
            <a:spAutoFit/>
          </a:bodyPr>
          <a:lstStyle/>
          <a:p>
            <a:pPr algn="just">
              <a:buFont typeface="Wingdings" pitchFamily="2" charset="2"/>
              <a:buChar char="q"/>
            </a:pPr>
            <a:r>
              <a:rPr lang="pt-PT" dirty="0" smtClean="0"/>
              <a:t> </a:t>
            </a:r>
            <a:r>
              <a:rPr lang="pt-PT" sz="2800" dirty="0" smtClean="0"/>
              <a:t>O crescimento estimado em linhas de acesso é de 3% ao  ano, enquanto as companhias telefônicas não conseguem instalar mais do que 7% ao ano. Portanto, somente 4% das linhas existentes podem ser substituídas por novos meios (como fibra </a:t>
            </a:r>
            <a:r>
              <a:rPr lang="pt-PT" sz="2800" dirty="0" err="1" smtClean="0"/>
              <a:t>óptica</a:t>
            </a:r>
            <a:r>
              <a:rPr lang="pt-PT" sz="2800" dirty="0" smtClean="0"/>
              <a:t> e cabo coaxial) mais apropriados para atender os serviços banda larga emergentes.</a:t>
            </a:r>
          </a:p>
          <a:p>
            <a:pPr algn="just">
              <a:buFont typeface="Wingdings" pitchFamily="2" charset="2"/>
              <a:buChar char="q"/>
            </a:pPr>
            <a:r>
              <a:rPr lang="pt-PT" sz="2800" dirty="0" smtClean="0"/>
              <a:t> A substituição de linhas locais em quantidade suficiente levará muito tempo, portanto as novas tecnologias como ISDN, </a:t>
            </a:r>
            <a:r>
              <a:rPr lang="pt-PT" sz="2800" dirty="0" err="1" smtClean="0"/>
              <a:t>xDSL</a:t>
            </a:r>
            <a:r>
              <a:rPr lang="pt-PT" sz="2800" dirty="0" smtClean="0"/>
              <a:t>, deverão utilizar (aproveitar) as linhas existentes.</a:t>
            </a:r>
          </a:p>
          <a:p>
            <a:pPr algn="just"/>
            <a:r>
              <a:rPr lang="en-US" sz="2800" dirty="0" smtClean="0"/>
              <a:t>ISDN (Integrated Service Digital Network);</a:t>
            </a:r>
          </a:p>
          <a:p>
            <a:pPr algn="just"/>
            <a:r>
              <a:rPr lang="pt-PT" sz="2800" dirty="0" err="1" smtClean="0"/>
              <a:t>xDSL</a:t>
            </a:r>
            <a:r>
              <a:rPr lang="pt-PT" sz="2800" dirty="0" smtClean="0"/>
              <a:t> (Digital </a:t>
            </a:r>
            <a:r>
              <a:rPr lang="pt-PT" sz="2800" dirty="0" err="1" smtClean="0"/>
              <a:t>Subscriber</a:t>
            </a:r>
            <a:r>
              <a:rPr lang="pt-PT" sz="2800" dirty="0" smtClean="0"/>
              <a:t> </a:t>
            </a:r>
            <a:r>
              <a:rPr lang="pt-PT" sz="2800" dirty="0" err="1" smtClean="0"/>
              <a:t>Line</a:t>
            </a:r>
            <a:r>
              <a:rPr lang="pt-PT" sz="2800" dirty="0" smtClean="0"/>
              <a:t>);</a:t>
            </a:r>
            <a:endParaRPr lang="pt-PT" sz="28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NOVAS TECNOLOGIAS</a:t>
            </a:r>
            <a:r>
              <a:rPr lang="pt-PT" altLang="pt-PT" b="1" dirty="0" smtClean="0">
                <a:solidFill>
                  <a:srgbClr val="FF0000"/>
                </a:solidFill>
              </a:rPr>
              <a:t/>
            </a:r>
            <a:br>
              <a:rPr lang="pt-PT" altLang="pt-PT" b="1" dirty="0" smtClean="0">
                <a:solidFill>
                  <a:srgbClr val="FF0000"/>
                </a:solidFill>
              </a:rPr>
            </a:br>
            <a:endParaRPr lang="pt-PT" dirty="0"/>
          </a:p>
        </p:txBody>
      </p:sp>
      <p:sp>
        <p:nvSpPr>
          <p:cNvPr id="3" name="Marcador de Posição de Conteúdo 2"/>
          <p:cNvSpPr>
            <a:spLocks noGrp="1"/>
          </p:cNvSpPr>
          <p:nvPr>
            <p:ph sz="quarter" idx="1"/>
          </p:nvPr>
        </p:nvSpPr>
        <p:spPr>
          <a:xfrm>
            <a:off x="914400" y="980728"/>
            <a:ext cx="7772400" cy="504056"/>
          </a:xfrm>
        </p:spPr>
        <p:txBody>
          <a:bodyPr>
            <a:normAutofit lnSpcReduction="10000"/>
          </a:bodyPr>
          <a:lstStyle/>
          <a:p>
            <a:pPr>
              <a:buNone/>
            </a:pPr>
            <a:r>
              <a:rPr lang="pt-PT" altLang="pt-PT" sz="2800" b="1" dirty="0" smtClean="0">
                <a:latin typeface="Arial" pitchFamily="34" charset="0"/>
                <a:cs typeface="Arial" pitchFamily="34" charset="0"/>
              </a:rPr>
              <a:t>       </a:t>
            </a:r>
            <a:endParaRPr lang="pt-PT" sz="1800" dirty="0"/>
          </a:p>
        </p:txBody>
      </p:sp>
      <p:sp>
        <p:nvSpPr>
          <p:cNvPr id="7" name="Rectângulo 6"/>
          <p:cNvSpPr/>
          <p:nvPr/>
        </p:nvSpPr>
        <p:spPr>
          <a:xfrm>
            <a:off x="1115616" y="1412776"/>
            <a:ext cx="4572000" cy="4031873"/>
          </a:xfrm>
          <a:prstGeom prst="rect">
            <a:avLst/>
          </a:prstGeom>
        </p:spPr>
        <p:txBody>
          <a:bodyPr>
            <a:spAutoFit/>
          </a:bodyPr>
          <a:lstStyle/>
          <a:p>
            <a:r>
              <a:rPr lang="pt-PT" sz="3200" dirty="0" smtClean="0"/>
              <a:t>Faixa Larga:</a:t>
            </a:r>
          </a:p>
          <a:p>
            <a:r>
              <a:rPr lang="pt-PT" sz="3200" dirty="0" smtClean="0"/>
              <a:t>• </a:t>
            </a:r>
            <a:r>
              <a:rPr lang="pt-PT" sz="3200" dirty="0" err="1" smtClean="0"/>
              <a:t>xDSL</a:t>
            </a:r>
            <a:r>
              <a:rPr lang="pt-PT" sz="3200" dirty="0" smtClean="0"/>
              <a:t> ( “</a:t>
            </a:r>
            <a:r>
              <a:rPr lang="pt-PT" sz="3200" i="1" dirty="0" smtClean="0"/>
              <a:t>x” Digital </a:t>
            </a:r>
            <a:r>
              <a:rPr lang="pt-PT" sz="3200" i="1" dirty="0" err="1" smtClean="0"/>
              <a:t>Subscriber</a:t>
            </a:r>
            <a:r>
              <a:rPr lang="pt-PT" sz="3200" i="1" dirty="0" smtClean="0"/>
              <a:t> </a:t>
            </a:r>
            <a:r>
              <a:rPr lang="pt-PT" sz="3200" i="1" dirty="0" err="1" smtClean="0"/>
              <a:t>Line</a:t>
            </a:r>
            <a:r>
              <a:rPr lang="pt-PT" sz="3200" i="1" dirty="0" smtClean="0"/>
              <a:t> )</a:t>
            </a:r>
          </a:p>
          <a:p>
            <a:r>
              <a:rPr lang="pt-PT" sz="3200" dirty="0" smtClean="0"/>
              <a:t>• HFC (</a:t>
            </a:r>
            <a:r>
              <a:rPr lang="pt-PT" sz="3200" i="1" dirty="0" smtClean="0"/>
              <a:t>Hibrid </a:t>
            </a:r>
            <a:r>
              <a:rPr lang="pt-PT" sz="3200" i="1" dirty="0" err="1" smtClean="0"/>
              <a:t>Fiber</a:t>
            </a:r>
            <a:r>
              <a:rPr lang="pt-PT" sz="3200" i="1" dirty="0" smtClean="0"/>
              <a:t>/Coaxial)</a:t>
            </a:r>
          </a:p>
          <a:p>
            <a:r>
              <a:rPr lang="en-US" sz="3200" dirty="0" smtClean="0"/>
              <a:t>• FTTC (</a:t>
            </a:r>
            <a:r>
              <a:rPr lang="en-US" sz="3200" i="1" dirty="0" smtClean="0"/>
              <a:t>Fiber to the Curb)</a:t>
            </a:r>
          </a:p>
          <a:p>
            <a:r>
              <a:rPr lang="en-US" sz="3200" dirty="0" smtClean="0"/>
              <a:t>• FTTH (</a:t>
            </a:r>
            <a:r>
              <a:rPr lang="en-US" sz="3200" i="1" dirty="0" smtClean="0"/>
              <a:t>Fiber to the Home)</a:t>
            </a:r>
          </a:p>
          <a:p>
            <a:r>
              <a:rPr lang="pt-PT" sz="3200" dirty="0" smtClean="0"/>
              <a:t>Faixa Estreita:</a:t>
            </a:r>
          </a:p>
          <a:p>
            <a:r>
              <a:rPr lang="pt-PT" sz="3200" dirty="0" smtClean="0"/>
              <a:t>• WLL ( </a:t>
            </a:r>
            <a:r>
              <a:rPr lang="pt-PT" sz="3200" i="1" dirty="0" smtClean="0"/>
              <a:t>Wireless Local </a:t>
            </a:r>
            <a:r>
              <a:rPr lang="pt-PT" sz="3200" i="1" dirty="0" err="1" smtClean="0"/>
              <a:t>Loop</a:t>
            </a:r>
            <a:r>
              <a:rPr lang="pt-PT" sz="3200" i="1" dirty="0" smtClean="0"/>
              <a:t> )</a:t>
            </a:r>
            <a:endParaRPr lang="pt-PT" sz="32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TECNOLOGIAS DE BANDA LARGA</a:t>
            </a:r>
            <a:r>
              <a:rPr lang="pt-PT" altLang="pt-PT" b="1" dirty="0" smtClean="0">
                <a:solidFill>
                  <a:srgbClr val="FF0000"/>
                </a:solidFill>
              </a:rPr>
              <a:t/>
            </a:r>
            <a:br>
              <a:rPr lang="pt-PT" altLang="pt-PT" b="1" dirty="0" smtClean="0">
                <a:solidFill>
                  <a:srgbClr val="FF0000"/>
                </a:solidFill>
              </a:rPr>
            </a:br>
            <a:endParaRPr lang="pt-PT" dirty="0"/>
          </a:p>
        </p:txBody>
      </p:sp>
      <p:sp>
        <p:nvSpPr>
          <p:cNvPr id="3" name="Marcador de Posição de Conteúdo 2"/>
          <p:cNvSpPr>
            <a:spLocks noGrp="1"/>
          </p:cNvSpPr>
          <p:nvPr>
            <p:ph sz="quarter" idx="1"/>
          </p:nvPr>
        </p:nvSpPr>
        <p:spPr>
          <a:xfrm>
            <a:off x="914400" y="908720"/>
            <a:ext cx="7772400" cy="936104"/>
          </a:xfrm>
        </p:spPr>
        <p:txBody>
          <a:bodyPr>
            <a:normAutofit/>
          </a:bodyPr>
          <a:lstStyle/>
          <a:p>
            <a:pPr>
              <a:buNone/>
            </a:pPr>
            <a:r>
              <a:rPr lang="pt-PT" altLang="pt-PT" sz="4000" b="1" dirty="0" smtClean="0">
                <a:latin typeface="Arial" pitchFamily="34" charset="0"/>
                <a:cs typeface="Arial" pitchFamily="34" charset="0"/>
              </a:rPr>
              <a:t>     </a:t>
            </a:r>
            <a:endParaRPr lang="pt-PT" sz="1800" dirty="0"/>
          </a:p>
        </p:txBody>
      </p:sp>
      <p:pic>
        <p:nvPicPr>
          <p:cNvPr id="4098" name="Picture 2"/>
          <p:cNvPicPr>
            <a:picLocks noChangeAspect="1" noChangeArrowheads="1"/>
          </p:cNvPicPr>
          <p:nvPr/>
        </p:nvPicPr>
        <p:blipFill>
          <a:blip r:embed="rId2" cstate="print"/>
          <a:srcRect/>
          <a:stretch>
            <a:fillRect/>
          </a:stretch>
        </p:blipFill>
        <p:spPr bwMode="auto">
          <a:xfrm>
            <a:off x="683568" y="836712"/>
            <a:ext cx="7560839" cy="525658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CAPACIDADE DO PAR  METÁLICO </a:t>
            </a:r>
            <a:r>
              <a:rPr lang="pt-PT" altLang="pt-PT" b="1" dirty="0" smtClean="0">
                <a:solidFill>
                  <a:srgbClr val="FF0000"/>
                </a:solidFill>
              </a:rPr>
              <a:t/>
            </a:r>
            <a:br>
              <a:rPr lang="pt-PT" altLang="pt-PT" b="1" dirty="0" smtClean="0">
                <a:solidFill>
                  <a:srgbClr val="FF0000"/>
                </a:solidFill>
              </a:rPr>
            </a:br>
            <a:endParaRPr lang="pt-PT" dirty="0"/>
          </a:p>
        </p:txBody>
      </p:sp>
      <p:sp>
        <p:nvSpPr>
          <p:cNvPr id="3" name="Marcador de Posição de Conteúdo 2"/>
          <p:cNvSpPr>
            <a:spLocks noGrp="1"/>
          </p:cNvSpPr>
          <p:nvPr>
            <p:ph sz="quarter" idx="1"/>
          </p:nvPr>
        </p:nvSpPr>
        <p:spPr>
          <a:xfrm>
            <a:off x="914400" y="1124744"/>
            <a:ext cx="7772400" cy="720080"/>
          </a:xfrm>
        </p:spPr>
        <p:txBody>
          <a:bodyPr>
            <a:normAutofit/>
          </a:bodyPr>
          <a:lstStyle/>
          <a:p>
            <a:pPr>
              <a:buNone/>
            </a:pPr>
            <a:r>
              <a:rPr lang="pt-PT" altLang="pt-PT" sz="1800" b="1" dirty="0" smtClean="0">
                <a:latin typeface="Arial" pitchFamily="34" charset="0"/>
                <a:cs typeface="Arial" pitchFamily="34" charset="0"/>
              </a:rPr>
              <a:t>                               PAR TRANÇADO DE 0,5</a:t>
            </a:r>
            <a:endParaRPr lang="pt-PT" sz="1800" dirty="0"/>
          </a:p>
        </p:txBody>
      </p:sp>
      <p:pic>
        <p:nvPicPr>
          <p:cNvPr id="6146" name="Picture 2"/>
          <p:cNvPicPr>
            <a:picLocks noChangeAspect="1" noChangeArrowheads="1"/>
          </p:cNvPicPr>
          <p:nvPr/>
        </p:nvPicPr>
        <p:blipFill>
          <a:blip r:embed="rId3" cstate="print"/>
          <a:srcRect/>
          <a:stretch>
            <a:fillRect/>
          </a:stretch>
        </p:blipFill>
        <p:spPr bwMode="auto">
          <a:xfrm>
            <a:off x="683568" y="1556792"/>
            <a:ext cx="7992888" cy="432047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634082"/>
          </a:xfrm>
        </p:spPr>
        <p:txBody>
          <a:bodyPr>
            <a:normAutofit/>
          </a:bodyPr>
          <a:lstStyle/>
          <a:p>
            <a:r>
              <a:rPr lang="pt-PT" sz="2000" b="1" dirty="0" smtClean="0">
                <a:solidFill>
                  <a:srgbClr val="FF0000"/>
                </a:solidFill>
                <a:latin typeface="Arial" pitchFamily="34" charset="0"/>
                <a:cs typeface="Arial" pitchFamily="34" charset="0"/>
              </a:rPr>
              <a:t>            EFICIÊNCIA ESPECTRAL</a:t>
            </a:r>
            <a:endParaRPr lang="pt-PT" sz="2000" dirty="0"/>
          </a:p>
        </p:txBody>
      </p:sp>
      <p:sp>
        <p:nvSpPr>
          <p:cNvPr id="3" name="Marcador de Posição de Conteúdo 2"/>
          <p:cNvSpPr>
            <a:spLocks noGrp="1"/>
          </p:cNvSpPr>
          <p:nvPr>
            <p:ph sz="quarter" idx="1"/>
          </p:nvPr>
        </p:nvSpPr>
        <p:spPr>
          <a:xfrm>
            <a:off x="914400" y="1196752"/>
            <a:ext cx="7772400" cy="648072"/>
          </a:xfrm>
        </p:spPr>
        <p:txBody>
          <a:bodyPr>
            <a:normAutofit/>
          </a:bodyPr>
          <a:lstStyle/>
          <a:p>
            <a:pPr>
              <a:buNone/>
            </a:pPr>
            <a:r>
              <a:rPr lang="pt-PT" altLang="pt-PT" sz="1800" b="1" dirty="0" smtClean="0">
                <a:latin typeface="Arial" pitchFamily="34" charset="0"/>
                <a:cs typeface="Arial" pitchFamily="34" charset="0"/>
              </a:rPr>
              <a:t>              </a:t>
            </a:r>
            <a:endParaRPr lang="pt-PT" sz="1800" dirty="0"/>
          </a:p>
        </p:txBody>
      </p:sp>
      <p:sp>
        <p:nvSpPr>
          <p:cNvPr id="4" name="Rectângulo 3"/>
          <p:cNvSpPr/>
          <p:nvPr/>
        </p:nvSpPr>
        <p:spPr>
          <a:xfrm>
            <a:off x="0" y="1700808"/>
            <a:ext cx="9144000" cy="461665"/>
          </a:xfrm>
          <a:prstGeom prst="rect">
            <a:avLst/>
          </a:prstGeom>
        </p:spPr>
        <p:txBody>
          <a:bodyPr wrap="square">
            <a:spAutoFit/>
          </a:bodyPr>
          <a:lstStyle/>
          <a:p>
            <a:pPr marL="342900" indent="-342900"/>
            <a:r>
              <a:rPr lang="pt-PT" altLang="pt-PT" sz="2400" b="1" dirty="0" smtClean="0">
                <a:latin typeface="Arial" pitchFamily="34" charset="0"/>
                <a:cs typeface="Arial" pitchFamily="34" charset="0"/>
              </a:rPr>
              <a:t>    </a:t>
            </a:r>
            <a:endParaRPr lang="pt-PT" altLang="pt-PT" sz="2400" b="1" dirty="0">
              <a:latin typeface="Arial" pitchFamily="34" charset="0"/>
              <a:cs typeface="Arial" pitchFamily="34" charset="0"/>
            </a:endParaRPr>
          </a:p>
        </p:txBody>
      </p:sp>
      <p:pic>
        <p:nvPicPr>
          <p:cNvPr id="7170" name="Picture 2"/>
          <p:cNvPicPr>
            <a:picLocks noChangeAspect="1" noChangeArrowheads="1"/>
          </p:cNvPicPr>
          <p:nvPr/>
        </p:nvPicPr>
        <p:blipFill>
          <a:blip r:embed="rId2" cstate="print"/>
          <a:srcRect/>
          <a:stretch>
            <a:fillRect/>
          </a:stretch>
        </p:blipFill>
        <p:spPr bwMode="auto">
          <a:xfrm>
            <a:off x="467544" y="980728"/>
            <a:ext cx="7848872" cy="51845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922114"/>
          </a:xfrm>
        </p:spPr>
        <p:txBody>
          <a:bodyPr>
            <a:normAutofit fontScale="90000"/>
          </a:bodyPr>
          <a:lstStyle/>
          <a:p>
            <a:r>
              <a:rPr lang="pt-PT" altLang="pt-PT" sz="2200" b="1" dirty="0" smtClean="0">
                <a:solidFill>
                  <a:srgbClr val="FF0000"/>
                </a:solidFill>
                <a:latin typeface="Arial" pitchFamily="34" charset="0"/>
                <a:cs typeface="Arial" pitchFamily="34" charset="0"/>
              </a:rPr>
              <a:t>EVOLUÇÃO DO ACESSO DIGITAL</a:t>
            </a:r>
            <a:r>
              <a:rPr lang="pt-PT" altLang="pt-PT" b="1" dirty="0" smtClean="0">
                <a:solidFill>
                  <a:srgbClr val="FF0000"/>
                </a:solidFill>
              </a:rPr>
              <a:t/>
            </a:r>
            <a:br>
              <a:rPr lang="pt-PT" altLang="pt-PT" b="1" dirty="0" smtClean="0">
                <a:solidFill>
                  <a:srgbClr val="FF0000"/>
                </a:solidFill>
              </a:rPr>
            </a:br>
            <a:endParaRPr lang="pt-PT" dirty="0"/>
          </a:p>
        </p:txBody>
      </p:sp>
      <p:sp>
        <p:nvSpPr>
          <p:cNvPr id="5" name="Marcador de Posição de Conteúdo 4"/>
          <p:cNvSpPr>
            <a:spLocks noGrp="1"/>
          </p:cNvSpPr>
          <p:nvPr>
            <p:ph sz="quarter" idx="1"/>
          </p:nvPr>
        </p:nvSpPr>
        <p:spPr/>
        <p:txBody>
          <a:bodyPr/>
          <a:lstStyle/>
          <a:p>
            <a:endParaRPr lang="pt-PT"/>
          </a:p>
        </p:txBody>
      </p:sp>
      <p:pic>
        <p:nvPicPr>
          <p:cNvPr id="8194" name="Picture 2"/>
          <p:cNvPicPr>
            <a:picLocks noChangeAspect="1" noChangeArrowheads="1"/>
          </p:cNvPicPr>
          <p:nvPr/>
        </p:nvPicPr>
        <p:blipFill>
          <a:blip r:embed="rId2" cstate="print"/>
          <a:srcRect/>
          <a:stretch>
            <a:fillRect/>
          </a:stretch>
        </p:blipFill>
        <p:spPr bwMode="auto">
          <a:xfrm>
            <a:off x="467544" y="908720"/>
            <a:ext cx="8352928" cy="53285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r>
              <a:rPr lang="pt-PT" altLang="pt-PT" b="1" dirty="0" err="1" smtClean="0">
                <a:solidFill>
                  <a:srgbClr val="FF0000"/>
                </a:solidFill>
                <a:latin typeface="Arial" pitchFamily="34" charset="0"/>
                <a:cs typeface="Arial" pitchFamily="34" charset="0"/>
              </a:rPr>
              <a:t>xDSL</a:t>
            </a:r>
            <a:r>
              <a:rPr lang="pt-PT" altLang="pt-PT" b="1" dirty="0" smtClean="0">
                <a:solidFill>
                  <a:srgbClr val="FF0000"/>
                </a:solidFill>
              </a:rPr>
              <a:t/>
            </a:r>
            <a:br>
              <a:rPr lang="pt-PT" altLang="pt-PT" b="1" dirty="0" smtClean="0">
                <a:solidFill>
                  <a:srgbClr val="FF0000"/>
                </a:solidFill>
              </a:rPr>
            </a:br>
            <a:endParaRPr lang="pt-PT" dirty="0"/>
          </a:p>
        </p:txBody>
      </p:sp>
      <p:sp>
        <p:nvSpPr>
          <p:cNvPr id="5" name="Marcador de Posição de Conteúdo 4"/>
          <p:cNvSpPr>
            <a:spLocks noGrp="1"/>
          </p:cNvSpPr>
          <p:nvPr>
            <p:ph sz="quarter" idx="1"/>
          </p:nvPr>
        </p:nvSpPr>
        <p:spPr/>
        <p:txBody>
          <a:bodyPr>
            <a:noAutofit/>
          </a:bodyPr>
          <a:lstStyle/>
          <a:p>
            <a:pPr>
              <a:buFont typeface="Wingdings" pitchFamily="2" charset="2"/>
              <a:buChar char="q"/>
            </a:pPr>
            <a:r>
              <a:rPr lang="pt-PT" sz="3600" dirty="0" smtClean="0"/>
              <a:t>  DSL = </a:t>
            </a:r>
            <a:r>
              <a:rPr lang="pt-PT" sz="3600" i="1" dirty="0" smtClean="0"/>
              <a:t>Digital </a:t>
            </a:r>
            <a:r>
              <a:rPr lang="pt-PT" sz="3600" i="1" dirty="0" err="1" smtClean="0"/>
              <a:t>Subscriber</a:t>
            </a:r>
            <a:r>
              <a:rPr lang="pt-PT" sz="3600" i="1" dirty="0" smtClean="0"/>
              <a:t> </a:t>
            </a:r>
            <a:r>
              <a:rPr lang="pt-PT" sz="3600" i="1" dirty="0" err="1" smtClean="0"/>
              <a:t>Line</a:t>
            </a:r>
            <a:r>
              <a:rPr lang="pt-PT" sz="3600" i="1" dirty="0" smtClean="0"/>
              <a:t> (Linha de Assinante Digital).</a:t>
            </a:r>
          </a:p>
          <a:p>
            <a:pPr>
              <a:buFont typeface="Wingdings" pitchFamily="2" charset="2"/>
              <a:buChar char="q"/>
            </a:pPr>
            <a:r>
              <a:rPr lang="pt-PT" sz="3600" dirty="0" smtClean="0"/>
              <a:t>  Acesso digital de média / alta velocidade em pares metálicos.</a:t>
            </a:r>
          </a:p>
          <a:p>
            <a:pPr>
              <a:buFont typeface="Wingdings" pitchFamily="2" charset="2"/>
              <a:buChar char="q"/>
            </a:pPr>
            <a:r>
              <a:rPr lang="pt-PT" sz="3600" dirty="0" smtClean="0"/>
              <a:t>  Compatível com a rede de pares de cobre  pré-existente.</a:t>
            </a:r>
          </a:p>
          <a:p>
            <a:pPr>
              <a:buFont typeface="Wingdings" pitchFamily="2" charset="2"/>
              <a:buChar char="q"/>
            </a:pPr>
            <a:r>
              <a:rPr lang="pt-PT" sz="3600" dirty="0" smtClean="0"/>
              <a:t>   A </a:t>
            </a:r>
            <a:r>
              <a:rPr lang="pt-PT" sz="3600" i="1" dirty="0" smtClean="0"/>
              <a:t>letra inicial (x) define as características de  </a:t>
            </a:r>
            <a:r>
              <a:rPr lang="pt-PT" sz="3600" dirty="0" smtClean="0"/>
              <a:t>acesso.</a:t>
            </a:r>
            <a:endParaRPr lang="pt-PT" sz="36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778098"/>
          </a:xfrm>
        </p:spPr>
        <p:txBody>
          <a:bodyPr>
            <a:normAutofit/>
          </a:bodyPr>
          <a:lstStyle/>
          <a:p>
            <a:r>
              <a:rPr lang="pt-PT" sz="2000" b="1" dirty="0" smtClean="0">
                <a:solidFill>
                  <a:srgbClr val="FF0000"/>
                </a:solidFill>
                <a:latin typeface="Arial" pitchFamily="34" charset="0"/>
                <a:cs typeface="Arial" pitchFamily="34" charset="0"/>
              </a:rPr>
              <a:t>CARACTERÍSTICA  </a:t>
            </a:r>
            <a:r>
              <a:rPr lang="pt-PT" sz="2000" b="1" dirty="0" err="1" smtClean="0">
                <a:solidFill>
                  <a:srgbClr val="FF0000"/>
                </a:solidFill>
                <a:latin typeface="Arial" pitchFamily="34" charset="0"/>
                <a:cs typeface="Arial" pitchFamily="34" charset="0"/>
              </a:rPr>
              <a:t>xDSL</a:t>
            </a:r>
            <a:endParaRPr lang="pt-PT" sz="2000" dirty="0"/>
          </a:p>
        </p:txBody>
      </p:sp>
      <p:sp>
        <p:nvSpPr>
          <p:cNvPr id="6" name="Marcador de Posição de Conteúdo 5"/>
          <p:cNvSpPr>
            <a:spLocks noGrp="1"/>
          </p:cNvSpPr>
          <p:nvPr>
            <p:ph sz="quarter" idx="1"/>
          </p:nvPr>
        </p:nvSpPr>
        <p:spPr/>
        <p:txBody>
          <a:bodyPr/>
          <a:lstStyle/>
          <a:p>
            <a:endParaRPr lang="pt-PT" dirty="0"/>
          </a:p>
        </p:txBody>
      </p:sp>
      <p:pic>
        <p:nvPicPr>
          <p:cNvPr id="9218" name="Picture 2"/>
          <p:cNvPicPr>
            <a:picLocks noChangeAspect="1" noChangeArrowheads="1"/>
          </p:cNvPicPr>
          <p:nvPr/>
        </p:nvPicPr>
        <p:blipFill>
          <a:blip r:embed="rId2" cstate="print"/>
          <a:srcRect/>
          <a:stretch>
            <a:fillRect/>
          </a:stretch>
        </p:blipFill>
        <p:spPr bwMode="auto">
          <a:xfrm>
            <a:off x="827584" y="1268760"/>
            <a:ext cx="7992888" cy="489654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rPr>
              <a:t>DSL (IDSL- ISDN DSL , INTEGRATED DSL)</a:t>
            </a:r>
            <a:r>
              <a:rPr lang="pt-PT" altLang="pt-PT" b="1" dirty="0" smtClean="0">
                <a:solidFill>
                  <a:srgbClr val="FF0000"/>
                </a:solidFill>
              </a:rPr>
              <a:t/>
            </a:r>
            <a:br>
              <a:rPr lang="pt-PT" altLang="pt-PT" b="1" dirty="0" smtClean="0">
                <a:solidFill>
                  <a:srgbClr val="FF0000"/>
                </a:solidFill>
              </a:rPr>
            </a:br>
            <a:endParaRPr lang="pt-PT" dirty="0"/>
          </a:p>
        </p:txBody>
      </p:sp>
      <p:sp>
        <p:nvSpPr>
          <p:cNvPr id="4" name="CaixaDeTexto 1"/>
          <p:cNvSpPr txBox="1">
            <a:spLocks noGrp="1" noChangeArrowheads="1"/>
          </p:cNvSpPr>
          <p:nvPr>
            <p:ph sz="quarter" idx="1"/>
          </p:nvPr>
        </p:nvSpPr>
        <p:spPr bwMode="auto">
          <a:xfrm>
            <a:off x="467544" y="836712"/>
            <a:ext cx="8424936" cy="5478423"/>
          </a:xfrm>
          <a:prstGeom prst="rect">
            <a:avLst/>
          </a:prstGeom>
          <a:noFill/>
          <a:ln w="9525">
            <a:noFill/>
            <a:miter lim="800000"/>
            <a:headEnd/>
            <a:tailEnd/>
          </a:ln>
        </p:spPr>
        <p:txBody>
          <a:bodyPr wrap="square">
            <a:spAutoFit/>
          </a:bodyPr>
          <a:lstStyle/>
          <a:p>
            <a:pPr>
              <a:buNone/>
            </a:pPr>
            <a:r>
              <a:rPr lang="pt-PT" sz="3200" dirty="0" smtClean="0"/>
              <a:t>É o esquema de modulação / demodulação usado para o acesso básico (</a:t>
            </a:r>
            <a:r>
              <a:rPr lang="pt-PT" sz="3200" i="1" dirty="0" smtClean="0"/>
              <a:t>Basic Rate) ISDN.</a:t>
            </a:r>
          </a:p>
          <a:p>
            <a:pPr>
              <a:buNone/>
            </a:pPr>
            <a:r>
              <a:rPr lang="pt-PT" sz="3200" dirty="0" smtClean="0"/>
              <a:t>• Taxa </a:t>
            </a:r>
            <a:r>
              <a:rPr lang="pt-PT" sz="3200" i="1" dirty="0" smtClean="0"/>
              <a:t>bidirecional de 160 </a:t>
            </a:r>
            <a:r>
              <a:rPr lang="pt-PT" sz="3200" i="1" dirty="0" err="1" smtClean="0"/>
              <a:t>Kbps</a:t>
            </a:r>
            <a:r>
              <a:rPr lang="pt-PT" sz="3200" i="1" dirty="0" smtClean="0"/>
              <a:t> em pares de até 5,4 </a:t>
            </a:r>
            <a:r>
              <a:rPr lang="pt-PT" sz="3200" dirty="0" smtClean="0"/>
              <a:t>Km (24 AWG).</a:t>
            </a:r>
          </a:p>
          <a:p>
            <a:pPr>
              <a:buNone/>
            </a:pPr>
            <a:r>
              <a:rPr lang="pt-PT" sz="3200" dirty="0" smtClean="0"/>
              <a:t>• Dois canais </a:t>
            </a:r>
            <a:r>
              <a:rPr lang="pt-PT" sz="3200" i="1" dirty="0" smtClean="0"/>
              <a:t>B de 64 </a:t>
            </a:r>
            <a:r>
              <a:rPr lang="pt-PT" sz="3200" i="1" dirty="0" err="1" smtClean="0"/>
              <a:t>Kbps</a:t>
            </a:r>
            <a:r>
              <a:rPr lang="pt-PT" sz="3200" i="1" dirty="0" smtClean="0"/>
              <a:t>, um canal D de 16 </a:t>
            </a:r>
            <a:r>
              <a:rPr lang="pt-PT" sz="3200" i="1" dirty="0" err="1" smtClean="0"/>
              <a:t>Kbps</a:t>
            </a:r>
            <a:endParaRPr lang="pt-PT" sz="3200" i="1" dirty="0" smtClean="0"/>
          </a:p>
          <a:p>
            <a:pPr>
              <a:buNone/>
            </a:pPr>
            <a:r>
              <a:rPr lang="pt-PT" sz="3200" dirty="0" smtClean="0"/>
              <a:t>(</a:t>
            </a:r>
            <a:r>
              <a:rPr lang="pt-PT" sz="3200" i="1" dirty="0" err="1" smtClean="0"/>
              <a:t>overhead</a:t>
            </a:r>
            <a:r>
              <a:rPr lang="pt-PT" sz="3200" i="1" dirty="0" smtClean="0"/>
              <a:t> 16 </a:t>
            </a:r>
            <a:r>
              <a:rPr lang="pt-PT" sz="3200" i="1" dirty="0" err="1" smtClean="0"/>
              <a:t>Kbps</a:t>
            </a:r>
            <a:r>
              <a:rPr lang="pt-PT" sz="3200" i="1" dirty="0" smtClean="0"/>
              <a:t>).</a:t>
            </a:r>
          </a:p>
          <a:p>
            <a:pPr>
              <a:buNone/>
            </a:pPr>
            <a:r>
              <a:rPr lang="pt-PT" sz="3200" dirty="0" smtClean="0"/>
              <a:t>• Canais B: transportam informação do usuário (voz, áudio e dados digitais)</a:t>
            </a:r>
          </a:p>
          <a:p>
            <a:pPr>
              <a:buNone/>
            </a:pPr>
            <a:r>
              <a:rPr lang="pt-PT" sz="3200" dirty="0" smtClean="0"/>
              <a:t>• Canal D transporta informação de controle (sinalização)</a:t>
            </a:r>
            <a:endParaRPr lang="pt-PT" altLang="pt-PT" sz="3200" b="1"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706090"/>
          </a:xfrm>
        </p:spPr>
        <p:txBody>
          <a:bodyPr>
            <a:normAutofit/>
          </a:bodyPr>
          <a:lstStyle/>
          <a:p>
            <a:r>
              <a:rPr lang="pt-PT" sz="2000" b="1" dirty="0" smtClean="0">
                <a:solidFill>
                  <a:srgbClr val="FF0000"/>
                </a:solidFill>
                <a:latin typeface="Arial" pitchFamily="34" charset="0"/>
                <a:cs typeface="Arial" pitchFamily="34" charset="0"/>
              </a:rPr>
              <a:t>DSL - CARACTERÍSTICAS </a:t>
            </a:r>
            <a:endParaRPr lang="pt-PT" sz="2000" dirty="0">
              <a:latin typeface="Arial" pitchFamily="34" charset="0"/>
              <a:cs typeface="Arial" pitchFamily="34" charset="0"/>
            </a:endParaRPr>
          </a:p>
        </p:txBody>
      </p:sp>
      <p:sp>
        <p:nvSpPr>
          <p:cNvPr id="3" name="Marcador de Posição de Conteúdo 2"/>
          <p:cNvSpPr>
            <a:spLocks noGrp="1"/>
          </p:cNvSpPr>
          <p:nvPr>
            <p:ph sz="quarter" idx="1"/>
          </p:nvPr>
        </p:nvSpPr>
        <p:spPr>
          <a:xfrm>
            <a:off x="914400" y="1196752"/>
            <a:ext cx="7772400" cy="2160240"/>
          </a:xfrm>
        </p:spPr>
        <p:txBody>
          <a:bodyPr>
            <a:normAutofit/>
          </a:bodyPr>
          <a:lstStyle/>
          <a:p>
            <a:r>
              <a:rPr lang="pt-PT" dirty="0" smtClean="0"/>
              <a:t>Linhas não necessitam ser condicionadas (largura de faixa de 0 a 80 KHz)</a:t>
            </a:r>
          </a:p>
          <a:p>
            <a:r>
              <a:rPr lang="pt-PT" dirty="0" smtClean="0"/>
              <a:t>Utiliza o código de linha: 2B1Q</a:t>
            </a:r>
            <a:endParaRPr lang="pt-PT" dirty="0"/>
          </a:p>
        </p:txBody>
      </p:sp>
      <p:pic>
        <p:nvPicPr>
          <p:cNvPr id="10242" name="Picture 2"/>
          <p:cNvPicPr>
            <a:picLocks noChangeAspect="1" noChangeArrowheads="1"/>
          </p:cNvPicPr>
          <p:nvPr/>
        </p:nvPicPr>
        <p:blipFill>
          <a:blip r:embed="rId2" cstate="print"/>
          <a:srcRect/>
          <a:stretch>
            <a:fillRect/>
          </a:stretch>
        </p:blipFill>
        <p:spPr bwMode="auto">
          <a:xfrm>
            <a:off x="899592" y="2780928"/>
            <a:ext cx="5629275" cy="2752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APLICAÇÕES IDSL</a:t>
            </a:r>
            <a:r>
              <a:rPr lang="pt-PT" altLang="pt-PT" b="1" dirty="0" smtClean="0">
                <a:solidFill>
                  <a:srgbClr val="FF0000"/>
                </a:solidFill>
              </a:rPr>
              <a:t/>
            </a:r>
            <a:br>
              <a:rPr lang="pt-PT" altLang="pt-PT" b="1" dirty="0" smtClean="0">
                <a:solidFill>
                  <a:srgbClr val="FF0000"/>
                </a:solidFill>
              </a:rPr>
            </a:br>
            <a:endParaRPr lang="pt-PT" dirty="0"/>
          </a:p>
        </p:txBody>
      </p:sp>
      <p:sp>
        <p:nvSpPr>
          <p:cNvPr id="3" name="Marcador de Posição de Conteúdo 2"/>
          <p:cNvSpPr>
            <a:spLocks noGrp="1"/>
          </p:cNvSpPr>
          <p:nvPr>
            <p:ph sz="quarter" idx="1"/>
          </p:nvPr>
        </p:nvSpPr>
        <p:spPr>
          <a:xfrm>
            <a:off x="914400" y="1124744"/>
            <a:ext cx="7772400" cy="2376264"/>
          </a:xfrm>
        </p:spPr>
        <p:txBody>
          <a:bodyPr>
            <a:normAutofit/>
          </a:bodyPr>
          <a:lstStyle/>
          <a:p>
            <a:pPr>
              <a:buFont typeface="Wingdings" pitchFamily="2" charset="2"/>
              <a:buChar char="q"/>
            </a:pPr>
            <a:r>
              <a:rPr lang="pt-PT" dirty="0" smtClean="0"/>
              <a:t>Sistemas </a:t>
            </a:r>
            <a:r>
              <a:rPr lang="pt-PT" i="1" dirty="0" err="1" smtClean="0"/>
              <a:t>Pair</a:t>
            </a:r>
            <a:r>
              <a:rPr lang="pt-PT" i="1" dirty="0" smtClean="0"/>
              <a:t> </a:t>
            </a:r>
            <a:r>
              <a:rPr lang="pt-PT" i="1" dirty="0" err="1" smtClean="0"/>
              <a:t>Gain</a:t>
            </a:r>
            <a:r>
              <a:rPr lang="pt-PT" i="1" dirty="0" smtClean="0"/>
              <a:t> (2 linhas, 1 par): demanda </a:t>
            </a:r>
            <a:r>
              <a:rPr lang="pt-PT" dirty="0" smtClean="0"/>
              <a:t>doméstica devido à Internet.</a:t>
            </a:r>
          </a:p>
          <a:p>
            <a:pPr>
              <a:buFont typeface="Wingdings" pitchFamily="2" charset="2"/>
              <a:buChar char="q"/>
            </a:pPr>
            <a:r>
              <a:rPr lang="pt-PT" dirty="0" smtClean="0"/>
              <a:t>A maior razão da ISDN ainda não ter tido muito sucesso, foi não ter preservado o canal analógico de 4 KHz (POTS).</a:t>
            </a:r>
            <a:endParaRPr lang="pt-PT" dirty="0"/>
          </a:p>
        </p:txBody>
      </p:sp>
      <p:pic>
        <p:nvPicPr>
          <p:cNvPr id="11266" name="Picture 2"/>
          <p:cNvPicPr>
            <a:picLocks noChangeAspect="1" noChangeArrowheads="1"/>
          </p:cNvPicPr>
          <p:nvPr/>
        </p:nvPicPr>
        <p:blipFill>
          <a:blip r:embed="rId2" cstate="print"/>
          <a:srcRect/>
          <a:stretch>
            <a:fillRect/>
          </a:stretch>
        </p:blipFill>
        <p:spPr bwMode="auto">
          <a:xfrm>
            <a:off x="1043608" y="3068961"/>
            <a:ext cx="7272808" cy="25922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HDSL- </a:t>
            </a:r>
            <a:r>
              <a:rPr lang="pt-PT" altLang="pt-PT" sz="2200" b="1" dirty="0" err="1" smtClean="0">
                <a:solidFill>
                  <a:srgbClr val="FF0000"/>
                </a:solidFill>
                <a:latin typeface="Arial" pitchFamily="34" charset="0"/>
                <a:cs typeface="Arial" pitchFamily="34" charset="0"/>
              </a:rPr>
              <a:t>High</a:t>
            </a:r>
            <a:r>
              <a:rPr lang="pt-PT" altLang="pt-PT" sz="2200" b="1" dirty="0" smtClean="0">
                <a:solidFill>
                  <a:srgbClr val="FF0000"/>
                </a:solidFill>
                <a:latin typeface="Arial" pitchFamily="34" charset="0"/>
                <a:cs typeface="Arial" pitchFamily="34" charset="0"/>
              </a:rPr>
              <a:t>-bit-rate Digital </a:t>
            </a:r>
            <a:r>
              <a:rPr lang="pt-PT" altLang="pt-PT" sz="2200" b="1" dirty="0" err="1" smtClean="0">
                <a:solidFill>
                  <a:srgbClr val="FF0000"/>
                </a:solidFill>
                <a:latin typeface="Arial" pitchFamily="34" charset="0"/>
                <a:cs typeface="Arial" pitchFamily="34" charset="0"/>
              </a:rPr>
              <a:t>subscriber</a:t>
            </a:r>
            <a:r>
              <a:rPr lang="pt-PT" altLang="pt-PT" sz="2200" b="1" dirty="0" smtClean="0">
                <a:solidFill>
                  <a:srgbClr val="FF0000"/>
                </a:solidFill>
                <a:latin typeface="Arial" pitchFamily="34" charset="0"/>
                <a:cs typeface="Arial" pitchFamily="34" charset="0"/>
              </a:rPr>
              <a:t> </a:t>
            </a:r>
            <a:r>
              <a:rPr lang="pt-PT" altLang="pt-PT" sz="2200" b="1" dirty="0" err="1" smtClean="0">
                <a:solidFill>
                  <a:srgbClr val="FF0000"/>
                </a:solidFill>
                <a:latin typeface="Arial" pitchFamily="34" charset="0"/>
                <a:cs typeface="Arial" pitchFamily="34" charset="0"/>
              </a:rPr>
              <a:t>line</a:t>
            </a:r>
            <a:r>
              <a:rPr lang="pt-PT" altLang="pt-PT" sz="2200" b="1" dirty="0" smtClean="0">
                <a:solidFill>
                  <a:srgbClr val="FF0000"/>
                </a:solidFill>
                <a:latin typeface="Arial" pitchFamily="34" charset="0"/>
                <a:cs typeface="Arial" pitchFamily="34" charset="0"/>
              </a:rPr>
              <a:t> </a:t>
            </a:r>
            <a:r>
              <a:rPr lang="pt-PT" altLang="pt-PT" b="1" dirty="0" smtClean="0">
                <a:solidFill>
                  <a:srgbClr val="FF0000"/>
                </a:solidFill>
              </a:rPr>
              <a:t/>
            </a:r>
            <a:br>
              <a:rPr lang="pt-PT" altLang="pt-PT" b="1" dirty="0" smtClean="0">
                <a:solidFill>
                  <a:srgbClr val="FF0000"/>
                </a:solidFill>
              </a:rPr>
            </a:br>
            <a:endParaRPr lang="pt-PT" dirty="0"/>
          </a:p>
        </p:txBody>
      </p:sp>
      <p:sp>
        <p:nvSpPr>
          <p:cNvPr id="3" name="Marcador de Posição de Conteúdo 2"/>
          <p:cNvSpPr>
            <a:spLocks noGrp="1"/>
          </p:cNvSpPr>
          <p:nvPr>
            <p:ph sz="quarter" idx="1"/>
          </p:nvPr>
        </p:nvSpPr>
        <p:spPr>
          <a:xfrm>
            <a:off x="179512" y="1268760"/>
            <a:ext cx="8784976" cy="4608512"/>
          </a:xfrm>
        </p:spPr>
        <p:txBody>
          <a:bodyPr>
            <a:normAutofit/>
          </a:bodyPr>
          <a:lstStyle/>
          <a:p>
            <a:pPr>
              <a:buFont typeface="Wingdings" pitchFamily="2" charset="2"/>
              <a:buChar char="q"/>
            </a:pPr>
            <a:r>
              <a:rPr lang="pt-PT" dirty="0" smtClean="0"/>
              <a:t> Forma alternativa de prover serviços T1/E1 em pares metálicos sem necessidade de condicionar as linhas e sem a utilização de repetidores (necessários a cada 1,8Km na tecnologia convencional)</a:t>
            </a:r>
          </a:p>
          <a:p>
            <a:pPr>
              <a:buFont typeface="Wingdings" pitchFamily="2" charset="2"/>
              <a:buChar char="q"/>
            </a:pPr>
            <a:r>
              <a:rPr lang="pt-PT" dirty="0" smtClean="0"/>
              <a:t> Com 1,544Mbps, utiliza-se 02 pares, dual duplex, isto</a:t>
            </a:r>
          </a:p>
          <a:p>
            <a:pPr>
              <a:buNone/>
            </a:pPr>
            <a:r>
              <a:rPr lang="pt-PT" dirty="0" smtClean="0"/>
              <a:t>é, cada par é duplex com taxa de 784Kbps (alcance típico de 3,6Km)</a:t>
            </a:r>
          </a:p>
          <a:p>
            <a:pPr>
              <a:buFont typeface="Wingdings" pitchFamily="2" charset="2"/>
              <a:buChar char="q"/>
            </a:pPr>
            <a:r>
              <a:rPr lang="pt-PT" dirty="0" smtClean="0"/>
              <a:t> Para 2,048Mbps, pode-se utilizar 03 pares, duplex, com 784Kbps, ou 02 pares com taxa de 1,176Mbps</a:t>
            </a:r>
            <a:endParaRPr lang="pt-PT"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778098"/>
          </a:xfrm>
        </p:spPr>
        <p:txBody>
          <a:bodyPr>
            <a:normAutofit/>
          </a:bodyPr>
          <a:lstStyle/>
          <a:p>
            <a:r>
              <a:rPr lang="pt-PT" sz="2000" b="1" dirty="0" smtClean="0">
                <a:solidFill>
                  <a:srgbClr val="FF0000"/>
                </a:solidFill>
                <a:latin typeface="Arial" pitchFamily="34" charset="0"/>
                <a:cs typeface="Arial" pitchFamily="34" charset="0"/>
              </a:rPr>
              <a:t>HDSL- Caraterística </a:t>
            </a:r>
            <a:endParaRPr lang="pt-PT" sz="2000" dirty="0"/>
          </a:p>
        </p:txBody>
      </p:sp>
      <p:sp>
        <p:nvSpPr>
          <p:cNvPr id="3" name="Marcador de Posição de Conteúdo 2"/>
          <p:cNvSpPr>
            <a:spLocks noGrp="1"/>
          </p:cNvSpPr>
          <p:nvPr>
            <p:ph sz="quarter" idx="1"/>
          </p:nvPr>
        </p:nvSpPr>
        <p:spPr>
          <a:xfrm>
            <a:off x="914400" y="1447800"/>
            <a:ext cx="7772400" cy="4357464"/>
          </a:xfrm>
        </p:spPr>
        <p:txBody>
          <a:bodyPr>
            <a:normAutofit/>
          </a:bodyPr>
          <a:lstStyle/>
          <a:p>
            <a:pPr>
              <a:buFont typeface="Wingdings" pitchFamily="2" charset="2"/>
              <a:buChar char="q"/>
            </a:pPr>
            <a:r>
              <a:rPr lang="pt-PT" dirty="0" smtClean="0"/>
              <a:t> Transmissão e </a:t>
            </a:r>
            <a:r>
              <a:rPr lang="pt-PT" dirty="0" err="1" smtClean="0"/>
              <a:t>recepção</a:t>
            </a:r>
            <a:r>
              <a:rPr lang="pt-PT" dirty="0" smtClean="0"/>
              <a:t> de 1/2 ou 1/3 de E1 (ou ½ de T1) em cada par de assinante</a:t>
            </a:r>
          </a:p>
          <a:p>
            <a:pPr>
              <a:buFont typeface="Wingdings" pitchFamily="2" charset="2"/>
              <a:buChar char="q"/>
            </a:pPr>
            <a:r>
              <a:rPr lang="pt-PT" dirty="0" smtClean="0"/>
              <a:t>A transmissão e </a:t>
            </a:r>
            <a:r>
              <a:rPr lang="pt-PT" dirty="0" err="1" smtClean="0"/>
              <a:t>recepção</a:t>
            </a:r>
            <a:r>
              <a:rPr lang="pt-PT" dirty="0" smtClean="0"/>
              <a:t> simultâneas são possíveis devido aos supressores de eco digitais</a:t>
            </a:r>
          </a:p>
          <a:p>
            <a:pPr>
              <a:buFont typeface="Wingdings" pitchFamily="2" charset="2"/>
              <a:buChar char="q"/>
            </a:pPr>
            <a:r>
              <a:rPr lang="pt-PT" dirty="0" smtClean="0"/>
              <a:t> O principal problema é a interferência </a:t>
            </a:r>
            <a:r>
              <a:rPr lang="pt-PT" dirty="0" err="1" smtClean="0"/>
              <a:t>intersimbólica</a:t>
            </a:r>
            <a:r>
              <a:rPr lang="pt-PT" dirty="0" smtClean="0"/>
              <a:t>: são necessários equalizadores adaptativos complexos</a:t>
            </a:r>
          </a:p>
          <a:p>
            <a:pPr>
              <a:buFont typeface="Wingdings" pitchFamily="2" charset="2"/>
              <a:buChar char="q"/>
            </a:pPr>
            <a:r>
              <a:rPr lang="pt-PT" dirty="0" smtClean="0"/>
              <a:t>A taxa de erro máxima admissível no sistema deve ser inferior a 1 x 10-7 /N, onde N é o número de pares do sistema (2 ou 3)</a:t>
            </a:r>
            <a:endParaRPr lang="pt-PT"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922114"/>
          </a:xfrm>
        </p:spPr>
        <p:txBody>
          <a:bodyPr/>
          <a:lstStyle/>
          <a:p>
            <a:r>
              <a:rPr lang="pt-PT" b="1" dirty="0" smtClean="0">
                <a:solidFill>
                  <a:srgbClr val="FF0000"/>
                </a:solidFill>
                <a:latin typeface="Arial" pitchFamily="34" charset="0"/>
                <a:cs typeface="Arial" pitchFamily="34" charset="0"/>
              </a:rPr>
              <a:t>HDSL- Caraterística </a:t>
            </a:r>
            <a:endParaRPr lang="pt-PT" dirty="0"/>
          </a:p>
        </p:txBody>
      </p:sp>
      <p:sp>
        <p:nvSpPr>
          <p:cNvPr id="3" name="Marcador de Posição de Conteúdo 2"/>
          <p:cNvSpPr>
            <a:spLocks noGrp="1"/>
          </p:cNvSpPr>
          <p:nvPr>
            <p:ph sz="quarter" idx="1"/>
          </p:nvPr>
        </p:nvSpPr>
        <p:spPr/>
        <p:txBody>
          <a:bodyPr>
            <a:normAutofit/>
          </a:bodyPr>
          <a:lstStyle/>
          <a:p>
            <a:pPr>
              <a:buFont typeface="Wingdings" pitchFamily="2" charset="2"/>
              <a:buChar char="q"/>
            </a:pPr>
            <a:r>
              <a:rPr lang="pt-PT" dirty="0" smtClean="0"/>
              <a:t> A experiência com o acesso básico em RDSI (terminações de linha e de rede) impulsionou as técnicas utilizadas</a:t>
            </a:r>
          </a:p>
          <a:p>
            <a:pPr>
              <a:buFont typeface="Wingdings" pitchFamily="2" charset="2"/>
              <a:buChar char="q"/>
            </a:pPr>
            <a:r>
              <a:rPr lang="pt-PT" dirty="0" smtClean="0"/>
              <a:t>Para diminuir a largura de faixa ocupada utiliza-se o código 2B1Q (2 símbolos binários são codificados como 1 símbolo quaternário, reduzindo à metade a velocidade de símbolos, em bauds)</a:t>
            </a:r>
          </a:p>
          <a:p>
            <a:pPr>
              <a:buFont typeface="Wingdings" pitchFamily="2" charset="2"/>
              <a:buChar char="q"/>
            </a:pPr>
            <a:r>
              <a:rPr lang="pt-PT" dirty="0" smtClean="0"/>
              <a:t> Opcionalmente, utiliza-se a modulação CAP (em amplitude e fase, sem portadora: </a:t>
            </a:r>
            <a:r>
              <a:rPr lang="pt-PT" dirty="0" err="1" smtClean="0"/>
              <a:t>Carrierless</a:t>
            </a:r>
            <a:r>
              <a:rPr lang="pt-PT" dirty="0" smtClean="0"/>
              <a:t> Amplitude </a:t>
            </a:r>
            <a:r>
              <a:rPr lang="pt-PT" dirty="0" err="1" smtClean="0"/>
              <a:t>and</a:t>
            </a:r>
            <a:r>
              <a:rPr lang="pt-PT" dirty="0" smtClean="0"/>
              <a:t> </a:t>
            </a:r>
            <a:r>
              <a:rPr lang="pt-PT" dirty="0" err="1" smtClean="0"/>
              <a:t>Phase</a:t>
            </a:r>
            <a:r>
              <a:rPr lang="pt-PT" dirty="0" smtClean="0"/>
              <a:t> </a:t>
            </a:r>
            <a:r>
              <a:rPr lang="pt-PT" dirty="0" err="1" smtClean="0"/>
              <a:t>Modulation</a:t>
            </a:r>
            <a:r>
              <a:rPr lang="pt-PT" dirty="0" smtClean="0"/>
              <a:t>), derivação da modulação QAM</a:t>
            </a:r>
            <a:endParaRPr lang="pt-PT"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3600" b="1" dirty="0" smtClean="0">
                <a:solidFill>
                  <a:srgbClr val="FF0000"/>
                </a:solidFill>
                <a:latin typeface="Arial" pitchFamily="34" charset="0"/>
                <a:cs typeface="Arial" pitchFamily="34" charset="0"/>
              </a:rPr>
              <a:t>HDSL- Operação</a:t>
            </a:r>
            <a:r>
              <a:rPr lang="pt-PT" altLang="pt-PT" b="1" dirty="0" smtClean="0">
                <a:solidFill>
                  <a:srgbClr val="FF0000"/>
                </a:solidFill>
              </a:rPr>
              <a:t/>
            </a:r>
            <a:br>
              <a:rPr lang="pt-PT" altLang="pt-PT" b="1" dirty="0" smtClean="0">
                <a:solidFill>
                  <a:srgbClr val="FF0000"/>
                </a:solidFill>
              </a:rPr>
            </a:br>
            <a:endParaRPr lang="pt-PT" dirty="0"/>
          </a:p>
        </p:txBody>
      </p:sp>
      <p:pic>
        <p:nvPicPr>
          <p:cNvPr id="1026" name="Picture 2"/>
          <p:cNvPicPr>
            <a:picLocks noChangeAspect="1" noChangeArrowheads="1"/>
          </p:cNvPicPr>
          <p:nvPr/>
        </p:nvPicPr>
        <p:blipFill>
          <a:blip r:embed="rId3" cstate="print"/>
          <a:srcRect/>
          <a:stretch>
            <a:fillRect/>
          </a:stretch>
        </p:blipFill>
        <p:spPr bwMode="auto">
          <a:xfrm>
            <a:off x="395536" y="764704"/>
            <a:ext cx="8208912" cy="57606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HDSL- Aplicações</a:t>
            </a:r>
            <a:r>
              <a:rPr lang="pt-PT" altLang="pt-PT" b="1" dirty="0" smtClean="0">
                <a:solidFill>
                  <a:srgbClr val="FF0000"/>
                </a:solidFill>
              </a:rPr>
              <a:t/>
            </a:r>
            <a:br>
              <a:rPr lang="pt-PT" altLang="pt-PT" b="1" dirty="0" smtClean="0">
                <a:solidFill>
                  <a:srgbClr val="FF0000"/>
                </a:solidFill>
              </a:rPr>
            </a:br>
            <a:endParaRPr lang="pt-PT" dirty="0"/>
          </a:p>
        </p:txBody>
      </p:sp>
      <p:sp>
        <p:nvSpPr>
          <p:cNvPr id="6" name="Marcador de Posição de Conteúdo 5"/>
          <p:cNvSpPr>
            <a:spLocks noGrp="1"/>
          </p:cNvSpPr>
          <p:nvPr>
            <p:ph sz="quarter" idx="1"/>
          </p:nvPr>
        </p:nvSpPr>
        <p:spPr>
          <a:xfrm>
            <a:off x="611560" y="1484784"/>
            <a:ext cx="7772400" cy="4572000"/>
          </a:xfrm>
        </p:spPr>
        <p:txBody>
          <a:bodyPr/>
          <a:lstStyle/>
          <a:p>
            <a:pPr>
              <a:buFont typeface="Wingdings" pitchFamily="2" charset="2"/>
              <a:buChar char="q"/>
            </a:pPr>
            <a:r>
              <a:rPr lang="pt-PT" dirty="0" smtClean="0"/>
              <a:t> Conexão entre Centrais Públicas e PABX.</a:t>
            </a:r>
          </a:p>
          <a:p>
            <a:pPr>
              <a:buFont typeface="Wingdings" pitchFamily="2" charset="2"/>
              <a:buChar char="q"/>
            </a:pPr>
            <a:r>
              <a:rPr lang="pt-PT" dirty="0" smtClean="0"/>
              <a:t>Interconexão com estações celulares (ERB=CCC).</a:t>
            </a:r>
          </a:p>
          <a:p>
            <a:pPr>
              <a:buFont typeface="Wingdings" pitchFamily="2" charset="2"/>
              <a:buChar char="q"/>
            </a:pPr>
            <a:r>
              <a:rPr lang="es-ES" dirty="0" smtClean="0"/>
              <a:t>Sistemas DLC (</a:t>
            </a:r>
            <a:r>
              <a:rPr lang="es-ES" i="1" dirty="0" smtClean="0"/>
              <a:t>Digital </a:t>
            </a:r>
            <a:r>
              <a:rPr lang="es-ES" i="1" dirty="0" err="1" smtClean="0"/>
              <a:t>Loop</a:t>
            </a:r>
            <a:r>
              <a:rPr lang="es-ES" i="1" dirty="0" smtClean="0"/>
              <a:t> </a:t>
            </a:r>
            <a:r>
              <a:rPr lang="es-ES" i="1" dirty="0" err="1" smtClean="0"/>
              <a:t>Carrier</a:t>
            </a:r>
            <a:r>
              <a:rPr lang="es-ES" i="1" dirty="0" smtClean="0"/>
              <a:t>).</a:t>
            </a:r>
          </a:p>
          <a:p>
            <a:pPr>
              <a:buFont typeface="Wingdings" pitchFamily="2" charset="2"/>
              <a:buChar char="q"/>
            </a:pPr>
            <a:r>
              <a:rPr lang="pt-PT" dirty="0" smtClean="0"/>
              <a:t>Conexão com servidores Internet.</a:t>
            </a:r>
          </a:p>
          <a:p>
            <a:pPr>
              <a:buFont typeface="Wingdings" pitchFamily="2" charset="2"/>
              <a:buChar char="q"/>
            </a:pPr>
            <a:r>
              <a:rPr lang="pt-PT" dirty="0" smtClean="0"/>
              <a:t>Redes de dados privadas (</a:t>
            </a:r>
            <a:r>
              <a:rPr lang="pt-PT" dirty="0" err="1" smtClean="0"/>
              <a:t>LPs</a:t>
            </a:r>
            <a:r>
              <a:rPr lang="pt-PT" dirty="0" smtClean="0"/>
              <a:t>).</a:t>
            </a:r>
          </a:p>
          <a:p>
            <a:pPr>
              <a:buFont typeface="Wingdings" pitchFamily="2" charset="2"/>
              <a:buChar char="q"/>
            </a:pPr>
            <a:r>
              <a:rPr lang="pt-PT" dirty="0" smtClean="0"/>
              <a:t>Acesso a redes (última milha)</a:t>
            </a:r>
          </a:p>
          <a:p>
            <a:pPr>
              <a:buFont typeface="Wingdings" pitchFamily="2" charset="2"/>
              <a:buChar char="q"/>
            </a:pPr>
            <a:r>
              <a:rPr lang="pt-PT" dirty="0" smtClean="0"/>
              <a:t>Enlaces de interconexão entre centrais telefônicas</a:t>
            </a:r>
          </a:p>
          <a:p>
            <a:pPr>
              <a:buFont typeface="Wingdings" pitchFamily="2" charset="2"/>
              <a:buChar char="q"/>
            </a:pPr>
            <a:r>
              <a:rPr lang="pt-PT" dirty="0" smtClean="0"/>
              <a:t>Interconexão de redes LAN-WAN (interfaces de dados V.35)</a:t>
            </a:r>
            <a:endParaRPr lang="pt-PT"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Vantagens do HDSL</a:t>
            </a:r>
            <a:r>
              <a:rPr lang="pt-PT" altLang="pt-PT" b="1" dirty="0" smtClean="0">
                <a:solidFill>
                  <a:srgbClr val="FF0000"/>
                </a:solidFill>
              </a:rPr>
              <a:t/>
            </a:r>
            <a:br>
              <a:rPr lang="pt-PT" altLang="pt-PT" b="1" dirty="0" smtClean="0">
                <a:solidFill>
                  <a:srgbClr val="FF0000"/>
                </a:solidFill>
              </a:rPr>
            </a:br>
            <a:endParaRPr lang="pt-PT" dirty="0"/>
          </a:p>
        </p:txBody>
      </p:sp>
      <p:sp>
        <p:nvSpPr>
          <p:cNvPr id="9" name="Marcador de Posição de Conteúdo 8"/>
          <p:cNvSpPr>
            <a:spLocks noGrp="1"/>
          </p:cNvSpPr>
          <p:nvPr>
            <p:ph sz="quarter" idx="1"/>
          </p:nvPr>
        </p:nvSpPr>
        <p:spPr/>
        <p:txBody>
          <a:bodyPr>
            <a:normAutofit/>
          </a:bodyPr>
          <a:lstStyle/>
          <a:p>
            <a:pPr>
              <a:buNone/>
            </a:pPr>
            <a:r>
              <a:rPr lang="pt-PT" sz="3200" dirty="0" smtClean="0"/>
              <a:t>• Não apresenta dificuldades de engenharia</a:t>
            </a:r>
          </a:p>
          <a:p>
            <a:pPr>
              <a:buNone/>
            </a:pPr>
            <a:r>
              <a:rPr lang="pt-PT" sz="3200" dirty="0" smtClean="0"/>
              <a:t>• O HDSL deve funcionar em mais de 99% dos </a:t>
            </a:r>
            <a:r>
              <a:rPr lang="pt-PT" sz="3200" dirty="0" err="1" smtClean="0"/>
              <a:t>loops</a:t>
            </a:r>
            <a:r>
              <a:rPr lang="pt-PT" sz="3200" dirty="0" smtClean="0"/>
              <a:t>.</a:t>
            </a:r>
          </a:p>
          <a:p>
            <a:pPr>
              <a:buNone/>
            </a:pPr>
            <a:r>
              <a:rPr lang="pt-PT" sz="3200" dirty="0" smtClean="0"/>
              <a:t>• Até 4 km sem repetidores, se não há fios AWG 26 (ou 0,4mm)</a:t>
            </a:r>
          </a:p>
          <a:p>
            <a:pPr>
              <a:buNone/>
            </a:pPr>
            <a:r>
              <a:rPr lang="pt-PT" sz="3200" dirty="0" smtClean="0"/>
              <a:t>• Até 3 km sem repetidores ainda com </a:t>
            </a:r>
            <a:r>
              <a:rPr lang="pt-PT" sz="3200" dirty="0" err="1" smtClean="0"/>
              <a:t>loops</a:t>
            </a:r>
            <a:r>
              <a:rPr lang="pt-PT" sz="3200" dirty="0" smtClean="0"/>
              <a:t> mistos</a:t>
            </a:r>
          </a:p>
          <a:p>
            <a:pPr>
              <a:buNone/>
            </a:pPr>
            <a:r>
              <a:rPr lang="pt-PT" sz="3200" dirty="0" smtClean="0"/>
              <a:t>• Taxa de erros de bits (BER) melhor que 10-7.</a:t>
            </a:r>
            <a:endParaRPr lang="pt-PT" sz="32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PT" altLang="pt-PT" b="1" dirty="0" smtClean="0">
                <a:solidFill>
                  <a:srgbClr val="FF0000"/>
                </a:solidFill>
                <a:latin typeface="Arial" pitchFamily="34" charset="0"/>
                <a:cs typeface="Arial" pitchFamily="34" charset="0"/>
              </a:rPr>
              <a:t/>
            </a:r>
            <a:br>
              <a:rPr lang="pt-PT" altLang="pt-PT" b="1" dirty="0" smtClean="0">
                <a:solidFill>
                  <a:srgbClr val="FF0000"/>
                </a:solidFill>
                <a:latin typeface="Arial" pitchFamily="34" charset="0"/>
                <a:cs typeface="Arial" pitchFamily="34" charset="0"/>
              </a:rPr>
            </a:br>
            <a:r>
              <a:rPr lang="pt-PT" altLang="pt-PT" b="1" dirty="0" smtClean="0">
                <a:solidFill>
                  <a:srgbClr val="FF0000"/>
                </a:solidFill>
                <a:latin typeface="Arial" pitchFamily="34" charset="0"/>
                <a:cs typeface="Arial" pitchFamily="34" charset="0"/>
              </a:rPr>
              <a:t/>
            </a:r>
            <a:br>
              <a:rPr lang="pt-PT" altLang="pt-PT" b="1" dirty="0" smtClean="0">
                <a:solidFill>
                  <a:srgbClr val="FF0000"/>
                </a:solidFill>
                <a:latin typeface="Arial" pitchFamily="34" charset="0"/>
                <a:cs typeface="Arial" pitchFamily="34" charset="0"/>
              </a:rPr>
            </a:br>
            <a:r>
              <a:rPr lang="pt-PT" altLang="pt-PT" b="1" dirty="0" smtClean="0">
                <a:solidFill>
                  <a:srgbClr val="FF0000"/>
                </a:solidFill>
                <a:latin typeface="Arial" pitchFamily="34" charset="0"/>
                <a:cs typeface="Arial" pitchFamily="34" charset="0"/>
              </a:rPr>
              <a:t/>
            </a:r>
            <a:br>
              <a:rPr lang="pt-PT" altLang="pt-PT" b="1" dirty="0" smtClean="0">
                <a:solidFill>
                  <a:srgbClr val="FF0000"/>
                </a:solidFill>
                <a:latin typeface="Arial" pitchFamily="34" charset="0"/>
                <a:cs typeface="Arial" pitchFamily="34" charset="0"/>
              </a:rPr>
            </a:br>
            <a:r>
              <a:rPr lang="pt-PT" altLang="pt-PT" b="1" dirty="0" smtClean="0">
                <a:solidFill>
                  <a:srgbClr val="FF0000"/>
                </a:solidFill>
                <a:latin typeface="Arial" pitchFamily="34" charset="0"/>
                <a:cs typeface="Arial" pitchFamily="34" charset="0"/>
              </a:rPr>
              <a:t/>
            </a:r>
            <a:br>
              <a:rPr lang="pt-PT" altLang="pt-PT" b="1" dirty="0" smtClean="0">
                <a:solidFill>
                  <a:srgbClr val="FF0000"/>
                </a:solidFill>
                <a:latin typeface="Arial" pitchFamily="34" charset="0"/>
                <a:cs typeface="Arial" pitchFamily="34" charset="0"/>
              </a:rPr>
            </a:br>
            <a:r>
              <a:rPr lang="pt-PT" altLang="pt-PT" b="1" dirty="0" smtClean="0">
                <a:solidFill>
                  <a:srgbClr val="FF0000"/>
                </a:solidFill>
                <a:latin typeface="Arial" pitchFamily="34" charset="0"/>
                <a:cs typeface="Arial" pitchFamily="34" charset="0"/>
              </a:rPr>
              <a:t/>
            </a:r>
            <a:br>
              <a:rPr lang="pt-PT" altLang="pt-PT" b="1" dirty="0" smtClean="0">
                <a:solidFill>
                  <a:srgbClr val="FF0000"/>
                </a:solidFill>
                <a:latin typeface="Arial" pitchFamily="34" charset="0"/>
                <a:cs typeface="Arial" pitchFamily="34" charset="0"/>
              </a:rPr>
            </a:br>
            <a:r>
              <a:rPr lang="pt-PT" altLang="pt-PT" b="1" dirty="0" smtClean="0">
                <a:solidFill>
                  <a:srgbClr val="FF0000"/>
                </a:solidFill>
                <a:latin typeface="Arial" pitchFamily="34" charset="0"/>
                <a:cs typeface="Arial" pitchFamily="34" charset="0"/>
              </a:rPr>
              <a:t/>
            </a:r>
            <a:br>
              <a:rPr lang="pt-PT" altLang="pt-PT" b="1" dirty="0" smtClean="0">
                <a:solidFill>
                  <a:srgbClr val="FF0000"/>
                </a:solidFill>
                <a:latin typeface="Arial" pitchFamily="34" charset="0"/>
                <a:cs typeface="Arial" pitchFamily="34" charset="0"/>
              </a:rPr>
            </a:br>
            <a:r>
              <a:rPr lang="pt-PT" altLang="pt-PT" b="1" dirty="0" smtClean="0">
                <a:solidFill>
                  <a:srgbClr val="FF0000"/>
                </a:solidFill>
                <a:latin typeface="Arial" pitchFamily="34" charset="0"/>
                <a:cs typeface="Arial" pitchFamily="34" charset="0"/>
              </a:rPr>
              <a:t/>
            </a:r>
            <a:br>
              <a:rPr lang="pt-PT" altLang="pt-PT" b="1" dirty="0" smtClean="0">
                <a:solidFill>
                  <a:srgbClr val="FF0000"/>
                </a:solidFill>
                <a:latin typeface="Arial" pitchFamily="34" charset="0"/>
                <a:cs typeface="Arial" pitchFamily="34" charset="0"/>
              </a:rPr>
            </a:br>
            <a:r>
              <a:rPr lang="pt-PT" altLang="pt-PT" b="1" dirty="0" smtClean="0">
                <a:solidFill>
                  <a:srgbClr val="FF0000"/>
                </a:solidFill>
                <a:latin typeface="Arial" pitchFamily="34" charset="0"/>
                <a:cs typeface="Arial" pitchFamily="34" charset="0"/>
              </a:rPr>
              <a:t/>
            </a:r>
            <a:br>
              <a:rPr lang="pt-PT" altLang="pt-PT" b="1" dirty="0" smtClean="0">
                <a:solidFill>
                  <a:srgbClr val="FF0000"/>
                </a:solidFill>
                <a:latin typeface="Arial" pitchFamily="34" charset="0"/>
                <a:cs typeface="Arial" pitchFamily="34" charset="0"/>
              </a:rPr>
            </a:br>
            <a:r>
              <a:rPr lang="pt-PT" altLang="pt-PT" b="1" dirty="0" smtClean="0">
                <a:solidFill>
                  <a:srgbClr val="FF0000"/>
                </a:solidFill>
                <a:latin typeface="Arial" pitchFamily="34" charset="0"/>
                <a:cs typeface="Arial" pitchFamily="34" charset="0"/>
              </a:rPr>
              <a:t/>
            </a:r>
            <a:br>
              <a:rPr lang="pt-PT" altLang="pt-PT" b="1" dirty="0" smtClean="0">
                <a:solidFill>
                  <a:srgbClr val="FF0000"/>
                </a:solidFill>
                <a:latin typeface="Arial" pitchFamily="34" charset="0"/>
                <a:cs typeface="Arial" pitchFamily="34" charset="0"/>
              </a:rPr>
            </a:br>
            <a:r>
              <a:rPr lang="pt-PT" altLang="pt-PT" b="1" dirty="0" smtClean="0">
                <a:solidFill>
                  <a:srgbClr val="FF0000"/>
                </a:solidFill>
                <a:latin typeface="Arial" pitchFamily="34" charset="0"/>
                <a:cs typeface="Arial" pitchFamily="34" charset="0"/>
              </a:rPr>
              <a:t/>
            </a:r>
            <a:br>
              <a:rPr lang="pt-PT" altLang="pt-PT" b="1" dirty="0" smtClean="0">
                <a:solidFill>
                  <a:srgbClr val="FF0000"/>
                </a:solidFill>
                <a:latin typeface="Arial" pitchFamily="34" charset="0"/>
                <a:cs typeface="Arial" pitchFamily="34" charset="0"/>
              </a:rPr>
            </a:br>
            <a:r>
              <a:rPr lang="pt-PT" altLang="pt-PT" b="1" dirty="0" smtClean="0">
                <a:solidFill>
                  <a:srgbClr val="FF0000"/>
                </a:solidFill>
                <a:latin typeface="Arial" pitchFamily="34" charset="0"/>
                <a:cs typeface="Arial" pitchFamily="34" charset="0"/>
              </a:rPr>
              <a:t/>
            </a:r>
            <a:br>
              <a:rPr lang="pt-PT" altLang="pt-PT" b="1" dirty="0" smtClean="0">
                <a:solidFill>
                  <a:srgbClr val="FF0000"/>
                </a:solidFill>
                <a:latin typeface="Arial" pitchFamily="34" charset="0"/>
                <a:cs typeface="Arial" pitchFamily="34" charset="0"/>
              </a:rPr>
            </a:br>
            <a:r>
              <a:rPr lang="pt-PT" altLang="pt-PT" b="1" dirty="0" smtClean="0">
                <a:solidFill>
                  <a:srgbClr val="FF0000"/>
                </a:solidFill>
              </a:rPr>
              <a:t/>
            </a:r>
            <a:br>
              <a:rPr lang="pt-PT" altLang="pt-PT" b="1" dirty="0" smtClean="0">
                <a:solidFill>
                  <a:srgbClr val="FF0000"/>
                </a:solidFill>
              </a:rPr>
            </a:br>
            <a:r>
              <a:rPr lang="pt-PT" altLang="pt-PT" b="1" dirty="0" smtClean="0">
                <a:solidFill>
                  <a:srgbClr val="FF0000"/>
                </a:solidFill>
              </a:rPr>
              <a:t/>
            </a:r>
            <a:br>
              <a:rPr lang="pt-PT" altLang="pt-PT" b="1" dirty="0" smtClean="0">
                <a:solidFill>
                  <a:srgbClr val="FF0000"/>
                </a:solidFill>
              </a:rPr>
            </a:br>
            <a:r>
              <a:rPr lang="pt-PT" altLang="pt-PT" b="1" dirty="0" smtClean="0">
                <a:solidFill>
                  <a:srgbClr val="FF0000"/>
                </a:solidFill>
                <a:latin typeface="Arial" pitchFamily="34" charset="0"/>
                <a:cs typeface="Arial" pitchFamily="34" charset="0"/>
              </a:rPr>
              <a:t>Vantagens do HDSL</a:t>
            </a:r>
            <a:r>
              <a:rPr lang="pt-PT" altLang="pt-PT" b="1" dirty="0" smtClean="0">
                <a:solidFill>
                  <a:srgbClr val="FF0000"/>
                </a:solidFill>
              </a:rPr>
              <a:t/>
            </a:r>
            <a:br>
              <a:rPr lang="pt-PT" altLang="pt-PT" b="1" dirty="0" smtClean="0">
                <a:solidFill>
                  <a:srgbClr val="FF0000"/>
                </a:solidFill>
              </a:rPr>
            </a:br>
            <a:endParaRPr lang="pt-PT" dirty="0"/>
          </a:p>
        </p:txBody>
      </p:sp>
      <p:sp>
        <p:nvSpPr>
          <p:cNvPr id="7" name="Marcador de Posição de Conteúdo 6"/>
          <p:cNvSpPr>
            <a:spLocks noGrp="1"/>
          </p:cNvSpPr>
          <p:nvPr>
            <p:ph sz="quarter" idx="1"/>
          </p:nvPr>
        </p:nvSpPr>
        <p:spPr/>
        <p:txBody>
          <a:bodyPr/>
          <a:lstStyle/>
          <a:p>
            <a:endParaRPr lang="pt-PT"/>
          </a:p>
        </p:txBody>
      </p:sp>
      <p:pic>
        <p:nvPicPr>
          <p:cNvPr id="1026" name="Picture 2"/>
          <p:cNvPicPr>
            <a:picLocks noChangeAspect="1" noChangeArrowheads="1"/>
          </p:cNvPicPr>
          <p:nvPr/>
        </p:nvPicPr>
        <p:blipFill>
          <a:blip r:embed="rId2" cstate="print"/>
          <a:srcRect/>
          <a:stretch>
            <a:fillRect/>
          </a:stretch>
        </p:blipFill>
        <p:spPr bwMode="auto">
          <a:xfrm>
            <a:off x="395536" y="1412776"/>
            <a:ext cx="8496944" cy="504055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850106"/>
          </a:xfrm>
        </p:spPr>
        <p:txBody>
          <a:bodyPr>
            <a:normAutofit/>
          </a:bodyPr>
          <a:lstStyle/>
          <a:p>
            <a:r>
              <a:rPr lang="pt-PT" sz="3200" b="1" dirty="0" smtClean="0">
                <a:solidFill>
                  <a:srgbClr val="FF0000"/>
                </a:solidFill>
                <a:latin typeface="Arial" pitchFamily="34" charset="0"/>
                <a:cs typeface="Arial" pitchFamily="34" charset="0"/>
              </a:rPr>
              <a:t>HDSL- Interferências </a:t>
            </a:r>
            <a:endParaRPr lang="pt-PT" sz="3200" dirty="0"/>
          </a:p>
        </p:txBody>
      </p:sp>
      <p:sp>
        <p:nvSpPr>
          <p:cNvPr id="7" name="Rectângulo 6"/>
          <p:cNvSpPr/>
          <p:nvPr/>
        </p:nvSpPr>
        <p:spPr>
          <a:xfrm>
            <a:off x="971600" y="1582340"/>
            <a:ext cx="7704856" cy="4401205"/>
          </a:xfrm>
          <a:prstGeom prst="rect">
            <a:avLst/>
          </a:prstGeom>
        </p:spPr>
        <p:txBody>
          <a:bodyPr wrap="square">
            <a:spAutoFit/>
          </a:bodyPr>
          <a:lstStyle/>
          <a:p>
            <a:r>
              <a:rPr lang="pt-PT" sz="2800" dirty="0" smtClean="0"/>
              <a:t>• Como a transmissão (TX) e a </a:t>
            </a:r>
            <a:r>
              <a:rPr lang="pt-PT" sz="2800" dirty="0" err="1" smtClean="0"/>
              <a:t>recepção</a:t>
            </a:r>
            <a:r>
              <a:rPr lang="pt-PT" sz="2800" dirty="0" smtClean="0"/>
              <a:t> (RX) são feitas no mesmo par de fio, nas mesmas frequências, os sinais são separados utilizando canceladores de eco.</a:t>
            </a:r>
          </a:p>
          <a:p>
            <a:r>
              <a:rPr lang="pt-PT" sz="2800" dirty="0" smtClean="0"/>
              <a:t>• O refinamento da técnica de cancelamento de eco, utilizando DSP (processamento digital de sinais), para uso na RDSI (Acesso Básico), tornou praticável a tecnologia HDSL;</a:t>
            </a:r>
          </a:p>
          <a:p>
            <a:r>
              <a:rPr lang="pt-PT" sz="2800" dirty="0" smtClean="0"/>
              <a:t>• Como normalmente existem vários pares de fios em um cabo, existe a possibilidade de interferência de sinais de um par em outro adjacente (CROSSTALK).</a:t>
            </a:r>
            <a:endParaRPr lang="pt-PT" sz="28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778098"/>
          </a:xfrm>
        </p:spPr>
        <p:txBody>
          <a:bodyPr>
            <a:normAutofit/>
          </a:bodyPr>
          <a:lstStyle/>
          <a:p>
            <a:r>
              <a:rPr lang="pt-PT" sz="3200" b="1" dirty="0" smtClean="0">
                <a:solidFill>
                  <a:srgbClr val="FF0000"/>
                </a:solidFill>
                <a:latin typeface="Arial" pitchFamily="34" charset="0"/>
                <a:cs typeface="Arial" pitchFamily="34" charset="0"/>
              </a:rPr>
              <a:t>CROSSTALK</a:t>
            </a:r>
            <a:endParaRPr lang="pt-PT" sz="3200" dirty="0"/>
          </a:p>
        </p:txBody>
      </p:sp>
      <p:sp>
        <p:nvSpPr>
          <p:cNvPr id="7" name="Marcador de Posição de Conteúdo 6"/>
          <p:cNvSpPr>
            <a:spLocks noGrp="1"/>
          </p:cNvSpPr>
          <p:nvPr>
            <p:ph sz="quarter" idx="1"/>
          </p:nvPr>
        </p:nvSpPr>
        <p:spPr>
          <a:xfrm>
            <a:off x="323528" y="1447800"/>
            <a:ext cx="8363272" cy="4572000"/>
          </a:xfrm>
        </p:spPr>
        <p:txBody>
          <a:bodyPr>
            <a:normAutofit fontScale="92500" lnSpcReduction="20000"/>
          </a:bodyPr>
          <a:lstStyle/>
          <a:p>
            <a:pPr>
              <a:buNone/>
            </a:pPr>
            <a:r>
              <a:rPr lang="pt-PT" dirty="0" smtClean="0"/>
              <a:t>• Pode ser categorizado em</a:t>
            </a:r>
          </a:p>
          <a:p>
            <a:pPr>
              <a:buNone/>
            </a:pPr>
            <a:r>
              <a:rPr lang="pt-PT" dirty="0" smtClean="0"/>
              <a:t>duas formas:</a:t>
            </a:r>
          </a:p>
          <a:p>
            <a:pPr>
              <a:buNone/>
            </a:pPr>
            <a:r>
              <a:rPr lang="pt-PT" dirty="0" smtClean="0"/>
              <a:t>• </a:t>
            </a:r>
            <a:r>
              <a:rPr lang="pt-PT" dirty="0" err="1" smtClean="0"/>
              <a:t>Near</a:t>
            </a:r>
            <a:r>
              <a:rPr lang="pt-PT" dirty="0" smtClean="0"/>
              <a:t> </a:t>
            </a:r>
            <a:r>
              <a:rPr lang="pt-PT" dirty="0" err="1" smtClean="0"/>
              <a:t>End</a:t>
            </a:r>
            <a:r>
              <a:rPr lang="pt-PT" dirty="0" smtClean="0"/>
              <a:t> </a:t>
            </a:r>
            <a:r>
              <a:rPr lang="pt-PT" dirty="0" err="1" smtClean="0"/>
              <a:t>crosstalk</a:t>
            </a:r>
            <a:r>
              <a:rPr lang="pt-PT" dirty="0" smtClean="0"/>
              <a:t> (NEXT):</a:t>
            </a:r>
          </a:p>
          <a:p>
            <a:pPr>
              <a:buNone/>
            </a:pPr>
            <a:r>
              <a:rPr lang="pt-PT" dirty="0" smtClean="0"/>
              <a:t>interferência que aparece no</a:t>
            </a:r>
          </a:p>
          <a:p>
            <a:pPr>
              <a:buNone/>
            </a:pPr>
            <a:r>
              <a:rPr lang="pt-PT" dirty="0" smtClean="0"/>
              <a:t>outro par, na mesma</a:t>
            </a:r>
          </a:p>
          <a:p>
            <a:pPr>
              <a:buNone/>
            </a:pPr>
            <a:r>
              <a:rPr lang="pt-PT" dirty="0" smtClean="0"/>
              <a:t>extremidade da fonte</a:t>
            </a:r>
          </a:p>
          <a:p>
            <a:pPr>
              <a:buNone/>
            </a:pPr>
            <a:r>
              <a:rPr lang="pt-PT" dirty="0" smtClean="0"/>
              <a:t>geradora do sinal;</a:t>
            </a:r>
          </a:p>
          <a:p>
            <a:pPr>
              <a:buNone/>
            </a:pPr>
            <a:r>
              <a:rPr lang="pt-PT" dirty="0" smtClean="0"/>
              <a:t>• </a:t>
            </a:r>
            <a:r>
              <a:rPr lang="pt-PT" dirty="0" err="1" smtClean="0"/>
              <a:t>Far</a:t>
            </a:r>
            <a:r>
              <a:rPr lang="pt-PT" dirty="0" smtClean="0"/>
              <a:t> </a:t>
            </a:r>
            <a:r>
              <a:rPr lang="pt-PT" dirty="0" err="1" smtClean="0"/>
              <a:t>End</a:t>
            </a:r>
            <a:r>
              <a:rPr lang="pt-PT" dirty="0" smtClean="0"/>
              <a:t> </a:t>
            </a:r>
            <a:r>
              <a:rPr lang="pt-PT" dirty="0" err="1" smtClean="0"/>
              <a:t>crosstalk</a:t>
            </a:r>
            <a:r>
              <a:rPr lang="pt-PT" dirty="0" smtClean="0"/>
              <a:t> (FEXT):</a:t>
            </a:r>
          </a:p>
          <a:p>
            <a:pPr>
              <a:buNone/>
            </a:pPr>
            <a:r>
              <a:rPr lang="pt-PT" dirty="0" smtClean="0"/>
              <a:t>interferência que aparece no</a:t>
            </a:r>
          </a:p>
          <a:p>
            <a:pPr>
              <a:buNone/>
            </a:pPr>
            <a:r>
              <a:rPr lang="pt-PT" dirty="0" smtClean="0"/>
              <a:t>outro par, na extremidade</a:t>
            </a:r>
          </a:p>
          <a:p>
            <a:pPr>
              <a:buNone/>
            </a:pPr>
            <a:r>
              <a:rPr lang="pt-PT" dirty="0" smtClean="0"/>
              <a:t>oposta da fonte geradora do</a:t>
            </a:r>
          </a:p>
          <a:p>
            <a:pPr>
              <a:buNone/>
            </a:pPr>
            <a:r>
              <a:rPr lang="pt-PT" dirty="0" smtClean="0"/>
              <a:t>sinal;</a:t>
            </a:r>
            <a:endParaRPr lang="pt-PT" dirty="0"/>
          </a:p>
        </p:txBody>
      </p:sp>
      <p:pic>
        <p:nvPicPr>
          <p:cNvPr id="2051" name="Picture 3"/>
          <p:cNvPicPr>
            <a:picLocks noChangeAspect="1" noChangeArrowheads="1"/>
          </p:cNvPicPr>
          <p:nvPr/>
        </p:nvPicPr>
        <p:blipFill>
          <a:blip r:embed="rId2" cstate="print"/>
          <a:srcRect/>
          <a:stretch>
            <a:fillRect/>
          </a:stretch>
        </p:blipFill>
        <p:spPr bwMode="auto">
          <a:xfrm>
            <a:off x="4860032" y="1412776"/>
            <a:ext cx="3114675" cy="3962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2200" b="1" dirty="0" smtClean="0">
                <a:solidFill>
                  <a:srgbClr val="FF0000"/>
                </a:solidFill>
                <a:latin typeface="Arial" pitchFamily="34" charset="0"/>
                <a:cs typeface="Arial" pitchFamily="34" charset="0"/>
              </a:rPr>
              <a:t/>
            </a:r>
            <a:br>
              <a:rPr lang="pt-PT" altLang="pt-PT" sz="2200" b="1" dirty="0" smtClean="0">
                <a:solidFill>
                  <a:srgbClr val="FF0000"/>
                </a:solidFill>
                <a:latin typeface="Arial" pitchFamily="34" charset="0"/>
                <a:cs typeface="Arial" pitchFamily="34" charset="0"/>
              </a:rPr>
            </a:br>
            <a:r>
              <a:rPr lang="pt-PT" altLang="pt-PT" sz="3100" b="1" dirty="0" smtClean="0">
                <a:solidFill>
                  <a:srgbClr val="FF0000"/>
                </a:solidFill>
                <a:latin typeface="Arial" pitchFamily="34" charset="0"/>
                <a:cs typeface="Arial" pitchFamily="34" charset="0"/>
              </a:rPr>
              <a:t>SDSL (Single </a:t>
            </a:r>
            <a:r>
              <a:rPr lang="pt-PT" altLang="pt-PT" sz="3100" b="1" dirty="0" err="1" smtClean="0">
                <a:solidFill>
                  <a:srgbClr val="FF0000"/>
                </a:solidFill>
                <a:latin typeface="Arial" pitchFamily="34" charset="0"/>
                <a:cs typeface="Arial" pitchFamily="34" charset="0"/>
              </a:rPr>
              <a:t>Line</a:t>
            </a:r>
            <a:r>
              <a:rPr lang="pt-PT" altLang="pt-PT" sz="3100" b="1" dirty="0" smtClean="0">
                <a:solidFill>
                  <a:srgbClr val="FF0000"/>
                </a:solidFill>
                <a:latin typeface="Arial" pitchFamily="34" charset="0"/>
                <a:cs typeface="Arial" pitchFamily="34" charset="0"/>
              </a:rPr>
              <a:t> Digital </a:t>
            </a:r>
            <a:r>
              <a:rPr lang="pt-PT" altLang="pt-PT" sz="3100" b="1" dirty="0" err="1" smtClean="0">
                <a:solidFill>
                  <a:srgbClr val="FF0000"/>
                </a:solidFill>
                <a:latin typeface="Arial" pitchFamily="34" charset="0"/>
                <a:cs typeface="Arial" pitchFamily="34" charset="0"/>
              </a:rPr>
              <a:t>Subscriber</a:t>
            </a:r>
            <a:r>
              <a:rPr lang="pt-PT" altLang="pt-PT" sz="3100" b="1" dirty="0" smtClean="0">
                <a:solidFill>
                  <a:srgbClr val="FF0000"/>
                </a:solidFill>
                <a:latin typeface="Arial" pitchFamily="34" charset="0"/>
                <a:cs typeface="Arial" pitchFamily="34" charset="0"/>
              </a:rPr>
              <a:t> </a:t>
            </a:r>
            <a:r>
              <a:rPr lang="pt-PT" altLang="pt-PT" sz="3100" b="1" dirty="0" err="1" smtClean="0">
                <a:solidFill>
                  <a:srgbClr val="FF0000"/>
                </a:solidFill>
                <a:latin typeface="Arial" pitchFamily="34" charset="0"/>
                <a:cs typeface="Arial" pitchFamily="34" charset="0"/>
              </a:rPr>
              <a:t>Line</a:t>
            </a:r>
            <a:r>
              <a:rPr lang="pt-PT" altLang="pt-PT" sz="3100" b="1" dirty="0" smtClean="0">
                <a:solidFill>
                  <a:srgbClr val="FF0000"/>
                </a:solidFill>
                <a:latin typeface="Arial" pitchFamily="34" charset="0"/>
                <a:cs typeface="Arial" pitchFamily="34" charset="0"/>
              </a:rPr>
              <a:t>)</a:t>
            </a:r>
            <a:r>
              <a:rPr lang="pt-PT" altLang="pt-PT" sz="3100" b="1" dirty="0" smtClean="0">
                <a:solidFill>
                  <a:srgbClr val="FF0000"/>
                </a:solidFill>
              </a:rPr>
              <a:t/>
            </a:r>
            <a:br>
              <a:rPr lang="pt-PT" altLang="pt-PT" sz="3100" b="1" dirty="0" smtClean="0">
                <a:solidFill>
                  <a:srgbClr val="FF0000"/>
                </a:solidFill>
              </a:rPr>
            </a:br>
            <a:endParaRPr lang="pt-PT" sz="3100" dirty="0"/>
          </a:p>
        </p:txBody>
      </p:sp>
      <p:sp>
        <p:nvSpPr>
          <p:cNvPr id="5" name="Marcador de Posição de Conteúdo 4"/>
          <p:cNvSpPr>
            <a:spLocks noGrp="1"/>
          </p:cNvSpPr>
          <p:nvPr>
            <p:ph sz="quarter" idx="1"/>
          </p:nvPr>
        </p:nvSpPr>
        <p:spPr/>
        <p:txBody>
          <a:bodyPr>
            <a:normAutofit lnSpcReduction="10000"/>
          </a:bodyPr>
          <a:lstStyle/>
          <a:p>
            <a:pPr>
              <a:buNone/>
            </a:pPr>
            <a:r>
              <a:rPr lang="pt-PT" dirty="0" smtClean="0"/>
              <a:t>• </a:t>
            </a:r>
            <a:r>
              <a:rPr lang="pt-PT" sz="3200" dirty="0" smtClean="0"/>
              <a:t>Versão derivada do HDSL, capaz de transmitir T1 ou E1 em um </a:t>
            </a:r>
            <a:r>
              <a:rPr lang="pt-PT" sz="3200" i="1" dirty="0" smtClean="0"/>
              <a:t>único par metálico.</a:t>
            </a:r>
          </a:p>
          <a:p>
            <a:pPr>
              <a:buNone/>
            </a:pPr>
            <a:r>
              <a:rPr lang="pt-PT" sz="3200" dirty="0" smtClean="0"/>
              <a:t>• Direcionado para o mercado doméstico, </a:t>
            </a:r>
            <a:r>
              <a:rPr lang="pt-PT" sz="3200" i="1" dirty="0" smtClean="0"/>
              <a:t>preserva o canal telefônico analógico (POTS).</a:t>
            </a:r>
          </a:p>
          <a:p>
            <a:pPr>
              <a:buNone/>
            </a:pPr>
            <a:r>
              <a:rPr lang="pt-PT" sz="3200" dirty="0" smtClean="0"/>
              <a:t>• Satisfaz aplicações de </a:t>
            </a:r>
            <a:r>
              <a:rPr lang="pt-PT" sz="3200" i="1" dirty="0" smtClean="0"/>
              <a:t>acesso bidirecional, como, p. </a:t>
            </a:r>
            <a:r>
              <a:rPr lang="es-ES" sz="3200" dirty="0" smtClean="0"/>
              <a:t>ex., </a:t>
            </a:r>
            <a:r>
              <a:rPr lang="es-ES" sz="3200" dirty="0" err="1" smtClean="0"/>
              <a:t>usuários</a:t>
            </a:r>
            <a:r>
              <a:rPr lang="es-ES" sz="3200" dirty="0" smtClean="0"/>
              <a:t> de LAN remotos.</a:t>
            </a:r>
          </a:p>
          <a:p>
            <a:pPr>
              <a:buNone/>
            </a:pPr>
            <a:r>
              <a:rPr lang="pt-PT" sz="3200" dirty="0" smtClean="0"/>
              <a:t>• Linhas de até 3 Km de extensão (2 Mbps).</a:t>
            </a:r>
          </a:p>
          <a:p>
            <a:pPr>
              <a:buNone/>
            </a:pPr>
            <a:r>
              <a:rPr lang="pt-PT" sz="3200" dirty="0" smtClean="0"/>
              <a:t>• Admite </a:t>
            </a:r>
            <a:r>
              <a:rPr lang="pt-PT" sz="3200" i="1" dirty="0" smtClean="0"/>
              <a:t>taxas fracionais (160 </a:t>
            </a:r>
            <a:r>
              <a:rPr lang="pt-PT" sz="3200" i="1" dirty="0" err="1" smtClean="0"/>
              <a:t>Kbps</a:t>
            </a:r>
            <a:r>
              <a:rPr lang="pt-PT" sz="3200" i="1" dirty="0" smtClean="0"/>
              <a:t>+), permitindo tarifação diferenciada.</a:t>
            </a:r>
            <a:endParaRPr lang="pt-PT" sz="32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ADSL( </a:t>
            </a:r>
            <a:r>
              <a:rPr lang="pt-PT" altLang="pt-PT" sz="2200" b="1" dirty="0" err="1" smtClean="0">
                <a:solidFill>
                  <a:srgbClr val="FF0000"/>
                </a:solidFill>
                <a:latin typeface="Arial" pitchFamily="34" charset="0"/>
                <a:cs typeface="Arial" pitchFamily="34" charset="0"/>
              </a:rPr>
              <a:t>Asymmetric</a:t>
            </a:r>
            <a:r>
              <a:rPr lang="pt-PT" altLang="pt-PT" sz="2200" b="1" dirty="0" smtClean="0">
                <a:solidFill>
                  <a:srgbClr val="FF0000"/>
                </a:solidFill>
                <a:latin typeface="Arial" pitchFamily="34" charset="0"/>
                <a:cs typeface="Arial" pitchFamily="34" charset="0"/>
              </a:rPr>
              <a:t> Digital </a:t>
            </a:r>
            <a:r>
              <a:rPr lang="pt-PT" altLang="pt-PT" sz="2200" b="1" dirty="0" err="1" smtClean="0">
                <a:solidFill>
                  <a:srgbClr val="FF0000"/>
                </a:solidFill>
                <a:latin typeface="Arial" pitchFamily="34" charset="0"/>
                <a:cs typeface="Arial" pitchFamily="34" charset="0"/>
              </a:rPr>
              <a:t>Subscriber</a:t>
            </a:r>
            <a:r>
              <a:rPr lang="pt-PT" altLang="pt-PT" sz="2200" b="1" dirty="0" smtClean="0">
                <a:solidFill>
                  <a:srgbClr val="FF0000"/>
                </a:solidFill>
                <a:latin typeface="Arial" pitchFamily="34" charset="0"/>
                <a:cs typeface="Arial" pitchFamily="34" charset="0"/>
              </a:rPr>
              <a:t> </a:t>
            </a:r>
            <a:r>
              <a:rPr lang="pt-PT" altLang="pt-PT" sz="2200" b="1" dirty="0" err="1" smtClean="0">
                <a:solidFill>
                  <a:srgbClr val="FF0000"/>
                </a:solidFill>
                <a:latin typeface="Arial" pitchFamily="34" charset="0"/>
                <a:cs typeface="Arial" pitchFamily="34" charset="0"/>
              </a:rPr>
              <a:t>Line</a:t>
            </a:r>
            <a:r>
              <a:rPr lang="pt-PT" altLang="pt-PT" sz="2200" b="1" dirty="0" smtClean="0">
                <a:solidFill>
                  <a:srgbClr val="FF0000"/>
                </a:solidFill>
                <a:latin typeface="Arial" pitchFamily="34" charset="0"/>
                <a:cs typeface="Arial" pitchFamily="34" charset="0"/>
              </a:rPr>
              <a:t>)</a:t>
            </a:r>
            <a:r>
              <a:rPr lang="pt-PT" altLang="pt-PT" b="1" dirty="0" smtClean="0">
                <a:solidFill>
                  <a:srgbClr val="FF0000"/>
                </a:solidFill>
              </a:rPr>
              <a:t/>
            </a:r>
            <a:br>
              <a:rPr lang="pt-PT" altLang="pt-PT" b="1" dirty="0" smtClean="0">
                <a:solidFill>
                  <a:srgbClr val="FF0000"/>
                </a:solidFill>
              </a:rPr>
            </a:br>
            <a:endParaRPr lang="pt-PT" dirty="0"/>
          </a:p>
        </p:txBody>
      </p:sp>
      <p:sp>
        <p:nvSpPr>
          <p:cNvPr id="6" name="Marcador de Posição de Conteúdo 5"/>
          <p:cNvSpPr>
            <a:spLocks noGrp="1"/>
          </p:cNvSpPr>
          <p:nvPr>
            <p:ph sz="quarter" idx="1"/>
          </p:nvPr>
        </p:nvSpPr>
        <p:spPr>
          <a:xfrm>
            <a:off x="914400" y="1447800"/>
            <a:ext cx="7772400" cy="1621160"/>
          </a:xfrm>
        </p:spPr>
        <p:txBody>
          <a:bodyPr/>
          <a:lstStyle/>
          <a:p>
            <a:pPr>
              <a:buNone/>
            </a:pPr>
            <a:r>
              <a:rPr lang="pt-PT" dirty="0" smtClean="0"/>
              <a:t>• A taxa de transmissão do usuário para a rede (Canal </a:t>
            </a:r>
            <a:r>
              <a:rPr lang="pt-PT" dirty="0" err="1" smtClean="0"/>
              <a:t>Upstream</a:t>
            </a:r>
            <a:r>
              <a:rPr lang="pt-PT" dirty="0" smtClean="0"/>
              <a:t>) é diferente da taxa de transmissão da rede para o usuário (Canal </a:t>
            </a:r>
            <a:r>
              <a:rPr lang="pt-PT" dirty="0" err="1" smtClean="0"/>
              <a:t>Downstream</a:t>
            </a:r>
            <a:r>
              <a:rPr lang="pt-PT" dirty="0" smtClean="0"/>
              <a:t>).</a:t>
            </a:r>
            <a:endParaRPr lang="pt-PT" dirty="0"/>
          </a:p>
        </p:txBody>
      </p:sp>
      <p:pic>
        <p:nvPicPr>
          <p:cNvPr id="3074" name="Picture 2"/>
          <p:cNvPicPr>
            <a:picLocks noChangeAspect="1" noChangeArrowheads="1"/>
          </p:cNvPicPr>
          <p:nvPr/>
        </p:nvPicPr>
        <p:blipFill>
          <a:blip r:embed="rId2" cstate="print"/>
          <a:srcRect/>
          <a:stretch>
            <a:fillRect/>
          </a:stretch>
        </p:blipFill>
        <p:spPr bwMode="auto">
          <a:xfrm>
            <a:off x="1259632" y="2924944"/>
            <a:ext cx="6257925" cy="31718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ADSL</a:t>
            </a:r>
            <a:r>
              <a:rPr lang="pt-PT" altLang="pt-PT" b="1" dirty="0" smtClean="0">
                <a:solidFill>
                  <a:srgbClr val="FF0000"/>
                </a:solidFill>
              </a:rPr>
              <a:t/>
            </a:r>
            <a:br>
              <a:rPr lang="pt-PT" altLang="pt-PT" b="1" dirty="0" smtClean="0">
                <a:solidFill>
                  <a:srgbClr val="FF0000"/>
                </a:solidFill>
              </a:rPr>
            </a:br>
            <a:endParaRPr lang="pt-PT" dirty="0"/>
          </a:p>
        </p:txBody>
      </p:sp>
      <p:sp>
        <p:nvSpPr>
          <p:cNvPr id="6" name="Marcador de Posição de Conteúdo 5"/>
          <p:cNvSpPr>
            <a:spLocks noGrp="1"/>
          </p:cNvSpPr>
          <p:nvPr>
            <p:ph sz="quarter" idx="1"/>
          </p:nvPr>
        </p:nvSpPr>
        <p:spPr/>
        <p:txBody>
          <a:bodyPr>
            <a:normAutofit/>
          </a:bodyPr>
          <a:lstStyle/>
          <a:p>
            <a:pPr>
              <a:buNone/>
            </a:pPr>
            <a:r>
              <a:rPr lang="pt-PT" sz="3200" dirty="0" smtClean="0"/>
              <a:t>• Concebido como a </a:t>
            </a:r>
            <a:r>
              <a:rPr lang="pt-PT" sz="3200" i="1" dirty="0" smtClean="0"/>
              <a:t>última etapa de acesso até o </a:t>
            </a:r>
            <a:r>
              <a:rPr lang="pt-PT" sz="3200" dirty="0" smtClean="0"/>
              <a:t>assinante.</a:t>
            </a:r>
          </a:p>
          <a:p>
            <a:pPr>
              <a:buNone/>
            </a:pPr>
            <a:r>
              <a:rPr lang="pt-PT" sz="3200" dirty="0" smtClean="0"/>
              <a:t>• Transmite um fluxo </a:t>
            </a:r>
            <a:r>
              <a:rPr lang="pt-PT" sz="3200" i="1" dirty="0" smtClean="0"/>
              <a:t>assimétrico de dados.</a:t>
            </a:r>
          </a:p>
          <a:p>
            <a:pPr>
              <a:buNone/>
            </a:pPr>
            <a:r>
              <a:rPr lang="pt-PT" sz="3200" dirty="0" smtClean="0"/>
              <a:t>• O </a:t>
            </a:r>
            <a:r>
              <a:rPr lang="pt-PT" sz="3200" i="1" dirty="0" smtClean="0"/>
              <a:t>canal reverso (CO - </a:t>
            </a:r>
            <a:r>
              <a:rPr lang="pt-PT" sz="3200" i="1" dirty="0" err="1" smtClean="0"/>
              <a:t>Ass</a:t>
            </a:r>
            <a:r>
              <a:rPr lang="pt-PT" sz="3200" i="1" dirty="0" smtClean="0"/>
              <a:t>., </a:t>
            </a:r>
            <a:r>
              <a:rPr lang="pt-PT" sz="3200" i="1" dirty="0" err="1" smtClean="0"/>
              <a:t>downstream</a:t>
            </a:r>
            <a:r>
              <a:rPr lang="pt-PT" sz="3200" i="1" dirty="0" smtClean="0"/>
              <a:t>) é </a:t>
            </a:r>
            <a:r>
              <a:rPr lang="pt-PT" sz="3200" dirty="0" smtClean="0"/>
              <a:t>de alta velocidade.</a:t>
            </a:r>
          </a:p>
          <a:p>
            <a:pPr>
              <a:buNone/>
            </a:pPr>
            <a:r>
              <a:rPr lang="pt-PT" sz="3200" dirty="0" smtClean="0"/>
              <a:t>• O canal direto (</a:t>
            </a:r>
            <a:r>
              <a:rPr lang="pt-PT" sz="3200" dirty="0" err="1" smtClean="0"/>
              <a:t>Ass</a:t>
            </a:r>
            <a:r>
              <a:rPr lang="pt-PT" sz="3200" dirty="0" smtClean="0"/>
              <a:t>. - CO, </a:t>
            </a:r>
            <a:r>
              <a:rPr lang="pt-PT" sz="3200" i="1" dirty="0" err="1" smtClean="0"/>
              <a:t>upstream</a:t>
            </a:r>
            <a:r>
              <a:rPr lang="pt-PT" sz="3200" i="1" dirty="0" smtClean="0"/>
              <a:t>) é de </a:t>
            </a:r>
            <a:r>
              <a:rPr lang="pt-PT" sz="3200" dirty="0" smtClean="0"/>
              <a:t>baixa / média velocidade.</a:t>
            </a:r>
            <a:endParaRPr lang="pt-PT" sz="32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PT" altLang="pt-PT" b="1" dirty="0" smtClean="0">
                <a:solidFill>
                  <a:srgbClr val="FF0000"/>
                </a:solidFill>
                <a:latin typeface="Arial" pitchFamily="34" charset="0"/>
                <a:cs typeface="Arial" pitchFamily="34" charset="0"/>
              </a:rPr>
              <a:t>Componentes  de uma rede ADSL</a:t>
            </a:r>
            <a:endParaRPr lang="pt-PT" dirty="0"/>
          </a:p>
        </p:txBody>
      </p:sp>
      <p:sp>
        <p:nvSpPr>
          <p:cNvPr id="3" name="Marcador de Posição de Conteúdo 2"/>
          <p:cNvSpPr>
            <a:spLocks noGrp="1"/>
          </p:cNvSpPr>
          <p:nvPr>
            <p:ph sz="quarter" idx="1"/>
          </p:nvPr>
        </p:nvSpPr>
        <p:spPr>
          <a:xfrm>
            <a:off x="914400" y="1447800"/>
            <a:ext cx="7772400" cy="5077544"/>
          </a:xfrm>
        </p:spPr>
        <p:txBody>
          <a:bodyPr/>
          <a:lstStyle/>
          <a:p>
            <a:pPr>
              <a:buFont typeface="Wingdings" pitchFamily="2" charset="2"/>
              <a:buChar char="q"/>
            </a:pPr>
            <a:r>
              <a:rPr lang="pt-PT" dirty="0" smtClean="0"/>
              <a:t> Modem ADSL</a:t>
            </a:r>
          </a:p>
          <a:p>
            <a:pPr>
              <a:buFont typeface="Wingdings" pitchFamily="2" charset="2"/>
              <a:buChar char="q"/>
            </a:pPr>
            <a:r>
              <a:rPr lang="pt-PT" dirty="0" smtClean="0"/>
              <a:t> SPLITTER</a:t>
            </a:r>
          </a:p>
          <a:p>
            <a:pPr>
              <a:buFont typeface="Wingdings" pitchFamily="2" charset="2"/>
              <a:buChar char="q"/>
            </a:pPr>
            <a:r>
              <a:rPr lang="pt-PT" dirty="0" smtClean="0"/>
              <a:t> DSLAM</a:t>
            </a:r>
          </a:p>
          <a:p>
            <a:pPr>
              <a:buFont typeface="Wingdings" pitchFamily="2" charset="2"/>
              <a:buChar char="q"/>
            </a:pPr>
            <a:r>
              <a:rPr lang="pt-PT" dirty="0" smtClean="0"/>
              <a:t>Rede de dados</a:t>
            </a:r>
            <a:endParaRPr lang="pt-PT" dirty="0"/>
          </a:p>
        </p:txBody>
      </p:sp>
      <p:pic>
        <p:nvPicPr>
          <p:cNvPr id="1026" name="Picture 2"/>
          <p:cNvPicPr>
            <a:picLocks noChangeAspect="1" noChangeArrowheads="1"/>
          </p:cNvPicPr>
          <p:nvPr/>
        </p:nvPicPr>
        <p:blipFill>
          <a:blip r:embed="rId3" cstate="print"/>
          <a:srcRect/>
          <a:stretch>
            <a:fillRect/>
          </a:stretch>
        </p:blipFill>
        <p:spPr bwMode="auto">
          <a:xfrm>
            <a:off x="539553" y="3501008"/>
            <a:ext cx="3960440" cy="253117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4860032" y="3501008"/>
            <a:ext cx="3600400" cy="2520280"/>
          </a:xfrm>
          <a:prstGeom prst="rect">
            <a:avLst/>
          </a:prstGeom>
          <a:noFill/>
          <a:ln w="9525">
            <a:noFill/>
            <a:miter lim="800000"/>
            <a:headEnd/>
            <a:tailEnd/>
          </a:ln>
        </p:spPr>
      </p:pic>
      <p:sp>
        <p:nvSpPr>
          <p:cNvPr id="6" name="Rectângulo 5"/>
          <p:cNvSpPr/>
          <p:nvPr/>
        </p:nvSpPr>
        <p:spPr>
          <a:xfrm>
            <a:off x="4932040" y="6165304"/>
            <a:ext cx="3779912" cy="584775"/>
          </a:xfrm>
          <a:prstGeom prst="rect">
            <a:avLst/>
          </a:prstGeom>
        </p:spPr>
        <p:txBody>
          <a:bodyPr wrap="square">
            <a:spAutoFit/>
          </a:bodyPr>
          <a:lstStyle/>
          <a:p>
            <a:r>
              <a:rPr lang="pt-PT" sz="1600" b="1" dirty="0" smtClean="0"/>
              <a:t>Figura 2. Como funciona o ADSL numa Central Telefônica</a:t>
            </a:r>
            <a:endParaRPr lang="pt-PT" sz="1600" dirty="0"/>
          </a:p>
        </p:txBody>
      </p:sp>
      <p:sp>
        <p:nvSpPr>
          <p:cNvPr id="7" name="Rectângulo 6"/>
          <p:cNvSpPr/>
          <p:nvPr/>
        </p:nvSpPr>
        <p:spPr>
          <a:xfrm>
            <a:off x="1115616" y="6237312"/>
            <a:ext cx="2410403" cy="369332"/>
          </a:xfrm>
          <a:prstGeom prst="rect">
            <a:avLst/>
          </a:prstGeom>
        </p:spPr>
        <p:txBody>
          <a:bodyPr wrap="none">
            <a:spAutoFit/>
          </a:bodyPr>
          <a:lstStyle/>
          <a:p>
            <a:r>
              <a:rPr lang="pt-PT" b="1" dirty="0" smtClean="0"/>
              <a:t>Figura 1. Modem ADSL</a:t>
            </a:r>
            <a:endParaRPr lang="pt-PT"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Porquê que Assimétrico?</a:t>
            </a:r>
            <a:r>
              <a:rPr lang="pt-PT" altLang="pt-PT" b="1" dirty="0" smtClean="0">
                <a:solidFill>
                  <a:srgbClr val="FF0000"/>
                </a:solidFill>
              </a:rPr>
              <a:t/>
            </a:r>
            <a:br>
              <a:rPr lang="pt-PT" altLang="pt-PT" b="1" dirty="0" smtClean="0">
                <a:solidFill>
                  <a:srgbClr val="FF0000"/>
                </a:solidFill>
              </a:rPr>
            </a:br>
            <a:endParaRPr lang="pt-PT" dirty="0"/>
          </a:p>
        </p:txBody>
      </p:sp>
      <p:sp>
        <p:nvSpPr>
          <p:cNvPr id="7" name="Marcador de Posição de Conteúdo 6"/>
          <p:cNvSpPr>
            <a:spLocks noGrp="1"/>
          </p:cNvSpPr>
          <p:nvPr>
            <p:ph sz="quarter" idx="1"/>
          </p:nvPr>
        </p:nvSpPr>
        <p:spPr/>
        <p:txBody>
          <a:bodyPr/>
          <a:lstStyle/>
          <a:p>
            <a:pPr>
              <a:buNone/>
            </a:pPr>
            <a:r>
              <a:rPr lang="pt-PT" dirty="0" smtClean="0"/>
              <a:t>• </a:t>
            </a:r>
            <a:r>
              <a:rPr lang="pt-PT" sz="3600" dirty="0" smtClean="0"/>
              <a:t>Pares trançados não são totalmente imunes às interferências, em particular ao </a:t>
            </a:r>
            <a:r>
              <a:rPr lang="pt-PT" sz="3600" i="1" dirty="0" err="1" smtClean="0"/>
              <a:t>crosstalk</a:t>
            </a:r>
            <a:r>
              <a:rPr lang="pt-PT" sz="3600" i="1" dirty="0" smtClean="0"/>
              <a:t>.</a:t>
            </a:r>
          </a:p>
          <a:p>
            <a:pPr>
              <a:buNone/>
            </a:pPr>
            <a:r>
              <a:rPr lang="pt-PT" sz="3600" dirty="0" smtClean="0"/>
              <a:t>• O </a:t>
            </a:r>
            <a:r>
              <a:rPr lang="pt-PT" sz="3600" dirty="0" err="1" smtClean="0"/>
              <a:t>crosstalk</a:t>
            </a:r>
            <a:r>
              <a:rPr lang="pt-PT" sz="3600" dirty="0" smtClean="0"/>
              <a:t> </a:t>
            </a:r>
            <a:r>
              <a:rPr lang="pt-PT" sz="3600" i="1" dirty="0" smtClean="0"/>
              <a:t>aumenta com a </a:t>
            </a:r>
            <a:r>
              <a:rPr lang="pt-PT" sz="3600" i="1" dirty="0" err="1" smtClean="0"/>
              <a:t>freqüência</a:t>
            </a:r>
            <a:r>
              <a:rPr lang="pt-PT" sz="3600" i="1" dirty="0" smtClean="0"/>
              <a:t> e o comprimento do cabo de pares.</a:t>
            </a:r>
          </a:p>
          <a:p>
            <a:pPr>
              <a:buNone/>
            </a:pPr>
            <a:r>
              <a:rPr lang="pt-PT" sz="3600" dirty="0" smtClean="0"/>
              <a:t>• A taxa de transmissão fica </a:t>
            </a:r>
            <a:r>
              <a:rPr lang="pt-PT" sz="3600" i="1" dirty="0" smtClean="0"/>
              <a:t>limitada </a:t>
            </a:r>
            <a:r>
              <a:rPr lang="pt-PT" sz="3600" dirty="0" smtClean="0"/>
              <a:t>significativamente se o fluxo é </a:t>
            </a:r>
            <a:r>
              <a:rPr lang="pt-PT" sz="3600" i="1" dirty="0" smtClean="0"/>
              <a:t>simétrico, </a:t>
            </a:r>
            <a:r>
              <a:rPr lang="en-US" sz="3600" dirty="0" smtClean="0"/>
              <a:t>devido ao </a:t>
            </a:r>
            <a:r>
              <a:rPr lang="en-US" sz="3600" i="1" dirty="0" smtClean="0"/>
              <a:t>NEXT (Near End Crosstalk).</a:t>
            </a:r>
            <a:endParaRPr lang="pt-PT" sz="36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DEMANDA ASSIMÉTRICO</a:t>
            </a:r>
            <a:r>
              <a:rPr lang="pt-PT" altLang="pt-PT" b="1" dirty="0" smtClean="0">
                <a:solidFill>
                  <a:srgbClr val="FF0000"/>
                </a:solidFill>
              </a:rPr>
              <a:t/>
            </a:r>
            <a:br>
              <a:rPr lang="pt-PT" altLang="pt-PT" b="1" dirty="0" smtClean="0">
                <a:solidFill>
                  <a:srgbClr val="FF0000"/>
                </a:solidFill>
              </a:rPr>
            </a:br>
            <a:endParaRPr lang="pt-PT" dirty="0"/>
          </a:p>
        </p:txBody>
      </p:sp>
      <p:sp>
        <p:nvSpPr>
          <p:cNvPr id="7" name="Marcador de Posição de Conteúdo 6"/>
          <p:cNvSpPr>
            <a:spLocks noGrp="1"/>
          </p:cNvSpPr>
          <p:nvPr>
            <p:ph sz="quarter" idx="1"/>
          </p:nvPr>
        </p:nvSpPr>
        <p:spPr>
          <a:xfrm>
            <a:off x="467544" y="1447800"/>
            <a:ext cx="8219256" cy="4572000"/>
          </a:xfrm>
        </p:spPr>
        <p:txBody>
          <a:bodyPr>
            <a:normAutofit/>
          </a:bodyPr>
          <a:lstStyle/>
          <a:p>
            <a:pPr>
              <a:buNone/>
            </a:pPr>
            <a:r>
              <a:rPr lang="pt-PT" sz="2800" dirty="0" smtClean="0"/>
              <a:t>• Felizmente os serviços digitais tendem a ser assimétricos:</a:t>
            </a:r>
          </a:p>
          <a:p>
            <a:pPr>
              <a:buNone/>
            </a:pPr>
            <a:r>
              <a:rPr lang="en-US" sz="2800" dirty="0" smtClean="0"/>
              <a:t>– </a:t>
            </a:r>
            <a:r>
              <a:rPr lang="en-US" sz="2800" dirty="0" err="1" smtClean="0"/>
              <a:t>Exemplos</a:t>
            </a:r>
            <a:r>
              <a:rPr lang="en-US" sz="2800" dirty="0" smtClean="0"/>
              <a:t>: video on demand, home shopping, </a:t>
            </a:r>
            <a:r>
              <a:rPr lang="en-US" sz="2800" dirty="0" err="1" smtClean="0"/>
              <a:t>acesso</a:t>
            </a:r>
            <a:r>
              <a:rPr lang="en-US" sz="2800" dirty="0" smtClean="0"/>
              <a:t> à </a:t>
            </a:r>
            <a:r>
              <a:rPr lang="pt-PT" sz="2800" dirty="0" smtClean="0"/>
              <a:t>Internet, acesso remoto à LAN, </a:t>
            </a:r>
            <a:r>
              <a:rPr lang="pt-PT" sz="2800" dirty="0" err="1" smtClean="0"/>
              <a:t>multimedia</a:t>
            </a:r>
            <a:r>
              <a:rPr lang="pt-PT" sz="2800" dirty="0" smtClean="0"/>
              <a:t>, etc..</a:t>
            </a:r>
          </a:p>
          <a:p>
            <a:pPr>
              <a:buNone/>
            </a:pPr>
            <a:r>
              <a:rPr lang="pt-PT" sz="2800" dirty="0" smtClean="0"/>
              <a:t>– Filmes MPEG com controles VCR simulados requerem 1,5 a 3 Mbps </a:t>
            </a:r>
            <a:r>
              <a:rPr lang="pt-PT" sz="2800" i="1" dirty="0" err="1" smtClean="0"/>
              <a:t>downstream</a:t>
            </a:r>
            <a:r>
              <a:rPr lang="pt-PT" sz="2800" i="1" dirty="0" smtClean="0"/>
              <a:t>, e operam bem com 16 </a:t>
            </a:r>
            <a:r>
              <a:rPr lang="pt-PT" sz="2800" i="1" dirty="0" err="1" smtClean="0"/>
              <a:t>kbps</a:t>
            </a:r>
            <a:r>
              <a:rPr lang="pt-PT" sz="2800" i="1" dirty="0" smtClean="0"/>
              <a:t> </a:t>
            </a:r>
            <a:r>
              <a:rPr lang="pt-PT" sz="2800" i="1" dirty="0" err="1" smtClean="0"/>
              <a:t>upstream</a:t>
            </a:r>
            <a:r>
              <a:rPr lang="pt-PT" sz="2800" i="1" dirty="0" smtClean="0"/>
              <a:t>.</a:t>
            </a:r>
          </a:p>
          <a:p>
            <a:pPr>
              <a:buNone/>
            </a:pPr>
            <a:r>
              <a:rPr lang="pt-PT" sz="2800" dirty="0" smtClean="0"/>
              <a:t>– O protocolo IP para Internet ou LAN demandam relativamente mais do canal direto (</a:t>
            </a:r>
            <a:r>
              <a:rPr lang="pt-PT" sz="2800" dirty="0" err="1" smtClean="0"/>
              <a:t>upstream</a:t>
            </a:r>
            <a:r>
              <a:rPr lang="pt-PT" sz="2800" dirty="0" smtClean="0"/>
              <a:t>), porém, uma relação </a:t>
            </a:r>
            <a:r>
              <a:rPr lang="pt-PT" sz="2800" dirty="0" err="1" smtClean="0"/>
              <a:t>up</a:t>
            </a:r>
            <a:r>
              <a:rPr lang="pt-PT" sz="2800" dirty="0" smtClean="0"/>
              <a:t>/</a:t>
            </a:r>
            <a:r>
              <a:rPr lang="pt-PT" sz="2800" dirty="0" err="1" smtClean="0"/>
              <a:t>down</a:t>
            </a:r>
            <a:r>
              <a:rPr lang="pt-PT" sz="2800" dirty="0" smtClean="0"/>
              <a:t> de 1:10 é adequada</a:t>
            </a:r>
            <a:r>
              <a:rPr lang="pt-PT" dirty="0" smtClean="0"/>
              <a:t>.</a:t>
            </a:r>
            <a:endParaRPr lang="pt-PT"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ADSL TAXAS E DISTÂNCIAS </a:t>
            </a:r>
            <a:r>
              <a:rPr lang="pt-PT" altLang="pt-PT" b="1" dirty="0" smtClean="0">
                <a:solidFill>
                  <a:srgbClr val="FF0000"/>
                </a:solidFill>
              </a:rPr>
              <a:t/>
            </a:r>
            <a:br>
              <a:rPr lang="pt-PT" altLang="pt-PT" b="1" dirty="0" smtClean="0">
                <a:solidFill>
                  <a:srgbClr val="FF0000"/>
                </a:solidFill>
              </a:rPr>
            </a:br>
            <a:endParaRPr lang="pt-PT" dirty="0"/>
          </a:p>
        </p:txBody>
      </p:sp>
      <p:pic>
        <p:nvPicPr>
          <p:cNvPr id="1026" name="Picture 2"/>
          <p:cNvPicPr>
            <a:picLocks noGrp="1" noChangeAspect="1" noChangeArrowheads="1"/>
          </p:cNvPicPr>
          <p:nvPr>
            <p:ph sz="quarter" idx="1"/>
          </p:nvPr>
        </p:nvPicPr>
        <p:blipFill>
          <a:blip r:embed="rId2" cstate="print"/>
          <a:srcRect/>
          <a:stretch>
            <a:fillRect/>
          </a:stretch>
        </p:blipFill>
        <p:spPr bwMode="auto">
          <a:xfrm>
            <a:off x="251520" y="1052736"/>
            <a:ext cx="8280920" cy="511256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706090"/>
          </a:xfrm>
        </p:spPr>
        <p:txBody>
          <a:bodyPr>
            <a:normAutofit/>
          </a:bodyPr>
          <a:lstStyle/>
          <a:p>
            <a:r>
              <a:rPr lang="pt-PT" sz="2000" b="1" dirty="0" smtClean="0">
                <a:solidFill>
                  <a:srgbClr val="FF0000"/>
                </a:solidFill>
                <a:latin typeface="Arial" pitchFamily="34" charset="0"/>
                <a:cs typeface="Arial" pitchFamily="34" charset="0"/>
              </a:rPr>
              <a:t>ADSL-TAXAS , CALIBRE E DISTÂNCIAS</a:t>
            </a:r>
            <a:endParaRPr lang="pt-PT" sz="2000" dirty="0"/>
          </a:p>
        </p:txBody>
      </p:sp>
      <p:sp>
        <p:nvSpPr>
          <p:cNvPr id="6" name="Rectângulo 5"/>
          <p:cNvSpPr/>
          <p:nvPr/>
        </p:nvSpPr>
        <p:spPr>
          <a:xfrm>
            <a:off x="971600" y="4725144"/>
            <a:ext cx="7056784" cy="1569660"/>
          </a:xfrm>
          <a:prstGeom prst="rect">
            <a:avLst/>
          </a:prstGeom>
        </p:spPr>
        <p:txBody>
          <a:bodyPr wrap="square">
            <a:spAutoFit/>
          </a:bodyPr>
          <a:lstStyle/>
          <a:p>
            <a:r>
              <a:rPr lang="pt-PT" dirty="0" smtClean="0"/>
              <a:t>• </a:t>
            </a:r>
            <a:r>
              <a:rPr lang="pt-PT" sz="2400" dirty="0" smtClean="0"/>
              <a:t>Existem duas soluções principais oferecidas pelo</a:t>
            </a:r>
          </a:p>
          <a:p>
            <a:r>
              <a:rPr lang="pt-PT" sz="2400" dirty="0" smtClean="0"/>
              <a:t>ADSL:</a:t>
            </a:r>
          </a:p>
          <a:p>
            <a:r>
              <a:rPr lang="pt-PT" sz="2400" dirty="0" smtClean="0"/>
              <a:t>– </a:t>
            </a:r>
            <a:r>
              <a:rPr lang="pt-PT" sz="2400" dirty="0" err="1" smtClean="0"/>
              <a:t>Discrete</a:t>
            </a:r>
            <a:r>
              <a:rPr lang="pt-PT" sz="2400" dirty="0" smtClean="0"/>
              <a:t> </a:t>
            </a:r>
            <a:r>
              <a:rPr lang="pt-PT" sz="2400" dirty="0" err="1" smtClean="0"/>
              <a:t>Multi-Tone</a:t>
            </a:r>
            <a:r>
              <a:rPr lang="pt-PT" sz="2400" dirty="0" smtClean="0"/>
              <a:t> (DTMF)</a:t>
            </a:r>
          </a:p>
          <a:p>
            <a:r>
              <a:rPr lang="en-US" sz="2400" dirty="0" smtClean="0"/>
              <a:t>– </a:t>
            </a:r>
            <a:r>
              <a:rPr lang="en-US" sz="2400" dirty="0" err="1" smtClean="0"/>
              <a:t>Carrierless</a:t>
            </a:r>
            <a:r>
              <a:rPr lang="en-US" sz="2400" dirty="0" smtClean="0"/>
              <a:t> Amplitude and Phase modulation (CAP)</a:t>
            </a:r>
            <a:endParaRPr lang="pt-PT" sz="2400" dirty="0"/>
          </a:p>
        </p:txBody>
      </p:sp>
      <p:pic>
        <p:nvPicPr>
          <p:cNvPr id="2051" name="Picture 3"/>
          <p:cNvPicPr>
            <a:picLocks noGrp="1" noChangeAspect="1" noChangeArrowheads="1"/>
          </p:cNvPicPr>
          <p:nvPr>
            <p:ph sz="quarter" idx="1"/>
          </p:nvPr>
        </p:nvPicPr>
        <p:blipFill>
          <a:blip r:embed="rId2" cstate="print"/>
          <a:srcRect/>
          <a:stretch>
            <a:fillRect/>
          </a:stretch>
        </p:blipFill>
        <p:spPr bwMode="auto">
          <a:xfrm>
            <a:off x="827584" y="1628800"/>
            <a:ext cx="6572250" cy="2619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CAP/ DMT</a:t>
            </a:r>
            <a:r>
              <a:rPr lang="pt-PT" altLang="pt-PT" b="1" dirty="0" smtClean="0">
                <a:solidFill>
                  <a:srgbClr val="FF0000"/>
                </a:solidFill>
              </a:rPr>
              <a:t/>
            </a:r>
            <a:br>
              <a:rPr lang="pt-PT" altLang="pt-PT" b="1" dirty="0" smtClean="0">
                <a:solidFill>
                  <a:srgbClr val="FF0000"/>
                </a:solidFill>
              </a:rPr>
            </a:br>
            <a:endParaRPr lang="pt-PT" dirty="0"/>
          </a:p>
        </p:txBody>
      </p:sp>
      <p:sp>
        <p:nvSpPr>
          <p:cNvPr id="6" name="Marcador de Posição de Conteúdo 5"/>
          <p:cNvSpPr>
            <a:spLocks noGrp="1"/>
          </p:cNvSpPr>
          <p:nvPr>
            <p:ph sz="quarter" idx="1"/>
          </p:nvPr>
        </p:nvSpPr>
        <p:spPr>
          <a:xfrm>
            <a:off x="899592" y="1196752"/>
            <a:ext cx="7772400" cy="4572000"/>
          </a:xfrm>
        </p:spPr>
        <p:txBody>
          <a:bodyPr>
            <a:normAutofit fontScale="92500" lnSpcReduction="10000"/>
          </a:bodyPr>
          <a:lstStyle/>
          <a:p>
            <a:pPr>
              <a:buNone/>
            </a:pPr>
            <a:r>
              <a:rPr lang="en-US" dirty="0" smtClean="0"/>
              <a:t>• CAP - </a:t>
            </a:r>
            <a:r>
              <a:rPr lang="en-US" dirty="0" err="1" smtClean="0"/>
              <a:t>Carrierless</a:t>
            </a:r>
            <a:r>
              <a:rPr lang="en-US" dirty="0" smtClean="0"/>
              <a:t> Amplitude and Phase Modulation</a:t>
            </a:r>
          </a:p>
          <a:p>
            <a:pPr>
              <a:buNone/>
            </a:pPr>
            <a:r>
              <a:rPr lang="pt-PT" dirty="0" smtClean="0"/>
              <a:t>– Padrão proprietário da AT&amp;T e </a:t>
            </a:r>
            <a:r>
              <a:rPr lang="pt-PT" dirty="0" err="1" smtClean="0"/>
              <a:t>Globe-span</a:t>
            </a:r>
            <a:endParaRPr lang="pt-PT" dirty="0" smtClean="0"/>
          </a:p>
          <a:p>
            <a:pPr>
              <a:buNone/>
            </a:pPr>
            <a:r>
              <a:rPr lang="pt-PT" dirty="0" smtClean="0"/>
              <a:t>– Variação do QAM</a:t>
            </a:r>
          </a:p>
          <a:p>
            <a:pPr>
              <a:buNone/>
            </a:pPr>
            <a:r>
              <a:rPr lang="pt-PT" dirty="0" smtClean="0"/>
              <a:t>• DMT - </a:t>
            </a:r>
            <a:r>
              <a:rPr lang="pt-PT" dirty="0" err="1" smtClean="0"/>
              <a:t>Discrete</a:t>
            </a:r>
            <a:r>
              <a:rPr lang="pt-PT" dirty="0" smtClean="0"/>
              <a:t> </a:t>
            </a:r>
            <a:r>
              <a:rPr lang="pt-PT" dirty="0" err="1" smtClean="0"/>
              <a:t>Multi-Tone</a:t>
            </a:r>
            <a:endParaRPr lang="pt-PT" dirty="0" smtClean="0"/>
          </a:p>
          <a:p>
            <a:pPr>
              <a:buNone/>
            </a:pPr>
            <a:r>
              <a:rPr lang="pt-PT" dirty="0" smtClean="0"/>
              <a:t>– Padrão ANSI (T1413)</a:t>
            </a:r>
          </a:p>
          <a:p>
            <a:pPr>
              <a:buNone/>
            </a:pPr>
            <a:r>
              <a:rPr lang="pt-PT" dirty="0" smtClean="0"/>
              <a:t>– Utiliza FDM (Multiplexação por Divisão de Frequências)</a:t>
            </a:r>
          </a:p>
          <a:p>
            <a:pPr>
              <a:buNone/>
            </a:pPr>
            <a:r>
              <a:rPr lang="pt-PT" dirty="0" smtClean="0"/>
              <a:t>– Cada canal possui uma largura de faixa de 4kHz, e as portadoras são separadas por intervalos de 4,3125 kHz;</a:t>
            </a:r>
          </a:p>
          <a:p>
            <a:pPr>
              <a:buNone/>
            </a:pPr>
            <a:r>
              <a:rPr lang="pt-PT" dirty="0" smtClean="0"/>
              <a:t>– Dois tipos de Operação:</a:t>
            </a:r>
          </a:p>
          <a:p>
            <a:pPr>
              <a:buNone/>
            </a:pPr>
            <a:r>
              <a:rPr lang="pt-PT" dirty="0" smtClean="0"/>
              <a:t>• 1) FDM</a:t>
            </a:r>
          </a:p>
          <a:p>
            <a:pPr>
              <a:buNone/>
            </a:pPr>
            <a:r>
              <a:rPr lang="pt-PT" dirty="0" smtClean="0"/>
              <a:t>• 2) CANCELAMENTO DE ECO</a:t>
            </a:r>
            <a:endParaRPr lang="pt-PT"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778098"/>
          </a:xfrm>
        </p:spPr>
        <p:txBody>
          <a:bodyPr>
            <a:normAutofit/>
          </a:bodyPr>
          <a:lstStyle/>
          <a:p>
            <a:r>
              <a:rPr lang="pt-PT" sz="2000" b="1" dirty="0" smtClean="0">
                <a:solidFill>
                  <a:srgbClr val="FF0000"/>
                </a:solidFill>
                <a:latin typeface="Arial" pitchFamily="34" charset="0"/>
                <a:cs typeface="Arial" pitchFamily="34" charset="0"/>
              </a:rPr>
              <a:t>FDM</a:t>
            </a:r>
            <a:endParaRPr lang="pt-PT" sz="2000" dirty="0"/>
          </a:p>
        </p:txBody>
      </p:sp>
      <p:sp>
        <p:nvSpPr>
          <p:cNvPr id="6" name="Marcador de Posição de Conteúdo 5"/>
          <p:cNvSpPr>
            <a:spLocks noGrp="1"/>
          </p:cNvSpPr>
          <p:nvPr>
            <p:ph sz="quarter" idx="1"/>
          </p:nvPr>
        </p:nvSpPr>
        <p:spPr/>
        <p:txBody>
          <a:bodyPr>
            <a:normAutofit/>
          </a:bodyPr>
          <a:lstStyle/>
          <a:p>
            <a:pPr>
              <a:buNone/>
            </a:pPr>
            <a:r>
              <a:rPr lang="pt-PT" dirty="0" smtClean="0"/>
              <a:t>• Aloca uma </a:t>
            </a:r>
            <a:r>
              <a:rPr lang="pt-PT" i="1" dirty="0" smtClean="0"/>
              <a:t>banda de </a:t>
            </a:r>
            <a:r>
              <a:rPr lang="pt-PT" i="1" dirty="0" err="1" smtClean="0"/>
              <a:t>freqüências</a:t>
            </a:r>
            <a:r>
              <a:rPr lang="pt-PT" i="1" dirty="0" smtClean="0"/>
              <a:t> para o canal direto e </a:t>
            </a:r>
            <a:r>
              <a:rPr lang="pt-PT" dirty="0" smtClean="0"/>
              <a:t>outra para o canal reverso (maior).</a:t>
            </a:r>
          </a:p>
          <a:p>
            <a:pPr>
              <a:buNone/>
            </a:pPr>
            <a:r>
              <a:rPr lang="pt-PT" dirty="0" smtClean="0"/>
              <a:t>• O </a:t>
            </a:r>
            <a:r>
              <a:rPr lang="pt-PT" i="1" dirty="0" smtClean="0"/>
              <a:t>canal direto é subdividido temporalmente (TDM) </a:t>
            </a:r>
            <a:r>
              <a:rPr lang="pt-PT" dirty="0" smtClean="0"/>
              <a:t>em um ou mais </a:t>
            </a:r>
            <a:r>
              <a:rPr lang="pt-PT" dirty="0" err="1" smtClean="0"/>
              <a:t>subcanais</a:t>
            </a:r>
            <a:r>
              <a:rPr lang="pt-PT" dirty="0" smtClean="0"/>
              <a:t> de </a:t>
            </a:r>
            <a:r>
              <a:rPr lang="pt-PT" i="1" dirty="0" smtClean="0"/>
              <a:t>baixa velocidade.</a:t>
            </a:r>
          </a:p>
          <a:p>
            <a:pPr>
              <a:buNone/>
            </a:pPr>
            <a:r>
              <a:rPr lang="pt-PT" dirty="0" smtClean="0"/>
              <a:t>• O </a:t>
            </a:r>
            <a:r>
              <a:rPr lang="pt-PT" i="1" dirty="0" smtClean="0"/>
              <a:t>canal reverso é subdividido em um ou mais </a:t>
            </a:r>
            <a:r>
              <a:rPr lang="pt-PT" dirty="0" err="1" smtClean="0"/>
              <a:t>subcanais</a:t>
            </a:r>
            <a:r>
              <a:rPr lang="pt-PT" dirty="0" smtClean="0"/>
              <a:t> de </a:t>
            </a:r>
            <a:r>
              <a:rPr lang="pt-PT" i="1" dirty="0" smtClean="0"/>
              <a:t>alta velocidade e, também, em </a:t>
            </a:r>
            <a:r>
              <a:rPr lang="pt-PT" i="1" dirty="0" err="1" smtClean="0"/>
              <a:t>subcanais</a:t>
            </a:r>
            <a:r>
              <a:rPr lang="pt-PT" i="1" dirty="0" smtClean="0"/>
              <a:t> </a:t>
            </a:r>
            <a:r>
              <a:rPr lang="pt-PT" dirty="0" smtClean="0"/>
              <a:t>de </a:t>
            </a:r>
            <a:r>
              <a:rPr lang="pt-PT" i="1" dirty="0" smtClean="0"/>
              <a:t>baixa velocidade (o canal de baixa velocidade é duplex).</a:t>
            </a:r>
          </a:p>
          <a:p>
            <a:pPr>
              <a:buNone/>
            </a:pPr>
            <a:r>
              <a:rPr lang="pt-PT" dirty="0" smtClean="0"/>
              <a:t>• No sentido </a:t>
            </a:r>
            <a:r>
              <a:rPr lang="pt-PT" dirty="0" err="1" smtClean="0"/>
              <a:t>Upstream</a:t>
            </a:r>
            <a:r>
              <a:rPr lang="pt-PT" dirty="0" smtClean="0"/>
              <a:t>, utiliza-se os canais de 26 - 134kHz, e no </a:t>
            </a:r>
            <a:r>
              <a:rPr lang="pt-PT" dirty="0" err="1" smtClean="0"/>
              <a:t>Downstream</a:t>
            </a:r>
            <a:r>
              <a:rPr lang="pt-PT" dirty="0" smtClean="0"/>
              <a:t>, os canais acima de 138Khz</a:t>
            </a:r>
            <a:endParaRPr lang="pt-PT"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altLang="pt-PT" sz="2200" b="1" dirty="0" smtClean="0">
                <a:solidFill>
                  <a:srgbClr val="FF0000"/>
                </a:solidFill>
                <a:latin typeface="Arial" pitchFamily="34" charset="0"/>
                <a:cs typeface="Arial" pitchFamily="34" charset="0"/>
              </a:rPr>
              <a:t>Cancelamento de Eco</a:t>
            </a:r>
            <a:r>
              <a:rPr lang="pt-PT" altLang="pt-PT" b="1" dirty="0" smtClean="0">
                <a:solidFill>
                  <a:srgbClr val="FF0000"/>
                </a:solidFill>
              </a:rPr>
              <a:t/>
            </a:r>
            <a:br>
              <a:rPr lang="pt-PT" altLang="pt-PT" b="1" dirty="0" smtClean="0">
                <a:solidFill>
                  <a:srgbClr val="FF0000"/>
                </a:solidFill>
              </a:rPr>
            </a:br>
            <a:endParaRPr lang="pt-PT" dirty="0"/>
          </a:p>
        </p:txBody>
      </p:sp>
      <p:sp>
        <p:nvSpPr>
          <p:cNvPr id="5" name="Marcador de Posição de Conteúdo 4"/>
          <p:cNvSpPr>
            <a:spLocks noGrp="1"/>
          </p:cNvSpPr>
          <p:nvPr>
            <p:ph sz="quarter" idx="1"/>
          </p:nvPr>
        </p:nvSpPr>
        <p:spPr>
          <a:xfrm>
            <a:off x="899592" y="1124744"/>
            <a:ext cx="7772400" cy="4572000"/>
          </a:xfrm>
        </p:spPr>
        <p:txBody>
          <a:bodyPr>
            <a:normAutofit/>
          </a:bodyPr>
          <a:lstStyle/>
          <a:p>
            <a:pPr>
              <a:buNone/>
            </a:pPr>
            <a:r>
              <a:rPr lang="pt-PT" dirty="0" smtClean="0"/>
              <a:t>• A banda do canal direto </a:t>
            </a:r>
            <a:r>
              <a:rPr lang="pt-PT" i="1" dirty="0" smtClean="0"/>
              <a:t>superpõe, em uma certa extensão, </a:t>
            </a:r>
            <a:r>
              <a:rPr lang="pt-PT" dirty="0" smtClean="0"/>
              <a:t>a banda do canal reverso.</a:t>
            </a:r>
          </a:p>
          <a:p>
            <a:pPr>
              <a:buNone/>
            </a:pPr>
            <a:r>
              <a:rPr lang="pt-PT" dirty="0" smtClean="0"/>
              <a:t>• A </a:t>
            </a:r>
            <a:r>
              <a:rPr lang="pt-PT" i="1" dirty="0" smtClean="0"/>
              <a:t>separação das duas bandas se realiza por meio da </a:t>
            </a:r>
            <a:r>
              <a:rPr lang="pt-PT" dirty="0" smtClean="0"/>
              <a:t>técnica de </a:t>
            </a:r>
            <a:r>
              <a:rPr lang="pt-PT" i="1" dirty="0" smtClean="0"/>
              <a:t>cancelamento de eco.</a:t>
            </a:r>
          </a:p>
          <a:p>
            <a:pPr>
              <a:buNone/>
            </a:pPr>
            <a:r>
              <a:rPr lang="pt-PT" dirty="0" smtClean="0"/>
              <a:t>• No sentido </a:t>
            </a:r>
            <a:r>
              <a:rPr lang="pt-PT" dirty="0" err="1" smtClean="0"/>
              <a:t>Downstream</a:t>
            </a:r>
            <a:r>
              <a:rPr lang="pt-PT" dirty="0" smtClean="0"/>
              <a:t>, tem-se 249 canais na faixa de </a:t>
            </a:r>
            <a:r>
              <a:rPr lang="pt-PT" dirty="0" err="1" smtClean="0"/>
              <a:t>freqüência</a:t>
            </a:r>
            <a:r>
              <a:rPr lang="pt-PT" dirty="0" smtClean="0"/>
              <a:t> de 26kHz à 1.1Mhz, enquanto no sentido </a:t>
            </a:r>
            <a:r>
              <a:rPr lang="pt-PT" dirty="0" err="1" smtClean="0"/>
              <a:t>Upstream</a:t>
            </a:r>
            <a:r>
              <a:rPr lang="pt-PT" dirty="0" smtClean="0"/>
              <a:t> tem-se 25 canais na faixa de 26khz à 133,8kHz</a:t>
            </a:r>
          </a:p>
          <a:p>
            <a:pPr>
              <a:buNone/>
            </a:pPr>
            <a:r>
              <a:rPr lang="pt-PT" dirty="0" smtClean="0"/>
              <a:t>• Em ambos os métodos, </a:t>
            </a:r>
            <a:r>
              <a:rPr lang="pt-PT" i="1" dirty="0" smtClean="0"/>
              <a:t>não há interferência no espectro </a:t>
            </a:r>
            <a:r>
              <a:rPr lang="pt-PT" dirty="0" smtClean="0"/>
              <a:t>de baixa </a:t>
            </a:r>
            <a:r>
              <a:rPr lang="pt-PT" dirty="0" err="1" smtClean="0"/>
              <a:t>freqüência</a:t>
            </a:r>
            <a:r>
              <a:rPr lang="pt-PT" dirty="0" smtClean="0"/>
              <a:t> do </a:t>
            </a:r>
            <a:r>
              <a:rPr lang="pt-PT" i="1" dirty="0" smtClean="0"/>
              <a:t>canal de telefonia convencional.</a:t>
            </a:r>
          </a:p>
          <a:p>
            <a:pPr>
              <a:buNone/>
            </a:pPr>
            <a:r>
              <a:rPr lang="pt-PT" dirty="0" smtClean="0"/>
              <a:t>Este é separado por um filtro passa-baixa passivo (</a:t>
            </a:r>
            <a:r>
              <a:rPr lang="pt-PT" i="1" dirty="0" err="1" smtClean="0"/>
              <a:t>splitter</a:t>
            </a:r>
            <a:r>
              <a:rPr lang="pt-PT" i="1" dirty="0" smtClean="0"/>
              <a:t>).</a:t>
            </a:r>
            <a:endParaRPr lang="pt-PT"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850106"/>
          </a:xfrm>
        </p:spPr>
        <p:txBody>
          <a:bodyPr>
            <a:normAutofit/>
          </a:bodyPr>
          <a:lstStyle/>
          <a:p>
            <a:r>
              <a:rPr lang="pt-PT" sz="2000" b="1" dirty="0" smtClean="0">
                <a:solidFill>
                  <a:srgbClr val="FF0000"/>
                </a:solidFill>
                <a:latin typeface="Arial" pitchFamily="34" charset="0"/>
                <a:cs typeface="Arial" pitchFamily="34" charset="0"/>
              </a:rPr>
              <a:t>MODOS DE OPERAÇÃO DMT</a:t>
            </a:r>
            <a:endParaRPr lang="pt-PT" sz="2000" dirty="0"/>
          </a:p>
        </p:txBody>
      </p:sp>
      <p:pic>
        <p:nvPicPr>
          <p:cNvPr id="3074" name="Picture 2"/>
          <p:cNvPicPr>
            <a:picLocks noGrp="1" noChangeAspect="1" noChangeArrowheads="1"/>
          </p:cNvPicPr>
          <p:nvPr>
            <p:ph sz="quarter" idx="1"/>
          </p:nvPr>
        </p:nvPicPr>
        <p:blipFill>
          <a:blip r:embed="rId2" cstate="print"/>
          <a:srcRect/>
          <a:stretch>
            <a:fillRect/>
          </a:stretch>
        </p:blipFill>
        <p:spPr bwMode="auto">
          <a:xfrm>
            <a:off x="827584" y="1412776"/>
            <a:ext cx="7776864" cy="4608512"/>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MODOS DE OPERAÇÃO DMT</a:t>
            </a:r>
            <a:endParaRPr lang="pt-PT" dirty="0"/>
          </a:p>
        </p:txBody>
      </p:sp>
      <p:pic>
        <p:nvPicPr>
          <p:cNvPr id="4098" name="Picture 2"/>
          <p:cNvPicPr>
            <a:picLocks noGrp="1" noChangeAspect="1" noChangeArrowheads="1"/>
          </p:cNvPicPr>
          <p:nvPr>
            <p:ph sz="quarter" idx="1"/>
          </p:nvPr>
        </p:nvPicPr>
        <p:blipFill>
          <a:blip r:embed="rId2" cstate="print"/>
          <a:srcRect/>
          <a:stretch>
            <a:fillRect/>
          </a:stretch>
        </p:blipFill>
        <p:spPr bwMode="auto">
          <a:xfrm>
            <a:off x="899592" y="1700808"/>
            <a:ext cx="7488831" cy="4464496"/>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DMT VS CAP</a:t>
            </a:r>
            <a:endParaRPr lang="pt-PT" dirty="0"/>
          </a:p>
        </p:txBody>
      </p:sp>
      <p:sp>
        <p:nvSpPr>
          <p:cNvPr id="3" name="Marcador de Posição de Conteúdo 2"/>
          <p:cNvSpPr>
            <a:spLocks noGrp="1"/>
          </p:cNvSpPr>
          <p:nvPr>
            <p:ph sz="quarter" idx="1"/>
          </p:nvPr>
        </p:nvSpPr>
        <p:spPr/>
        <p:txBody>
          <a:bodyPr>
            <a:normAutofit/>
          </a:bodyPr>
          <a:lstStyle/>
          <a:p>
            <a:pPr>
              <a:buNone/>
            </a:pPr>
            <a:r>
              <a:rPr lang="pt-PT" sz="3600" dirty="0" smtClean="0"/>
              <a:t>• DMT é capaz de mudar a velocidade de transmissão em incrementos de 64kbps, pela adaptação de portadoras individuais (cortando portadoras completamente);</a:t>
            </a:r>
          </a:p>
          <a:p>
            <a:pPr>
              <a:buNone/>
            </a:pPr>
            <a:r>
              <a:rPr lang="pt-PT" sz="3600" dirty="0" smtClean="0"/>
              <a:t>• CAP é capaz de suportar uma menor quantidade de incrementos na largura de faixa (ajustando o padrão de constelação, por exemplo de 256-CAP para 64-CAP).</a:t>
            </a:r>
            <a:endParaRPr lang="pt-PT" sz="3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sz="2400" b="1" dirty="0" smtClean="0">
                <a:solidFill>
                  <a:srgbClr val="FF0000"/>
                </a:solidFill>
                <a:latin typeface="Arial" pitchFamily="34" charset="0"/>
                <a:cs typeface="Arial" pitchFamily="34" charset="0"/>
              </a:rPr>
              <a:t>MODELO DE REFERÊNCIA DO SISTEMA  ADSL</a:t>
            </a:r>
            <a:endParaRPr lang="pt-PT" sz="2400" dirty="0"/>
          </a:p>
        </p:txBody>
      </p:sp>
      <p:pic>
        <p:nvPicPr>
          <p:cNvPr id="5122" name="Picture 2"/>
          <p:cNvPicPr>
            <a:picLocks noGrp="1" noChangeAspect="1" noChangeArrowheads="1"/>
          </p:cNvPicPr>
          <p:nvPr>
            <p:ph sz="quarter" idx="1"/>
          </p:nvPr>
        </p:nvPicPr>
        <p:blipFill>
          <a:blip r:embed="rId2" cstate="print"/>
          <a:srcRect/>
          <a:stretch>
            <a:fillRect/>
          </a:stretch>
        </p:blipFill>
        <p:spPr bwMode="auto">
          <a:xfrm>
            <a:off x="683568" y="1604962"/>
            <a:ext cx="7920880" cy="4128294"/>
          </a:xfrm>
          <a:prstGeom prst="rect">
            <a:avLst/>
          </a:prstGeom>
          <a:noFill/>
          <a:ln w="9525">
            <a:noFill/>
            <a:miter lim="800000"/>
            <a:headEnd/>
            <a:tailEnd/>
          </a:ln>
        </p:spPr>
      </p:pic>
      <p:sp>
        <p:nvSpPr>
          <p:cNvPr id="5" name="Rectângulo 4"/>
          <p:cNvSpPr/>
          <p:nvPr/>
        </p:nvSpPr>
        <p:spPr>
          <a:xfrm>
            <a:off x="827584" y="5733256"/>
            <a:ext cx="7776864" cy="646331"/>
          </a:xfrm>
          <a:prstGeom prst="rect">
            <a:avLst/>
          </a:prstGeom>
        </p:spPr>
        <p:txBody>
          <a:bodyPr wrap="square">
            <a:spAutoFit/>
          </a:bodyPr>
          <a:lstStyle/>
          <a:p>
            <a:r>
              <a:rPr lang="pt-PT" dirty="0" smtClean="0"/>
              <a:t>DSLAM - Digital </a:t>
            </a:r>
            <a:r>
              <a:rPr lang="pt-PT" dirty="0" err="1" smtClean="0"/>
              <a:t>Subscriber</a:t>
            </a:r>
            <a:r>
              <a:rPr lang="pt-PT" dirty="0" smtClean="0"/>
              <a:t> </a:t>
            </a:r>
            <a:r>
              <a:rPr lang="pt-PT" dirty="0" err="1" smtClean="0"/>
              <a:t>Line</a:t>
            </a:r>
            <a:r>
              <a:rPr lang="pt-PT" dirty="0" smtClean="0"/>
              <a:t> Access Multiplex: Concentrador de tráfego  de dados localizado junto a central telefônica</a:t>
            </a:r>
            <a:endParaRPr lang="pt-PT"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sz="2800" b="1" dirty="0" smtClean="0">
                <a:solidFill>
                  <a:srgbClr val="FF0000"/>
                </a:solidFill>
                <a:latin typeface="Arial" pitchFamily="34" charset="0"/>
                <a:cs typeface="Arial" pitchFamily="34" charset="0"/>
              </a:rPr>
              <a:t>MEDIÇÕES </a:t>
            </a:r>
            <a:endParaRPr lang="pt-PT" sz="2800" dirty="0"/>
          </a:p>
        </p:txBody>
      </p:sp>
      <p:sp>
        <p:nvSpPr>
          <p:cNvPr id="3" name="Marcador de Posição de Conteúdo 2"/>
          <p:cNvSpPr>
            <a:spLocks noGrp="1"/>
          </p:cNvSpPr>
          <p:nvPr>
            <p:ph sz="quarter" idx="1"/>
          </p:nvPr>
        </p:nvSpPr>
        <p:spPr/>
        <p:txBody>
          <a:bodyPr>
            <a:normAutofit fontScale="92500" lnSpcReduction="10000"/>
          </a:bodyPr>
          <a:lstStyle/>
          <a:p>
            <a:pPr>
              <a:buNone/>
            </a:pPr>
            <a:r>
              <a:rPr lang="pt-PT" dirty="0" smtClean="0"/>
              <a:t>• Para saber se é possível a utilização de HDSL e ADSL, é preciso caracterizar a rede externa</a:t>
            </a:r>
          </a:p>
          <a:p>
            <a:pPr>
              <a:buNone/>
            </a:pPr>
            <a:r>
              <a:rPr lang="pt-PT" dirty="0" smtClean="0"/>
              <a:t>• Essa caracterização se faz com medições de:</a:t>
            </a:r>
          </a:p>
          <a:p>
            <a:pPr>
              <a:buNone/>
            </a:pPr>
            <a:r>
              <a:rPr lang="pt-PT" dirty="0" smtClean="0"/>
              <a:t>– atenuação;</a:t>
            </a:r>
          </a:p>
          <a:p>
            <a:pPr>
              <a:buNone/>
            </a:pPr>
            <a:r>
              <a:rPr lang="pt-PT" dirty="0" smtClean="0"/>
              <a:t>– resistência de isolamento;</a:t>
            </a:r>
          </a:p>
          <a:p>
            <a:pPr>
              <a:buNone/>
            </a:pPr>
            <a:r>
              <a:rPr lang="pt-PT" dirty="0" smtClean="0"/>
              <a:t>– resposta de </a:t>
            </a:r>
            <a:r>
              <a:rPr lang="pt-PT" dirty="0" err="1" smtClean="0"/>
              <a:t>freqüência</a:t>
            </a:r>
            <a:r>
              <a:rPr lang="pt-PT" dirty="0" smtClean="0"/>
              <a:t>;</a:t>
            </a:r>
          </a:p>
          <a:p>
            <a:pPr>
              <a:buNone/>
            </a:pPr>
            <a:r>
              <a:rPr lang="pt-PT" dirty="0" smtClean="0"/>
              <a:t>– diafonia;</a:t>
            </a:r>
          </a:p>
          <a:p>
            <a:pPr>
              <a:buNone/>
            </a:pPr>
            <a:r>
              <a:rPr lang="pt-PT" dirty="0" smtClean="0"/>
              <a:t>– ruído;</a:t>
            </a:r>
          </a:p>
          <a:p>
            <a:pPr>
              <a:buNone/>
            </a:pPr>
            <a:r>
              <a:rPr lang="pt-PT" dirty="0" smtClean="0"/>
              <a:t>– etc.</a:t>
            </a:r>
          </a:p>
          <a:p>
            <a:pPr>
              <a:buNone/>
            </a:pPr>
            <a:r>
              <a:rPr lang="pt-PT" dirty="0" smtClean="0"/>
              <a:t>• Estudos apontam para um limite de 60% dos </a:t>
            </a:r>
            <a:r>
              <a:rPr lang="pt-PT" dirty="0" err="1" smtClean="0"/>
              <a:t>pares~de</a:t>
            </a:r>
            <a:r>
              <a:rPr lang="pt-PT" dirty="0" smtClean="0"/>
              <a:t> um cabo, para operar com ADSL</a:t>
            </a:r>
            <a:endParaRPr lang="pt-PT"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sz="2400" b="1" dirty="0" smtClean="0">
                <a:solidFill>
                  <a:srgbClr val="FF0000"/>
                </a:solidFill>
                <a:latin typeface="Arial" pitchFamily="34" charset="0"/>
                <a:cs typeface="Arial" pitchFamily="34" charset="0"/>
              </a:rPr>
              <a:t>VDSL- </a:t>
            </a:r>
            <a:r>
              <a:rPr lang="pt-PT" sz="2400" b="1" dirty="0" err="1" smtClean="0">
                <a:solidFill>
                  <a:srgbClr val="FF0000"/>
                </a:solidFill>
                <a:latin typeface="Arial" pitchFamily="34" charset="0"/>
                <a:cs typeface="Arial" pitchFamily="34" charset="0"/>
              </a:rPr>
              <a:t>Very</a:t>
            </a:r>
            <a:r>
              <a:rPr lang="pt-PT" sz="2400" b="1" dirty="0" smtClean="0">
                <a:solidFill>
                  <a:srgbClr val="FF0000"/>
                </a:solidFill>
                <a:latin typeface="Arial" pitchFamily="34" charset="0"/>
                <a:cs typeface="Arial" pitchFamily="34" charset="0"/>
              </a:rPr>
              <a:t> </a:t>
            </a:r>
            <a:r>
              <a:rPr lang="pt-PT" sz="2400" b="1" dirty="0" err="1" smtClean="0">
                <a:solidFill>
                  <a:srgbClr val="FF0000"/>
                </a:solidFill>
                <a:latin typeface="Arial" pitchFamily="34" charset="0"/>
                <a:cs typeface="Arial" pitchFamily="34" charset="0"/>
              </a:rPr>
              <a:t>high</a:t>
            </a:r>
            <a:r>
              <a:rPr lang="pt-PT" sz="2400" b="1" dirty="0" smtClean="0">
                <a:solidFill>
                  <a:srgbClr val="FF0000"/>
                </a:solidFill>
                <a:latin typeface="Arial" pitchFamily="34" charset="0"/>
                <a:cs typeface="Arial" pitchFamily="34" charset="0"/>
              </a:rPr>
              <a:t>-Speed Digital </a:t>
            </a:r>
            <a:r>
              <a:rPr lang="pt-PT" sz="2400" b="1" dirty="0" err="1" smtClean="0">
                <a:solidFill>
                  <a:srgbClr val="FF0000"/>
                </a:solidFill>
                <a:latin typeface="Arial" pitchFamily="34" charset="0"/>
                <a:cs typeface="Arial" pitchFamily="34" charset="0"/>
              </a:rPr>
              <a:t>Subscriber</a:t>
            </a:r>
            <a:r>
              <a:rPr lang="pt-PT" sz="2400" b="1" dirty="0" smtClean="0">
                <a:solidFill>
                  <a:srgbClr val="FF0000"/>
                </a:solidFill>
                <a:latin typeface="Arial" pitchFamily="34" charset="0"/>
                <a:cs typeface="Arial" pitchFamily="34" charset="0"/>
              </a:rPr>
              <a:t> </a:t>
            </a:r>
            <a:r>
              <a:rPr lang="pt-PT" sz="2400" b="1" dirty="0" err="1" smtClean="0">
                <a:solidFill>
                  <a:srgbClr val="FF0000"/>
                </a:solidFill>
                <a:latin typeface="Arial" pitchFamily="34" charset="0"/>
                <a:cs typeface="Arial" pitchFamily="34" charset="0"/>
              </a:rPr>
              <a:t>Line</a:t>
            </a:r>
            <a:r>
              <a:rPr lang="pt-PT" sz="2400" b="1" dirty="0" smtClean="0">
                <a:solidFill>
                  <a:srgbClr val="FF0000"/>
                </a:solidFill>
                <a:latin typeface="Arial" pitchFamily="34" charset="0"/>
                <a:cs typeface="Arial" pitchFamily="34" charset="0"/>
              </a:rPr>
              <a:t> </a:t>
            </a:r>
            <a:endParaRPr lang="pt-PT" sz="2400" dirty="0"/>
          </a:p>
        </p:txBody>
      </p:sp>
      <p:sp>
        <p:nvSpPr>
          <p:cNvPr id="3" name="Marcador de Posição de Conteúdo 2"/>
          <p:cNvSpPr>
            <a:spLocks noGrp="1"/>
          </p:cNvSpPr>
          <p:nvPr>
            <p:ph sz="quarter" idx="1"/>
          </p:nvPr>
        </p:nvSpPr>
        <p:spPr/>
        <p:txBody>
          <a:bodyPr>
            <a:normAutofit/>
          </a:bodyPr>
          <a:lstStyle/>
          <a:p>
            <a:pPr>
              <a:buNone/>
            </a:pPr>
            <a:r>
              <a:rPr lang="pt-PT" sz="3600" dirty="0" smtClean="0"/>
              <a:t>• Deverá prover taxa de </a:t>
            </a:r>
            <a:r>
              <a:rPr lang="pt-PT" sz="3600" dirty="0" err="1" smtClean="0"/>
              <a:t>Downstream</a:t>
            </a:r>
            <a:r>
              <a:rPr lang="pt-PT" sz="3600" dirty="0" smtClean="0"/>
              <a:t> da ordem de 52 Mbps, em pares com 300mts, caindo para 25 Mbps em 1Km e 1,5 Mbps de </a:t>
            </a:r>
            <a:r>
              <a:rPr lang="pt-PT" sz="3600" dirty="0" err="1" smtClean="0"/>
              <a:t>Upstream</a:t>
            </a:r>
            <a:r>
              <a:rPr lang="pt-PT" sz="3600" dirty="0" smtClean="0"/>
              <a:t>.</a:t>
            </a:r>
          </a:p>
          <a:p>
            <a:pPr>
              <a:buNone/>
            </a:pPr>
            <a:r>
              <a:rPr lang="pt-PT" sz="3600" dirty="0" smtClean="0"/>
              <a:t>• Deverá operar em link metálico em configuração de sistemas do tipo </a:t>
            </a:r>
            <a:r>
              <a:rPr lang="pt-PT" sz="3600" dirty="0" err="1" smtClean="0"/>
              <a:t>FTTx</a:t>
            </a:r>
            <a:r>
              <a:rPr lang="pt-PT" sz="3600" dirty="0" smtClean="0"/>
              <a:t> (</a:t>
            </a:r>
            <a:r>
              <a:rPr lang="pt-PT" sz="3600" dirty="0" err="1" smtClean="0"/>
              <a:t>Fiber</a:t>
            </a:r>
            <a:r>
              <a:rPr lang="pt-PT" sz="3600" dirty="0" smtClean="0"/>
              <a:t> To </a:t>
            </a:r>
            <a:r>
              <a:rPr lang="pt-PT" sz="3600" dirty="0" err="1" smtClean="0"/>
              <a:t>The</a:t>
            </a:r>
            <a:r>
              <a:rPr lang="pt-PT" sz="3600" dirty="0" smtClean="0"/>
              <a:t> </a:t>
            </a:r>
            <a:r>
              <a:rPr lang="pt-PT" sz="3600" dirty="0" err="1" smtClean="0"/>
              <a:t>Curb</a:t>
            </a:r>
            <a:r>
              <a:rPr lang="pt-PT" sz="3600" dirty="0" smtClean="0"/>
              <a:t>/</a:t>
            </a:r>
            <a:r>
              <a:rPr lang="pt-PT" sz="3600" dirty="0" err="1" smtClean="0"/>
              <a:t>CABinet</a:t>
            </a:r>
            <a:r>
              <a:rPr lang="pt-PT" sz="3600" dirty="0" smtClean="0"/>
              <a:t>/)</a:t>
            </a:r>
            <a:endParaRPr lang="pt-PT" sz="3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VDSL</a:t>
            </a:r>
            <a:endParaRPr lang="pt-PT" dirty="0"/>
          </a:p>
        </p:txBody>
      </p:sp>
      <p:sp>
        <p:nvSpPr>
          <p:cNvPr id="3" name="Marcador de Posição de Conteúdo 2"/>
          <p:cNvSpPr>
            <a:spLocks noGrp="1"/>
          </p:cNvSpPr>
          <p:nvPr>
            <p:ph sz="quarter" idx="1"/>
          </p:nvPr>
        </p:nvSpPr>
        <p:spPr/>
        <p:txBody>
          <a:bodyPr>
            <a:noAutofit/>
          </a:bodyPr>
          <a:lstStyle/>
          <a:p>
            <a:pPr>
              <a:buNone/>
            </a:pPr>
            <a:r>
              <a:rPr lang="pt-PT" sz="3200" dirty="0" smtClean="0"/>
              <a:t>• Existe a tendência das empresas de telefonia </a:t>
            </a:r>
            <a:r>
              <a:rPr lang="pt-PT" sz="3200" dirty="0" err="1" smtClean="0"/>
              <a:t>incluirem</a:t>
            </a:r>
            <a:r>
              <a:rPr lang="pt-PT" sz="3200" dirty="0" smtClean="0"/>
              <a:t> as suas redes de pares metálicos nas redes de acesso de faixa larga.</a:t>
            </a:r>
          </a:p>
          <a:p>
            <a:pPr>
              <a:buNone/>
            </a:pPr>
            <a:r>
              <a:rPr lang="pt-PT" sz="3200" dirty="0" smtClean="0"/>
              <a:t>• FTTH tem custo proibitivo atualmente.</a:t>
            </a:r>
          </a:p>
          <a:p>
            <a:pPr>
              <a:buNone/>
            </a:pPr>
            <a:r>
              <a:rPr lang="pt-PT" sz="3200" dirty="0" smtClean="0"/>
              <a:t>• Alternativa atrativa: FTTN (</a:t>
            </a:r>
            <a:r>
              <a:rPr lang="pt-PT" sz="3200" i="1" dirty="0" err="1" smtClean="0"/>
              <a:t>Fiber</a:t>
            </a:r>
            <a:r>
              <a:rPr lang="pt-PT" sz="3200" i="1" dirty="0" smtClean="0"/>
              <a:t> to </a:t>
            </a:r>
            <a:r>
              <a:rPr lang="pt-PT" sz="3200" i="1" dirty="0" err="1" smtClean="0"/>
              <a:t>the</a:t>
            </a:r>
            <a:r>
              <a:rPr lang="pt-PT" sz="3200" i="1" dirty="0" smtClean="0"/>
              <a:t> </a:t>
            </a:r>
            <a:r>
              <a:rPr lang="en-US" sz="3200" i="1" dirty="0" smtClean="0"/>
              <a:t>Neighborhood), </a:t>
            </a:r>
            <a:r>
              <a:rPr lang="en-US" sz="3200" i="1" dirty="0" err="1" smtClean="0"/>
              <a:t>que</a:t>
            </a:r>
            <a:r>
              <a:rPr lang="en-US" sz="3200" i="1" dirty="0" smtClean="0"/>
              <a:t> </a:t>
            </a:r>
            <a:r>
              <a:rPr lang="en-US" sz="3200" i="1" dirty="0" err="1" smtClean="0"/>
              <a:t>inclui</a:t>
            </a:r>
            <a:r>
              <a:rPr lang="en-US" sz="3200" i="1" dirty="0" smtClean="0"/>
              <a:t> FTTC (Fiber to the Curb) e FTTB (Fiber to the Basement).</a:t>
            </a:r>
          </a:p>
          <a:p>
            <a:pPr>
              <a:buNone/>
            </a:pPr>
            <a:r>
              <a:rPr lang="pt-PT" sz="3200" dirty="0" smtClean="0"/>
              <a:t>• Uma das tecnologias emergentes para FTTN é o VDSL.</a:t>
            </a:r>
            <a:endParaRPr lang="pt-PT" sz="3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Proposta VDSL</a:t>
            </a:r>
            <a:endParaRPr lang="pt-PT" dirty="0"/>
          </a:p>
        </p:txBody>
      </p:sp>
      <p:sp>
        <p:nvSpPr>
          <p:cNvPr id="3" name="Marcador de Posição de Conteúdo 2"/>
          <p:cNvSpPr>
            <a:spLocks noGrp="1"/>
          </p:cNvSpPr>
          <p:nvPr>
            <p:ph sz="quarter" idx="1"/>
          </p:nvPr>
        </p:nvSpPr>
        <p:spPr/>
        <p:txBody>
          <a:bodyPr/>
          <a:lstStyle/>
          <a:p>
            <a:pPr>
              <a:buNone/>
            </a:pPr>
            <a:r>
              <a:rPr lang="pt-PT" dirty="0" smtClean="0"/>
              <a:t>• Taxas de transmissão do canal reverso serão submúltiplos</a:t>
            </a:r>
          </a:p>
          <a:p>
            <a:pPr>
              <a:buNone/>
            </a:pPr>
            <a:r>
              <a:rPr lang="pt-PT" dirty="0" smtClean="0"/>
              <a:t>da taxa básica do SDH (155,52 Mbps):</a:t>
            </a:r>
          </a:p>
          <a:p>
            <a:pPr>
              <a:buNone/>
            </a:pPr>
            <a:r>
              <a:rPr lang="pt-PT" dirty="0" smtClean="0"/>
              <a:t>12,96 - 13,8 Mbps 1500 m</a:t>
            </a:r>
          </a:p>
          <a:p>
            <a:pPr>
              <a:buNone/>
            </a:pPr>
            <a:r>
              <a:rPr lang="pt-PT" dirty="0" smtClean="0"/>
              <a:t>25,92 - 27,6 Mbps 1000 m</a:t>
            </a:r>
          </a:p>
          <a:p>
            <a:pPr>
              <a:buNone/>
            </a:pPr>
            <a:r>
              <a:rPr lang="pt-PT" dirty="0" smtClean="0"/>
              <a:t>51,84 - 55,2 Mbps 300 m</a:t>
            </a:r>
          </a:p>
          <a:p>
            <a:pPr>
              <a:buNone/>
            </a:pPr>
            <a:r>
              <a:rPr lang="pt-PT" dirty="0" smtClean="0"/>
              <a:t>• Propostas para a velocidade do canal direto:</a:t>
            </a:r>
          </a:p>
          <a:p>
            <a:pPr>
              <a:buNone/>
            </a:pPr>
            <a:r>
              <a:rPr lang="pt-PT" dirty="0" smtClean="0"/>
              <a:t>1,6 - 2,3 Mbps</a:t>
            </a:r>
          </a:p>
          <a:p>
            <a:pPr>
              <a:buNone/>
            </a:pPr>
            <a:r>
              <a:rPr lang="pt-PT" dirty="0" smtClean="0"/>
              <a:t>19,2 Mbps (somente em linhas muito curtas)</a:t>
            </a:r>
          </a:p>
          <a:p>
            <a:pPr>
              <a:buNone/>
            </a:pPr>
            <a:r>
              <a:rPr lang="pt-PT" dirty="0" smtClean="0"/>
              <a:t>Igual ao canal reverso (pouco provável)</a:t>
            </a:r>
            <a:endParaRPr lang="pt-PT"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HDSL2</a:t>
            </a:r>
            <a:endParaRPr lang="pt-PT" dirty="0"/>
          </a:p>
        </p:txBody>
      </p:sp>
      <p:sp>
        <p:nvSpPr>
          <p:cNvPr id="3" name="Marcador de Posição de Conteúdo 2"/>
          <p:cNvSpPr>
            <a:spLocks noGrp="1"/>
          </p:cNvSpPr>
          <p:nvPr>
            <p:ph sz="quarter" idx="1"/>
          </p:nvPr>
        </p:nvSpPr>
        <p:spPr/>
        <p:txBody>
          <a:bodyPr>
            <a:normAutofit/>
          </a:bodyPr>
          <a:lstStyle/>
          <a:p>
            <a:pPr>
              <a:buNone/>
            </a:pPr>
            <a:r>
              <a:rPr lang="pt-PT" sz="3200" dirty="0" smtClean="0"/>
              <a:t>• Versão do HDSL em um único par</a:t>
            </a:r>
          </a:p>
          <a:p>
            <a:pPr>
              <a:buNone/>
            </a:pPr>
            <a:r>
              <a:rPr lang="en-US" sz="3200" dirty="0" smtClean="0"/>
              <a:t>• </a:t>
            </a:r>
            <a:r>
              <a:rPr lang="en-US" sz="3200" dirty="0" err="1" smtClean="0"/>
              <a:t>Padrão</a:t>
            </a:r>
            <a:r>
              <a:rPr lang="en-US" sz="3200" dirty="0" smtClean="0"/>
              <a:t> ANSI (American National Standards </a:t>
            </a:r>
            <a:r>
              <a:rPr lang="pt-PT" sz="3200" dirty="0" err="1" smtClean="0"/>
              <a:t>Institute</a:t>
            </a:r>
            <a:r>
              <a:rPr lang="pt-PT" sz="3200" dirty="0" smtClean="0"/>
              <a:t>) ANSI T1.418-2000 HDSL2 standard</a:t>
            </a:r>
          </a:p>
          <a:p>
            <a:pPr>
              <a:buNone/>
            </a:pPr>
            <a:r>
              <a:rPr lang="pt-PT" sz="3200" dirty="0" smtClean="0"/>
              <a:t>• Mesmas aplicações do HDSL</a:t>
            </a:r>
          </a:p>
          <a:p>
            <a:pPr>
              <a:buNone/>
            </a:pPr>
            <a:r>
              <a:rPr lang="pt-PT" sz="3200" dirty="0" smtClean="0"/>
              <a:t>• Provê o mesmo desempenho e é espectralmente compatível com os serviços T1/E1</a:t>
            </a:r>
          </a:p>
          <a:p>
            <a:pPr>
              <a:buNone/>
            </a:pPr>
            <a:r>
              <a:rPr lang="pt-PT" sz="3200" dirty="0" smtClean="0"/>
              <a:t>• Opera na presença de repetidores de T1/E1</a:t>
            </a:r>
          </a:p>
          <a:p>
            <a:pPr>
              <a:buNone/>
            </a:pPr>
            <a:r>
              <a:rPr lang="pt-PT" sz="3200" dirty="0" smtClean="0"/>
              <a:t>• Utiliza codificação TC-16 PAM</a:t>
            </a:r>
            <a:endParaRPr lang="pt-PT" sz="3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GsHDsL2</a:t>
            </a:r>
            <a:endParaRPr lang="pt-PT" dirty="0"/>
          </a:p>
        </p:txBody>
      </p:sp>
      <p:sp>
        <p:nvSpPr>
          <p:cNvPr id="3" name="Marcador de Posição de Conteúdo 2"/>
          <p:cNvSpPr>
            <a:spLocks noGrp="1"/>
          </p:cNvSpPr>
          <p:nvPr>
            <p:ph sz="quarter" idx="1"/>
          </p:nvPr>
        </p:nvSpPr>
        <p:spPr/>
        <p:txBody>
          <a:bodyPr>
            <a:normAutofit fontScale="92500" lnSpcReduction="10000"/>
          </a:bodyPr>
          <a:lstStyle/>
          <a:p>
            <a:pPr>
              <a:buNone/>
            </a:pPr>
            <a:r>
              <a:rPr lang="pt-PT" dirty="0" smtClean="0"/>
              <a:t>• Padrão para o </a:t>
            </a:r>
            <a:r>
              <a:rPr lang="pt-PT" dirty="0" err="1" smtClean="0"/>
              <a:t>Symmetric</a:t>
            </a:r>
            <a:r>
              <a:rPr lang="pt-PT" dirty="0" smtClean="0"/>
              <a:t> </a:t>
            </a:r>
            <a:r>
              <a:rPr lang="pt-PT" dirty="0" err="1" smtClean="0"/>
              <a:t>High</a:t>
            </a:r>
            <a:r>
              <a:rPr lang="pt-PT" dirty="0" smtClean="0"/>
              <a:t> bit rate Digital </a:t>
            </a:r>
            <a:r>
              <a:rPr lang="pt-PT" dirty="0" err="1" smtClean="0"/>
              <a:t>Subscriber</a:t>
            </a:r>
            <a:r>
              <a:rPr lang="pt-PT" dirty="0" smtClean="0"/>
              <a:t> </a:t>
            </a:r>
            <a:r>
              <a:rPr lang="pt-PT" dirty="0" err="1" smtClean="0"/>
              <a:t>Loop</a:t>
            </a:r>
            <a:endParaRPr lang="pt-PT" dirty="0" smtClean="0"/>
          </a:p>
          <a:p>
            <a:pPr>
              <a:buNone/>
            </a:pPr>
            <a:r>
              <a:rPr lang="pt-PT" dirty="0" smtClean="0"/>
              <a:t>• Fase final de aprovação no ITU-T (</a:t>
            </a:r>
            <a:r>
              <a:rPr lang="pt-PT" dirty="0" err="1" smtClean="0"/>
              <a:t>G.shdsl</a:t>
            </a:r>
            <a:r>
              <a:rPr lang="pt-PT" dirty="0" smtClean="0"/>
              <a:t> - G.994.1) e no ETSI (TM6)</a:t>
            </a:r>
          </a:p>
          <a:p>
            <a:pPr>
              <a:buNone/>
            </a:pPr>
            <a:r>
              <a:rPr lang="pt-PT" dirty="0" smtClean="0"/>
              <a:t>• Conhecido também como SDSL2 ou ETSI SDSL</a:t>
            </a:r>
          </a:p>
          <a:p>
            <a:pPr>
              <a:buNone/>
            </a:pPr>
            <a:r>
              <a:rPr lang="pt-PT" dirty="0" smtClean="0"/>
              <a:t>• Inclui a maioria dos </a:t>
            </a:r>
            <a:r>
              <a:rPr lang="pt-PT" dirty="0" err="1" smtClean="0"/>
              <a:t>aspectos</a:t>
            </a:r>
            <a:r>
              <a:rPr lang="pt-PT" dirty="0" smtClean="0"/>
              <a:t> do padrão ANSI HDSL2</a:t>
            </a:r>
          </a:p>
          <a:p>
            <a:pPr>
              <a:buNone/>
            </a:pPr>
            <a:r>
              <a:rPr lang="pt-PT" dirty="0" smtClean="0"/>
              <a:t>• Utiliza codificação TC-16 PAM</a:t>
            </a:r>
          </a:p>
          <a:p>
            <a:pPr>
              <a:buNone/>
            </a:pPr>
            <a:r>
              <a:rPr lang="pt-PT" dirty="0" smtClean="0"/>
              <a:t>• Taxa de bit variável de 192 a 2360 </a:t>
            </a:r>
            <a:r>
              <a:rPr lang="pt-PT" dirty="0" err="1" smtClean="0"/>
              <a:t>kbps</a:t>
            </a:r>
            <a:r>
              <a:rPr lang="pt-PT" dirty="0" smtClean="0"/>
              <a:t> com granularidade de 8 </a:t>
            </a:r>
            <a:r>
              <a:rPr lang="pt-PT" dirty="0" err="1" smtClean="0"/>
              <a:t>kbps</a:t>
            </a:r>
            <a:endParaRPr lang="pt-PT" dirty="0" smtClean="0"/>
          </a:p>
          <a:p>
            <a:pPr>
              <a:buNone/>
            </a:pPr>
            <a:r>
              <a:rPr lang="pt-PT" dirty="0" smtClean="0"/>
              <a:t>• Pode ser visto como uma versão </a:t>
            </a:r>
            <a:r>
              <a:rPr lang="pt-PT" dirty="0" err="1" smtClean="0"/>
              <a:t>multitaxa</a:t>
            </a:r>
            <a:r>
              <a:rPr lang="pt-PT" dirty="0" smtClean="0"/>
              <a:t> do HDSL2</a:t>
            </a:r>
          </a:p>
          <a:p>
            <a:pPr>
              <a:buNone/>
            </a:pPr>
            <a:r>
              <a:rPr lang="pt-PT" dirty="0" smtClean="0"/>
              <a:t>• Comparado com SDSL 2B1Q, apresenta um ganho de 35% a 40% em velocidade e de 15% a 20% em distância</a:t>
            </a:r>
            <a:endParaRPr lang="pt-PT"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WLL- WIRE LESS LOOP</a:t>
            </a:r>
            <a:endParaRPr lang="pt-PT" dirty="0"/>
          </a:p>
        </p:txBody>
      </p:sp>
      <p:sp>
        <p:nvSpPr>
          <p:cNvPr id="3" name="Marcador de Posição de Conteúdo 2"/>
          <p:cNvSpPr>
            <a:spLocks noGrp="1"/>
          </p:cNvSpPr>
          <p:nvPr>
            <p:ph sz="quarter" idx="1"/>
          </p:nvPr>
        </p:nvSpPr>
        <p:spPr/>
        <p:txBody>
          <a:bodyPr>
            <a:normAutofit/>
          </a:bodyPr>
          <a:lstStyle/>
          <a:p>
            <a:pPr>
              <a:buNone/>
            </a:pPr>
            <a:r>
              <a:rPr lang="pt-PT" sz="3200" dirty="0" smtClean="0">
                <a:solidFill>
                  <a:srgbClr val="FF0000"/>
                </a:solidFill>
              </a:rPr>
              <a:t>Definição:</a:t>
            </a:r>
            <a:r>
              <a:rPr lang="pt-PT" sz="3200" dirty="0" smtClean="0"/>
              <a:t> uso da transmissão via rádio para prover toda a (ou parte da) conexão entre um assinante (ou grupo de assinantes) e uma central de comutação ou ponto de distribuição na rede fixa.</a:t>
            </a:r>
          </a:p>
          <a:p>
            <a:pPr>
              <a:buNone/>
            </a:pPr>
            <a:r>
              <a:rPr lang="pt-PT" sz="3200" dirty="0" smtClean="0">
                <a:solidFill>
                  <a:srgbClr val="FF0000"/>
                </a:solidFill>
              </a:rPr>
              <a:t>Outros nomes: </a:t>
            </a:r>
            <a:r>
              <a:rPr lang="pt-PT" sz="3200" dirty="0" err="1" smtClean="0"/>
              <a:t>WiLL</a:t>
            </a:r>
            <a:r>
              <a:rPr lang="pt-PT" sz="3200" dirty="0" smtClean="0"/>
              <a:t> (WLL da Motorola® ); RFA ou </a:t>
            </a:r>
            <a:r>
              <a:rPr lang="en-US" sz="3200" dirty="0" smtClean="0"/>
              <a:t>RLL (</a:t>
            </a:r>
            <a:r>
              <a:rPr lang="en-US" sz="3200" i="1" dirty="0" smtClean="0"/>
              <a:t>Radio Fixed Access </a:t>
            </a:r>
            <a:r>
              <a:rPr lang="en-US" sz="3200" i="1" dirty="0" err="1" smtClean="0"/>
              <a:t>ou</a:t>
            </a:r>
            <a:r>
              <a:rPr lang="en-US" sz="3200" i="1" dirty="0" smtClean="0"/>
              <a:t> Radio Local Loop); RITL </a:t>
            </a:r>
            <a:r>
              <a:rPr lang="en-US" sz="3200" dirty="0" smtClean="0"/>
              <a:t>(</a:t>
            </a:r>
            <a:r>
              <a:rPr lang="en-US" sz="3200" i="1" dirty="0" smtClean="0"/>
              <a:t>Radio In The Loop); FWA (Fixed Wireless Access).</a:t>
            </a:r>
            <a:endParaRPr lang="pt-PT" sz="3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WLL- WIRE LESS LOOP</a:t>
            </a:r>
            <a:endParaRPr lang="pt-PT" dirty="0"/>
          </a:p>
        </p:txBody>
      </p:sp>
      <p:sp>
        <p:nvSpPr>
          <p:cNvPr id="3" name="Marcador de Posição de Conteúdo 2"/>
          <p:cNvSpPr>
            <a:spLocks noGrp="1"/>
          </p:cNvSpPr>
          <p:nvPr>
            <p:ph sz="quarter" idx="1"/>
          </p:nvPr>
        </p:nvSpPr>
        <p:spPr/>
        <p:txBody>
          <a:bodyPr>
            <a:normAutofit fontScale="92500" lnSpcReduction="10000"/>
          </a:bodyPr>
          <a:lstStyle/>
          <a:p>
            <a:pPr>
              <a:buNone/>
            </a:pPr>
            <a:r>
              <a:rPr lang="pt-PT" dirty="0" smtClean="0"/>
              <a:t>• Sistema que conecta assinantes à Rede Telefônica Pública Comutada (PSTN) usando sinais de rádio em substituição, parcial ou integral, dos pares metálicos na conexão entre assinantes e a central de comutação.</a:t>
            </a:r>
          </a:p>
          <a:p>
            <a:pPr>
              <a:buNone/>
            </a:pPr>
            <a:r>
              <a:rPr lang="pt-PT" dirty="0" smtClean="0"/>
              <a:t>• O desenvolvimento dos sistemas de comunicação sem fio, alavancado pela telefonia móvel, permitiu o surgimento de novas e importantes aplicações, como a rede de acesso sem fio.</a:t>
            </a:r>
          </a:p>
          <a:p>
            <a:pPr>
              <a:buNone/>
            </a:pPr>
            <a:r>
              <a:rPr lang="pt-PT" dirty="0" smtClean="0"/>
              <a:t>• Permite as operadoras de redes de telecomunicações prover a expansão de suas redes de forma rápida, com um menor custo de implantação (particularmente em regiões com baixa densidade</a:t>
            </a:r>
          </a:p>
          <a:p>
            <a:pPr>
              <a:buNone/>
            </a:pPr>
            <a:r>
              <a:rPr lang="pt-PT" dirty="0" smtClean="0"/>
              <a:t> demográfica ou com topologia desfavorável), e manutenção, e maior flexibilidade no </a:t>
            </a:r>
            <a:r>
              <a:rPr lang="pt-PT" dirty="0" err="1" smtClean="0"/>
              <a:t>planejamento</a:t>
            </a:r>
            <a:r>
              <a:rPr lang="pt-PT" dirty="0" smtClean="0"/>
              <a:t> e desenvolvimento do sistema.</a:t>
            </a:r>
            <a:endParaRPr lang="pt-PT"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ARQUITETURA</a:t>
            </a:r>
            <a:endParaRPr lang="pt-PT" dirty="0"/>
          </a:p>
        </p:txBody>
      </p:sp>
      <p:pic>
        <p:nvPicPr>
          <p:cNvPr id="6146" name="Picture 2"/>
          <p:cNvPicPr>
            <a:picLocks noGrp="1" noChangeAspect="1" noChangeArrowheads="1"/>
          </p:cNvPicPr>
          <p:nvPr>
            <p:ph sz="quarter" idx="1"/>
          </p:nvPr>
        </p:nvPicPr>
        <p:blipFill>
          <a:blip r:embed="rId2" cstate="print"/>
          <a:srcRect/>
          <a:stretch>
            <a:fillRect/>
          </a:stretch>
        </p:blipFill>
        <p:spPr bwMode="auto">
          <a:xfrm>
            <a:off x="1475656" y="3212976"/>
            <a:ext cx="6600825" cy="3295650"/>
          </a:xfrm>
          <a:prstGeom prst="rect">
            <a:avLst/>
          </a:prstGeom>
          <a:noFill/>
          <a:ln w="9525">
            <a:noFill/>
            <a:miter lim="800000"/>
            <a:headEnd/>
            <a:tailEnd/>
          </a:ln>
        </p:spPr>
      </p:pic>
      <p:sp>
        <p:nvSpPr>
          <p:cNvPr id="5" name="Rectângulo 4"/>
          <p:cNvSpPr/>
          <p:nvPr/>
        </p:nvSpPr>
        <p:spPr>
          <a:xfrm>
            <a:off x="611560" y="1484784"/>
            <a:ext cx="7488832" cy="1200329"/>
          </a:xfrm>
          <a:prstGeom prst="rect">
            <a:avLst/>
          </a:prstGeom>
        </p:spPr>
        <p:txBody>
          <a:bodyPr wrap="square">
            <a:spAutoFit/>
          </a:bodyPr>
          <a:lstStyle/>
          <a:p>
            <a:r>
              <a:rPr lang="pt-PT" sz="2400" dirty="0" smtClean="0"/>
              <a:t>• Existem duas abordagens básicas:</a:t>
            </a:r>
          </a:p>
          <a:p>
            <a:r>
              <a:rPr lang="pt-PT" sz="2400" dirty="0" smtClean="0"/>
              <a:t>1) O usuários </a:t>
            </a:r>
            <a:r>
              <a:rPr lang="pt-PT" sz="2400" dirty="0" err="1" smtClean="0"/>
              <a:t>acessam</a:t>
            </a:r>
            <a:r>
              <a:rPr lang="pt-PT" sz="2400" dirty="0" smtClean="0"/>
              <a:t> a rede metálica, através de estações rádio base que estão conectadas diretamente a central telefônica</a:t>
            </a:r>
            <a:endParaRPr lang="pt-PT"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ARQUITETURA</a:t>
            </a:r>
            <a:endParaRPr lang="pt-PT" dirty="0"/>
          </a:p>
        </p:txBody>
      </p:sp>
      <p:sp>
        <p:nvSpPr>
          <p:cNvPr id="3" name="Marcador de Posição de Conteúdo 2"/>
          <p:cNvSpPr>
            <a:spLocks noGrp="1"/>
          </p:cNvSpPr>
          <p:nvPr>
            <p:ph sz="quarter" idx="1"/>
          </p:nvPr>
        </p:nvSpPr>
        <p:spPr>
          <a:xfrm>
            <a:off x="914400" y="1447800"/>
            <a:ext cx="7772400" cy="1837184"/>
          </a:xfrm>
        </p:spPr>
        <p:txBody>
          <a:bodyPr/>
          <a:lstStyle/>
          <a:p>
            <a:pPr>
              <a:buNone/>
            </a:pPr>
            <a:r>
              <a:rPr lang="pt-PT" dirty="0" smtClean="0"/>
              <a:t>2) As estações rádio base estão conectadas a uma central tipo</a:t>
            </a:r>
          </a:p>
          <a:p>
            <a:pPr>
              <a:buNone/>
            </a:pPr>
            <a:r>
              <a:rPr lang="pt-PT" dirty="0" smtClean="0"/>
              <a:t>PBX (</a:t>
            </a:r>
            <a:r>
              <a:rPr lang="pt-PT" dirty="0" err="1" smtClean="0"/>
              <a:t>Private</a:t>
            </a:r>
            <a:r>
              <a:rPr lang="pt-PT" dirty="0" smtClean="0"/>
              <a:t> </a:t>
            </a:r>
            <a:r>
              <a:rPr lang="pt-PT" dirty="0" err="1" smtClean="0"/>
              <a:t>Branch</a:t>
            </a:r>
            <a:r>
              <a:rPr lang="pt-PT" dirty="0" smtClean="0"/>
              <a:t> Exchange) que por sua vez está conectada central telefônica que faz a conexão com a rede metálica</a:t>
            </a:r>
            <a:endParaRPr lang="pt-PT" dirty="0"/>
          </a:p>
        </p:txBody>
      </p:sp>
      <p:pic>
        <p:nvPicPr>
          <p:cNvPr id="7170" name="Picture 2"/>
          <p:cNvPicPr>
            <a:picLocks noChangeAspect="1" noChangeArrowheads="1"/>
          </p:cNvPicPr>
          <p:nvPr/>
        </p:nvPicPr>
        <p:blipFill>
          <a:blip r:embed="rId2" cstate="print"/>
          <a:srcRect/>
          <a:stretch>
            <a:fillRect/>
          </a:stretch>
        </p:blipFill>
        <p:spPr bwMode="auto">
          <a:xfrm>
            <a:off x="1403648" y="3140968"/>
            <a:ext cx="7096125" cy="2981325"/>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WLL- MERCADO</a:t>
            </a:r>
            <a:endParaRPr lang="pt-PT" dirty="0"/>
          </a:p>
        </p:txBody>
      </p:sp>
      <p:sp>
        <p:nvSpPr>
          <p:cNvPr id="3" name="Marcador de Posição de Conteúdo 2"/>
          <p:cNvSpPr>
            <a:spLocks noGrp="1"/>
          </p:cNvSpPr>
          <p:nvPr>
            <p:ph sz="quarter" idx="1"/>
          </p:nvPr>
        </p:nvSpPr>
        <p:spPr/>
        <p:txBody>
          <a:bodyPr/>
          <a:lstStyle/>
          <a:p>
            <a:pPr>
              <a:buNone/>
            </a:pPr>
            <a:r>
              <a:rPr lang="pt-PT" dirty="0" smtClean="0"/>
              <a:t>• + de 200 milhões de assinantes (MTA-EMCI)</a:t>
            </a:r>
          </a:p>
          <a:p>
            <a:pPr>
              <a:buNone/>
            </a:pPr>
            <a:r>
              <a:rPr lang="pt-PT" dirty="0" smtClean="0"/>
              <a:t>• Custo estimado de instalação: $200 dólares por assinante</a:t>
            </a:r>
          </a:p>
          <a:p>
            <a:pPr>
              <a:buNone/>
            </a:pPr>
            <a:r>
              <a:rPr lang="pt-PT" dirty="0" smtClean="0"/>
              <a:t>• Expectativa do ITUT de demanda mundial em </a:t>
            </a:r>
            <a:r>
              <a:rPr lang="pt-PT" dirty="0" err="1" smtClean="0"/>
              <a:t>loop</a:t>
            </a:r>
            <a:r>
              <a:rPr lang="pt-PT" dirty="0" smtClean="0"/>
              <a:t> local, atualmente:</a:t>
            </a:r>
          </a:p>
          <a:p>
            <a:pPr>
              <a:buNone/>
            </a:pPr>
            <a:r>
              <a:rPr lang="pt-PT" dirty="0" smtClean="0"/>
              <a:t>+ de 1 bilhão de novas linhas</a:t>
            </a:r>
          </a:p>
          <a:p>
            <a:pPr>
              <a:buNone/>
            </a:pPr>
            <a:r>
              <a:rPr lang="pt-PT" dirty="0" smtClean="0"/>
              <a:t>• em países emergentes</a:t>
            </a:r>
          </a:p>
          <a:p>
            <a:pPr>
              <a:buNone/>
            </a:pPr>
            <a:r>
              <a:rPr lang="pt-PT" dirty="0" smtClean="0"/>
              <a:t>• em países desenvolvidos</a:t>
            </a:r>
            <a:endParaRPr lang="pt-PT"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WLL- PROBLEMAS</a:t>
            </a:r>
            <a:endParaRPr lang="pt-PT" dirty="0"/>
          </a:p>
        </p:txBody>
      </p:sp>
      <p:sp>
        <p:nvSpPr>
          <p:cNvPr id="3" name="Marcador de Posição de Conteúdo 2"/>
          <p:cNvSpPr>
            <a:spLocks noGrp="1"/>
          </p:cNvSpPr>
          <p:nvPr>
            <p:ph sz="quarter" idx="1"/>
          </p:nvPr>
        </p:nvSpPr>
        <p:spPr/>
        <p:txBody>
          <a:bodyPr>
            <a:normAutofit/>
          </a:bodyPr>
          <a:lstStyle/>
          <a:p>
            <a:pPr>
              <a:buNone/>
            </a:pPr>
            <a:r>
              <a:rPr lang="pt-PT" dirty="0" smtClean="0"/>
              <a:t>• Não existe ainda um padrão definido para WLL;</a:t>
            </a:r>
          </a:p>
          <a:p>
            <a:pPr>
              <a:buNone/>
            </a:pPr>
            <a:r>
              <a:rPr lang="pt-PT" dirty="0" smtClean="0"/>
              <a:t>• O protocolo apropriado dependerá: do tamanho e da densidade populacional da área geográfica (rural x urbana), tipo de serviço requerido pela base de assinantes (residencial, comercial, POTS, acesso a dados, etc.)</a:t>
            </a:r>
          </a:p>
          <a:p>
            <a:pPr>
              <a:buNone/>
            </a:pPr>
            <a:r>
              <a:rPr lang="pt-PT" dirty="0" smtClean="0"/>
              <a:t>• Podemos identificar 05 categorias de tecnologia para WLL: celular analógico, celular digital, </a:t>
            </a:r>
            <a:r>
              <a:rPr lang="pt-PT" dirty="0" err="1" smtClean="0"/>
              <a:t>personal</a:t>
            </a:r>
            <a:r>
              <a:rPr lang="pt-PT" dirty="0" smtClean="0"/>
              <a:t> </a:t>
            </a:r>
            <a:r>
              <a:rPr lang="pt-PT" dirty="0" err="1" smtClean="0"/>
              <a:t>cummunications</a:t>
            </a:r>
            <a:r>
              <a:rPr lang="pt-PT" dirty="0" smtClean="0"/>
              <a:t> </a:t>
            </a:r>
            <a:r>
              <a:rPr lang="pt-PT" dirty="0" err="1" smtClean="0"/>
              <a:t>services</a:t>
            </a:r>
            <a:r>
              <a:rPr lang="pt-PT" dirty="0" smtClean="0"/>
              <a:t>/</a:t>
            </a:r>
            <a:r>
              <a:rPr lang="pt-PT" dirty="0" err="1" smtClean="0"/>
              <a:t>personal</a:t>
            </a:r>
            <a:r>
              <a:rPr lang="pt-PT" dirty="0" smtClean="0"/>
              <a:t> </a:t>
            </a:r>
            <a:r>
              <a:rPr lang="pt-PT" dirty="0" err="1" smtClean="0"/>
              <a:t>communication</a:t>
            </a:r>
            <a:r>
              <a:rPr lang="pt-PT" dirty="0" smtClean="0"/>
              <a:t> network (PCS/PCN), </a:t>
            </a:r>
            <a:r>
              <a:rPr lang="pt-PT" dirty="0" err="1" smtClean="0"/>
              <a:t>coordless</a:t>
            </a:r>
            <a:r>
              <a:rPr lang="pt-PT" dirty="0" smtClean="0"/>
              <a:t> telephony-2/digital </a:t>
            </a:r>
            <a:r>
              <a:rPr lang="en-US" dirty="0" err="1" smtClean="0"/>
              <a:t>european</a:t>
            </a:r>
            <a:r>
              <a:rPr lang="en-US" dirty="0" smtClean="0"/>
              <a:t> </a:t>
            </a:r>
            <a:r>
              <a:rPr lang="en-US" dirty="0" err="1" smtClean="0"/>
              <a:t>coordless</a:t>
            </a:r>
            <a:r>
              <a:rPr lang="en-US" dirty="0" smtClean="0"/>
              <a:t> telephony (CT-2/DECT) e </a:t>
            </a:r>
            <a:r>
              <a:rPr lang="pt-PT" dirty="0" smtClean="0"/>
              <a:t>soluções proprietárias</a:t>
            </a:r>
            <a:endParaRPr lang="pt-PT"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TECNOLOGIAS</a:t>
            </a:r>
            <a:endParaRPr lang="pt-PT" dirty="0"/>
          </a:p>
        </p:txBody>
      </p:sp>
      <p:sp>
        <p:nvSpPr>
          <p:cNvPr id="3" name="Marcador de Posição de Conteúdo 2"/>
          <p:cNvSpPr>
            <a:spLocks noGrp="1"/>
          </p:cNvSpPr>
          <p:nvPr>
            <p:ph sz="quarter" idx="1"/>
          </p:nvPr>
        </p:nvSpPr>
        <p:spPr/>
        <p:txBody>
          <a:bodyPr>
            <a:normAutofit fontScale="92500" lnSpcReduction="10000"/>
          </a:bodyPr>
          <a:lstStyle/>
          <a:p>
            <a:pPr>
              <a:buNone/>
            </a:pPr>
            <a:r>
              <a:rPr lang="pt-PT" dirty="0" smtClean="0"/>
              <a:t>• Celular Analógico</a:t>
            </a:r>
          </a:p>
          <a:p>
            <a:pPr>
              <a:buNone/>
            </a:pPr>
            <a:r>
              <a:rPr lang="en-US" dirty="0" smtClean="0"/>
              <a:t>– AMPS - Advanced Mobile Phone System</a:t>
            </a:r>
          </a:p>
          <a:p>
            <a:pPr>
              <a:buNone/>
            </a:pPr>
            <a:r>
              <a:rPr lang="pt-PT" dirty="0" smtClean="0"/>
              <a:t>– NAMPS - </a:t>
            </a:r>
            <a:r>
              <a:rPr lang="pt-PT" dirty="0" err="1" smtClean="0"/>
              <a:t>Narrowband</a:t>
            </a:r>
            <a:r>
              <a:rPr lang="pt-PT" dirty="0" smtClean="0"/>
              <a:t> AMPS</a:t>
            </a:r>
          </a:p>
          <a:p>
            <a:pPr>
              <a:buNone/>
            </a:pPr>
            <a:r>
              <a:rPr lang="pt-PT" dirty="0" smtClean="0"/>
              <a:t>– NMT - </a:t>
            </a:r>
            <a:r>
              <a:rPr lang="pt-PT" dirty="0" err="1" smtClean="0"/>
              <a:t>Nordic</a:t>
            </a:r>
            <a:r>
              <a:rPr lang="pt-PT" dirty="0" smtClean="0"/>
              <a:t> Mobile </a:t>
            </a:r>
            <a:r>
              <a:rPr lang="pt-PT" dirty="0" err="1" smtClean="0"/>
              <a:t>Telephony</a:t>
            </a:r>
            <a:r>
              <a:rPr lang="pt-PT" dirty="0" smtClean="0"/>
              <a:t> (23%)</a:t>
            </a:r>
          </a:p>
          <a:p>
            <a:pPr>
              <a:buNone/>
            </a:pPr>
            <a:r>
              <a:rPr lang="pt-PT" dirty="0" smtClean="0"/>
              <a:t>– TACS - Total </a:t>
            </a:r>
            <a:r>
              <a:rPr lang="pt-PT" dirty="0" err="1" smtClean="0"/>
              <a:t>Acess</a:t>
            </a:r>
            <a:r>
              <a:rPr lang="pt-PT" dirty="0" smtClean="0"/>
              <a:t> </a:t>
            </a:r>
            <a:r>
              <a:rPr lang="pt-PT" dirty="0" err="1" smtClean="0"/>
              <a:t>communications</a:t>
            </a:r>
            <a:r>
              <a:rPr lang="pt-PT" dirty="0" smtClean="0"/>
              <a:t> </a:t>
            </a:r>
            <a:r>
              <a:rPr lang="pt-PT" dirty="0" err="1" smtClean="0"/>
              <a:t>System</a:t>
            </a:r>
            <a:r>
              <a:rPr lang="pt-PT" dirty="0" smtClean="0"/>
              <a:t> (8%)</a:t>
            </a:r>
          </a:p>
          <a:p>
            <a:pPr>
              <a:buNone/>
            </a:pPr>
            <a:r>
              <a:rPr lang="pt-PT" dirty="0" smtClean="0"/>
              <a:t>• Celular Digital</a:t>
            </a:r>
          </a:p>
          <a:p>
            <a:pPr>
              <a:buNone/>
            </a:pPr>
            <a:r>
              <a:rPr lang="pt-PT" dirty="0" smtClean="0"/>
              <a:t>– GSM - Global </a:t>
            </a:r>
            <a:r>
              <a:rPr lang="pt-PT" dirty="0" err="1" smtClean="0"/>
              <a:t>System</a:t>
            </a:r>
            <a:r>
              <a:rPr lang="pt-PT" dirty="0" smtClean="0"/>
              <a:t> for Mobile </a:t>
            </a:r>
            <a:r>
              <a:rPr lang="pt-PT" dirty="0" err="1" smtClean="0"/>
              <a:t>Communications</a:t>
            </a:r>
            <a:r>
              <a:rPr lang="pt-PT" dirty="0" smtClean="0"/>
              <a:t> (71%)(*)</a:t>
            </a:r>
          </a:p>
          <a:p>
            <a:pPr>
              <a:buNone/>
            </a:pPr>
            <a:r>
              <a:rPr lang="en-US" dirty="0" smtClean="0"/>
              <a:t>– TDMA - Time Division Multiple </a:t>
            </a:r>
            <a:r>
              <a:rPr lang="en-US" dirty="0" err="1" smtClean="0"/>
              <a:t>Acess</a:t>
            </a:r>
            <a:endParaRPr lang="en-US" dirty="0" smtClean="0"/>
          </a:p>
          <a:p>
            <a:pPr>
              <a:buNone/>
            </a:pPr>
            <a:r>
              <a:rPr lang="fr-FR" dirty="0" smtClean="0"/>
              <a:t>– CDMA - Code Division Multiple </a:t>
            </a:r>
            <a:r>
              <a:rPr lang="fr-FR" dirty="0" err="1" smtClean="0"/>
              <a:t>Acess</a:t>
            </a:r>
            <a:r>
              <a:rPr lang="fr-FR" dirty="0" smtClean="0"/>
              <a:t> (**)</a:t>
            </a:r>
          </a:p>
          <a:p>
            <a:pPr>
              <a:buNone/>
            </a:pPr>
            <a:r>
              <a:rPr lang="pt-PT" dirty="0" smtClean="0"/>
              <a:t>(*) possui muito </a:t>
            </a:r>
            <a:r>
              <a:rPr lang="pt-PT" dirty="0" err="1" smtClean="0"/>
              <a:t>overhead</a:t>
            </a:r>
            <a:endParaRPr lang="pt-PT" dirty="0" smtClean="0"/>
          </a:p>
          <a:p>
            <a:pPr>
              <a:buNone/>
            </a:pPr>
            <a:r>
              <a:rPr lang="pt-PT" dirty="0" smtClean="0"/>
              <a:t>(**) mais visado</a:t>
            </a:r>
            <a:endParaRPr lang="pt-PT"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TECNOLOGIAS</a:t>
            </a:r>
            <a:endParaRPr lang="pt-PT" dirty="0"/>
          </a:p>
        </p:txBody>
      </p:sp>
      <p:sp>
        <p:nvSpPr>
          <p:cNvPr id="3" name="Marcador de Posição de Conteúdo 2"/>
          <p:cNvSpPr>
            <a:spLocks noGrp="1"/>
          </p:cNvSpPr>
          <p:nvPr>
            <p:ph sz="quarter" idx="1"/>
          </p:nvPr>
        </p:nvSpPr>
        <p:spPr/>
        <p:txBody>
          <a:bodyPr>
            <a:normAutofit/>
          </a:bodyPr>
          <a:lstStyle/>
          <a:p>
            <a:pPr>
              <a:buNone/>
            </a:pPr>
            <a:r>
              <a:rPr lang="pt-PT" dirty="0" smtClean="0"/>
              <a:t>                                   DECT</a:t>
            </a:r>
          </a:p>
          <a:p>
            <a:pPr>
              <a:buNone/>
            </a:pPr>
            <a:r>
              <a:rPr lang="pt-PT" dirty="0" smtClean="0"/>
              <a:t>• Foi originalmente desenvolvido para prover acesso sem fio no interior de residências e escritórios, entre uma estação base e o aparelho de mão</a:t>
            </a:r>
          </a:p>
          <a:p>
            <a:pPr>
              <a:buNone/>
            </a:pPr>
            <a:r>
              <a:rPr lang="pt-PT" dirty="0" smtClean="0"/>
              <a:t>– Melhor escalabilidade, funcionalidade, suporta maior nível</a:t>
            </a:r>
          </a:p>
          <a:p>
            <a:pPr>
              <a:buNone/>
            </a:pPr>
            <a:r>
              <a:rPr lang="pt-PT" dirty="0" smtClean="0"/>
              <a:t>de tráfego, melhor qualidade de voz, dados em taxas alta</a:t>
            </a:r>
          </a:p>
          <a:p>
            <a:pPr>
              <a:buNone/>
            </a:pPr>
            <a:r>
              <a:rPr lang="pt-PT" dirty="0" smtClean="0"/>
              <a:t>(552kbps), suporta ISDN</a:t>
            </a:r>
          </a:p>
          <a:p>
            <a:pPr>
              <a:buNone/>
            </a:pPr>
            <a:r>
              <a:rPr lang="pt-PT" dirty="0" smtClean="0"/>
              <a:t>– Micro célula permite um crescimento gradativo em função</a:t>
            </a:r>
          </a:p>
          <a:p>
            <a:pPr>
              <a:buNone/>
            </a:pPr>
            <a:r>
              <a:rPr lang="pt-PT" dirty="0" smtClean="0"/>
              <a:t>da demanda, logo, um menor investimento inicial</a:t>
            </a:r>
            <a:endParaRPr lang="pt-PT"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sz="2400" dirty="0" smtClean="0">
                <a:solidFill>
                  <a:srgbClr val="FF0000"/>
                </a:solidFill>
              </a:rPr>
              <a:t>REGRA DE COMUNICAÇÃO SEM FIO : A ULTIMA MILHA</a:t>
            </a:r>
            <a:endParaRPr lang="pt-PT" sz="2400" dirty="0">
              <a:solidFill>
                <a:srgbClr val="FF0000"/>
              </a:solidFill>
            </a:endParaRPr>
          </a:p>
        </p:txBody>
      </p:sp>
      <p:sp>
        <p:nvSpPr>
          <p:cNvPr id="3" name="Marcador de Posição de Conteúdo 2"/>
          <p:cNvSpPr>
            <a:spLocks noGrp="1"/>
          </p:cNvSpPr>
          <p:nvPr>
            <p:ph sz="quarter" idx="1"/>
          </p:nvPr>
        </p:nvSpPr>
        <p:spPr>
          <a:xfrm>
            <a:off x="611560" y="1447800"/>
            <a:ext cx="8280920" cy="4572000"/>
          </a:xfrm>
        </p:spPr>
        <p:txBody>
          <a:bodyPr>
            <a:normAutofit/>
          </a:bodyPr>
          <a:lstStyle/>
          <a:p>
            <a:pPr>
              <a:buNone/>
            </a:pPr>
            <a:r>
              <a:rPr lang="pt-PT" dirty="0" smtClean="0"/>
              <a:t>  50% a 70% do investimento na rede de telefonia fixa comutada se localiza na conexão de acesso do assinante (</a:t>
            </a:r>
            <a:r>
              <a:rPr lang="pt-PT" i="1" dirty="0" err="1" smtClean="0"/>
              <a:t>subscriber</a:t>
            </a:r>
            <a:r>
              <a:rPr lang="pt-PT" i="1" dirty="0" smtClean="0"/>
              <a:t> </a:t>
            </a:r>
            <a:r>
              <a:rPr lang="pt-PT" i="1" dirty="0" err="1" smtClean="0"/>
              <a:t>loop</a:t>
            </a:r>
            <a:r>
              <a:rPr lang="pt-PT" i="1" dirty="0" smtClean="0"/>
              <a:t>).</a:t>
            </a:r>
          </a:p>
          <a:p>
            <a:pPr>
              <a:buNone/>
            </a:pPr>
            <a:r>
              <a:rPr lang="pt-PT" dirty="0" smtClean="0"/>
              <a:t>A instalação dessa conexão normalmente demanda muito</a:t>
            </a:r>
          </a:p>
          <a:p>
            <a:pPr>
              <a:buNone/>
            </a:pPr>
            <a:r>
              <a:rPr lang="pt-PT" dirty="0" smtClean="0"/>
              <a:t>tempo e o custo aumenta dramaticamente em áreas rurais, aproximadamente numa proporção inversa da densidade</a:t>
            </a:r>
          </a:p>
          <a:p>
            <a:pPr>
              <a:buNone/>
            </a:pPr>
            <a:r>
              <a:rPr lang="pt-PT" dirty="0" smtClean="0"/>
              <a:t>populacional e da capacidade de tráfego necessária.</a:t>
            </a:r>
          </a:p>
          <a:p>
            <a:pPr>
              <a:buNone/>
            </a:pPr>
            <a:r>
              <a:rPr lang="pt-PT" dirty="0" smtClean="0"/>
              <a:t>Conexões via rádio são menos onerosas em áreas com</a:t>
            </a:r>
          </a:p>
          <a:p>
            <a:pPr>
              <a:buNone/>
            </a:pPr>
            <a:r>
              <a:rPr lang="pt-PT" dirty="0" smtClean="0"/>
              <a:t>população esparsa; o custo praticamente independe da</a:t>
            </a:r>
          </a:p>
          <a:p>
            <a:pPr>
              <a:buNone/>
            </a:pPr>
            <a:r>
              <a:rPr lang="pt-PT" dirty="0" smtClean="0"/>
              <a:t>distância, mesmo com inclusão de repetidores ou amplificadores .</a:t>
            </a:r>
            <a:endParaRPr lang="pt-PT"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11560" y="274638"/>
            <a:ext cx="8075240" cy="1143000"/>
          </a:xfrm>
        </p:spPr>
        <p:txBody>
          <a:bodyPr>
            <a:normAutofit/>
          </a:bodyPr>
          <a:lstStyle/>
          <a:p>
            <a:r>
              <a:rPr lang="pt-PT" sz="2400" dirty="0" smtClean="0">
                <a:solidFill>
                  <a:srgbClr val="FF0000"/>
                </a:solidFill>
              </a:rPr>
              <a:t>REGRA DE COMUNICAÇÃO SEM FIO : A ULTIMA MILHA</a:t>
            </a:r>
            <a:endParaRPr lang="pt-PT" sz="2400" dirty="0"/>
          </a:p>
        </p:txBody>
      </p:sp>
      <p:sp>
        <p:nvSpPr>
          <p:cNvPr id="3" name="Marcador de Posição de Conteúdo 2"/>
          <p:cNvSpPr>
            <a:spLocks noGrp="1"/>
          </p:cNvSpPr>
          <p:nvPr>
            <p:ph sz="quarter" idx="1"/>
          </p:nvPr>
        </p:nvSpPr>
        <p:spPr/>
        <p:txBody>
          <a:bodyPr>
            <a:normAutofit lnSpcReduction="10000"/>
          </a:bodyPr>
          <a:lstStyle/>
          <a:p>
            <a:pPr>
              <a:buNone/>
            </a:pPr>
            <a:r>
              <a:rPr lang="pt-PT" dirty="0" smtClean="0"/>
              <a:t>Em áreas residenciais os cabos de cobre existentes podem</a:t>
            </a:r>
          </a:p>
          <a:p>
            <a:pPr>
              <a:buNone/>
            </a:pPr>
            <a:r>
              <a:rPr lang="pt-PT" dirty="0" smtClean="0"/>
              <a:t>ser mais adequados que acessos via rádio; cabos </a:t>
            </a:r>
            <a:r>
              <a:rPr lang="pt-PT" dirty="0" err="1" smtClean="0"/>
              <a:t>ópticos</a:t>
            </a:r>
            <a:r>
              <a:rPr lang="pt-PT" dirty="0" smtClean="0"/>
              <a:t> podem se tornar competitivos nesse caso, principalmente se há integração da rede com outra que ofereça novos serviços.</a:t>
            </a:r>
          </a:p>
          <a:p>
            <a:pPr>
              <a:buNone/>
            </a:pPr>
            <a:r>
              <a:rPr lang="pt-PT" dirty="0" smtClean="0"/>
              <a:t>Em escritórios a estrutura organizacional pode ser proibitiva a mudanças </a:t>
            </a:r>
            <a:r>
              <a:rPr lang="pt-PT" dirty="0" err="1" smtClean="0"/>
              <a:t>freqüentes</a:t>
            </a:r>
            <a:r>
              <a:rPr lang="pt-PT" dirty="0" smtClean="0"/>
              <a:t> na rede; sistemas tipo WOS (</a:t>
            </a:r>
            <a:r>
              <a:rPr lang="pt-PT" i="1" dirty="0" smtClean="0"/>
              <a:t>Wireless Office </a:t>
            </a:r>
            <a:r>
              <a:rPr lang="pt-PT" i="1" dirty="0" err="1" smtClean="0"/>
              <a:t>Systems</a:t>
            </a:r>
            <a:r>
              <a:rPr lang="pt-PT" i="1" dirty="0" smtClean="0"/>
              <a:t>) e que permitem conexão a </a:t>
            </a:r>
            <a:r>
              <a:rPr lang="pt-PT" dirty="0" smtClean="0"/>
              <a:t>centrais privadas, como o DECT, podem ser solução economicamente viável.</a:t>
            </a:r>
          </a:p>
          <a:p>
            <a:pPr>
              <a:buNone/>
            </a:pPr>
            <a:r>
              <a:rPr lang="pt-PT" b="1" dirty="0" smtClean="0"/>
              <a:t>Obs.: Devido à escassez de espectro, no futuro é possível</a:t>
            </a:r>
          </a:p>
          <a:p>
            <a:pPr>
              <a:buNone/>
            </a:pPr>
            <a:r>
              <a:rPr lang="pt-PT" dirty="0" smtClean="0"/>
              <a:t>algum tipo de “aluguel” de faixas de </a:t>
            </a:r>
            <a:r>
              <a:rPr lang="pt-PT" dirty="0" err="1" smtClean="0"/>
              <a:t>freqüência</a:t>
            </a:r>
            <a:r>
              <a:rPr lang="pt-PT" dirty="0" smtClean="0"/>
              <a:t>.</a:t>
            </a:r>
            <a:endParaRPr lang="pt-PT"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922114"/>
          </a:xfrm>
        </p:spPr>
        <p:txBody>
          <a:bodyPr>
            <a:normAutofit fontScale="90000"/>
          </a:bodyPr>
          <a:lstStyle/>
          <a:p>
            <a:r>
              <a:rPr lang="pt-PT" b="1" dirty="0" smtClean="0">
                <a:solidFill>
                  <a:srgbClr val="FF0000"/>
                </a:solidFill>
                <a:latin typeface="Arial" pitchFamily="34" charset="0"/>
                <a:cs typeface="Arial" pitchFamily="34" charset="0"/>
              </a:rPr>
              <a:t>WLL- Adequação da tecnologias</a:t>
            </a:r>
            <a:endParaRPr lang="pt-PT" dirty="0"/>
          </a:p>
        </p:txBody>
      </p:sp>
      <p:sp>
        <p:nvSpPr>
          <p:cNvPr id="3" name="Marcador de Posição de Conteúdo 2"/>
          <p:cNvSpPr>
            <a:spLocks noGrp="1"/>
          </p:cNvSpPr>
          <p:nvPr>
            <p:ph sz="quarter" idx="1"/>
          </p:nvPr>
        </p:nvSpPr>
        <p:spPr/>
        <p:txBody>
          <a:bodyPr>
            <a:normAutofit lnSpcReduction="10000"/>
          </a:bodyPr>
          <a:lstStyle/>
          <a:p>
            <a:pPr>
              <a:buNone/>
            </a:pPr>
            <a:r>
              <a:rPr lang="pt-PT" dirty="0" smtClean="0"/>
              <a:t>A adequada tecnologia dependerá de considerações sobre a</a:t>
            </a:r>
          </a:p>
          <a:p>
            <a:pPr>
              <a:buNone/>
            </a:pPr>
            <a:r>
              <a:rPr lang="pt-PT" dirty="0" smtClean="0"/>
              <a:t>densidade populacional, a área geográfica (rural ou urbana), o tipo de serviço (uso residencial ou negócios, telefonia </a:t>
            </a:r>
            <a:r>
              <a:rPr lang="pt-PT" dirty="0" err="1" smtClean="0"/>
              <a:t>oudados</a:t>
            </a:r>
            <a:r>
              <a:rPr lang="pt-PT" dirty="0" smtClean="0"/>
              <a:t>).</a:t>
            </a:r>
          </a:p>
          <a:p>
            <a:pPr>
              <a:buNone/>
            </a:pPr>
            <a:r>
              <a:rPr lang="pt-PT" dirty="0" smtClean="0"/>
              <a:t>Redes WLL serão implementadas através de cinco principais categorias: sistemas PCN/PCS, CT2/DECT e tecnologias proprietárias, a ver:</a:t>
            </a:r>
          </a:p>
          <a:p>
            <a:pPr>
              <a:buNone/>
            </a:pPr>
            <a:r>
              <a:rPr lang="pt-PT" dirty="0" smtClean="0"/>
              <a:t>Sistemas celulares analógicos: dominação do AMPS (69%,</a:t>
            </a:r>
          </a:p>
          <a:p>
            <a:pPr>
              <a:buNone/>
            </a:pPr>
            <a:r>
              <a:rPr lang="pt-PT" dirty="0" smtClean="0"/>
              <a:t>contra 23% TACS e 8% NMT); limitação em capacidade; adequado para mercados de baixa a média densidades;</a:t>
            </a:r>
          </a:p>
          <a:p>
            <a:pPr>
              <a:buNone/>
            </a:pPr>
            <a:r>
              <a:rPr lang="pt-PT" dirty="0" smtClean="0"/>
              <a:t> previsão de incorporar 19% dos sistemas WLL no ano 2000.</a:t>
            </a:r>
            <a:endParaRPr lang="pt-PT"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5661248"/>
            <a:ext cx="7772400" cy="576064"/>
          </a:xfrm>
        </p:spPr>
        <p:txBody>
          <a:bodyPr>
            <a:normAutofit fontScale="90000"/>
          </a:bodyPr>
          <a:lstStyle/>
          <a:p>
            <a:r>
              <a:rPr lang="pt-PT" b="1" dirty="0" smtClean="0">
                <a:solidFill>
                  <a:srgbClr val="FF0000"/>
                </a:solidFill>
                <a:latin typeface="Arial" pitchFamily="34" charset="0"/>
                <a:cs typeface="Arial" pitchFamily="34" charset="0"/>
              </a:rPr>
              <a:t/>
            </a:r>
            <a:br>
              <a:rPr lang="pt-PT" b="1" dirty="0" smtClean="0">
                <a:solidFill>
                  <a:srgbClr val="FF0000"/>
                </a:solidFill>
                <a:latin typeface="Arial" pitchFamily="34" charset="0"/>
                <a:cs typeface="Arial" pitchFamily="34" charset="0"/>
              </a:rPr>
            </a:br>
            <a:r>
              <a:rPr lang="pt-PT" b="1" dirty="0" smtClean="0">
                <a:solidFill>
                  <a:srgbClr val="FF0000"/>
                </a:solidFill>
                <a:latin typeface="Arial" pitchFamily="34" charset="0"/>
                <a:cs typeface="Arial" pitchFamily="34" charset="0"/>
              </a:rPr>
              <a:t/>
            </a:r>
            <a:br>
              <a:rPr lang="pt-PT" b="1" dirty="0" smtClean="0">
                <a:solidFill>
                  <a:srgbClr val="FF0000"/>
                </a:solidFill>
                <a:latin typeface="Arial" pitchFamily="34" charset="0"/>
                <a:cs typeface="Arial" pitchFamily="34" charset="0"/>
              </a:rPr>
            </a:br>
            <a:r>
              <a:rPr lang="pt-PT" b="1" dirty="0" smtClean="0">
                <a:solidFill>
                  <a:srgbClr val="FF0000"/>
                </a:solidFill>
                <a:latin typeface="Arial" pitchFamily="34" charset="0"/>
                <a:cs typeface="Arial" pitchFamily="34" charset="0"/>
              </a:rPr>
              <a:t/>
            </a:r>
            <a:br>
              <a:rPr lang="pt-PT" b="1" dirty="0" smtClean="0">
                <a:solidFill>
                  <a:srgbClr val="FF0000"/>
                </a:solidFill>
                <a:latin typeface="Arial" pitchFamily="34" charset="0"/>
                <a:cs typeface="Arial" pitchFamily="34" charset="0"/>
              </a:rPr>
            </a:br>
            <a:r>
              <a:rPr lang="pt-PT" b="1" dirty="0" smtClean="0">
                <a:solidFill>
                  <a:srgbClr val="FF0000"/>
                </a:solidFill>
                <a:latin typeface="Arial" pitchFamily="34" charset="0"/>
                <a:cs typeface="Arial" pitchFamily="34" charset="0"/>
              </a:rPr>
              <a:t/>
            </a:r>
            <a:br>
              <a:rPr lang="pt-PT" b="1" dirty="0" smtClean="0">
                <a:solidFill>
                  <a:srgbClr val="FF0000"/>
                </a:solidFill>
                <a:latin typeface="Arial" pitchFamily="34" charset="0"/>
                <a:cs typeface="Arial" pitchFamily="34" charset="0"/>
              </a:rPr>
            </a:br>
            <a:r>
              <a:rPr lang="pt-PT" b="1" dirty="0" smtClean="0">
                <a:solidFill>
                  <a:srgbClr val="FF0000"/>
                </a:solidFill>
                <a:latin typeface="Arial" pitchFamily="34" charset="0"/>
                <a:cs typeface="Arial" pitchFamily="34" charset="0"/>
              </a:rPr>
              <a:t/>
            </a:r>
            <a:br>
              <a:rPr lang="pt-PT" b="1" dirty="0" smtClean="0">
                <a:solidFill>
                  <a:srgbClr val="FF0000"/>
                </a:solidFill>
                <a:latin typeface="Arial" pitchFamily="34" charset="0"/>
                <a:cs typeface="Arial" pitchFamily="34" charset="0"/>
              </a:rPr>
            </a:br>
            <a:r>
              <a:rPr lang="pt-PT" b="1" dirty="0" smtClean="0">
                <a:solidFill>
                  <a:srgbClr val="FF0000"/>
                </a:solidFill>
                <a:latin typeface="Arial" pitchFamily="34" charset="0"/>
                <a:cs typeface="Arial" pitchFamily="34" charset="0"/>
              </a:rPr>
              <a:t/>
            </a:r>
            <a:br>
              <a:rPr lang="pt-PT" b="1" dirty="0" smtClean="0">
                <a:solidFill>
                  <a:srgbClr val="FF0000"/>
                </a:solidFill>
                <a:latin typeface="Arial" pitchFamily="34" charset="0"/>
                <a:cs typeface="Arial" pitchFamily="34" charset="0"/>
              </a:rPr>
            </a:br>
            <a:r>
              <a:rPr lang="pt-PT" b="1" dirty="0" smtClean="0">
                <a:solidFill>
                  <a:srgbClr val="FF0000"/>
                </a:solidFill>
                <a:latin typeface="Arial" pitchFamily="34" charset="0"/>
                <a:cs typeface="Arial" pitchFamily="34" charset="0"/>
              </a:rPr>
              <a:t/>
            </a:r>
            <a:br>
              <a:rPr lang="pt-PT" b="1" dirty="0" smtClean="0">
                <a:solidFill>
                  <a:srgbClr val="FF0000"/>
                </a:solidFill>
                <a:latin typeface="Arial" pitchFamily="34" charset="0"/>
                <a:cs typeface="Arial" pitchFamily="34" charset="0"/>
              </a:rPr>
            </a:br>
            <a:r>
              <a:rPr lang="pt-PT" b="1" dirty="0" smtClean="0">
                <a:solidFill>
                  <a:srgbClr val="FF0000"/>
                </a:solidFill>
                <a:latin typeface="Arial" pitchFamily="34" charset="0"/>
                <a:cs typeface="Arial" pitchFamily="34" charset="0"/>
              </a:rPr>
              <a:t/>
            </a:r>
            <a:br>
              <a:rPr lang="pt-PT" b="1" dirty="0" smtClean="0">
                <a:solidFill>
                  <a:srgbClr val="FF0000"/>
                </a:solidFill>
                <a:latin typeface="Arial" pitchFamily="34" charset="0"/>
                <a:cs typeface="Arial" pitchFamily="34" charset="0"/>
              </a:rPr>
            </a:br>
            <a:r>
              <a:rPr lang="pt-PT" b="1" dirty="0" smtClean="0">
                <a:solidFill>
                  <a:srgbClr val="FF0000"/>
                </a:solidFill>
                <a:latin typeface="Arial" pitchFamily="34" charset="0"/>
                <a:cs typeface="Arial" pitchFamily="34" charset="0"/>
              </a:rPr>
              <a:t/>
            </a:r>
            <a:br>
              <a:rPr lang="pt-PT" b="1" dirty="0" smtClean="0">
                <a:solidFill>
                  <a:srgbClr val="FF0000"/>
                </a:solidFill>
                <a:latin typeface="Arial" pitchFamily="34" charset="0"/>
                <a:cs typeface="Arial" pitchFamily="34" charset="0"/>
              </a:rPr>
            </a:br>
            <a:r>
              <a:rPr lang="pt-PT" dirty="0" smtClean="0"/>
              <a:t/>
            </a:r>
            <a:br>
              <a:rPr lang="pt-PT" dirty="0" smtClean="0"/>
            </a:br>
            <a:endParaRPr lang="pt-PT" dirty="0"/>
          </a:p>
        </p:txBody>
      </p:sp>
      <p:sp>
        <p:nvSpPr>
          <p:cNvPr id="3" name="Marcador de Posição de Conteúdo 2"/>
          <p:cNvSpPr>
            <a:spLocks noGrp="1"/>
          </p:cNvSpPr>
          <p:nvPr>
            <p:ph sz="quarter" idx="1"/>
          </p:nvPr>
        </p:nvSpPr>
        <p:spPr>
          <a:xfrm>
            <a:off x="914400" y="1447800"/>
            <a:ext cx="7772400" cy="3277344"/>
          </a:xfrm>
        </p:spPr>
        <p:txBody>
          <a:bodyPr>
            <a:normAutofit/>
          </a:bodyPr>
          <a:lstStyle/>
          <a:p>
            <a:pPr algn="ctr">
              <a:buNone/>
            </a:pPr>
            <a:endParaRPr lang="pt-PT" sz="8000" b="1" dirty="0" smtClean="0">
              <a:solidFill>
                <a:srgbClr val="FF0000"/>
              </a:solidFill>
              <a:latin typeface="Arial" pitchFamily="34" charset="0"/>
              <a:cs typeface="Arial" pitchFamily="34" charset="0"/>
            </a:endParaRPr>
          </a:p>
          <a:p>
            <a:pPr algn="ctr">
              <a:buNone/>
            </a:pPr>
            <a:r>
              <a:rPr lang="pt-PT" sz="8000" b="1" dirty="0" err="1" smtClean="0">
                <a:solidFill>
                  <a:srgbClr val="FF0000"/>
                </a:solidFill>
                <a:latin typeface="Arial" pitchFamily="34" charset="0"/>
                <a:cs typeface="Arial" pitchFamily="34" charset="0"/>
              </a:rPr>
              <a:t>Frame-Relay</a:t>
            </a:r>
            <a:endParaRPr lang="pt-PT" sz="8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994122"/>
          </a:xfrm>
        </p:spPr>
        <p:txBody>
          <a:bodyPr/>
          <a:lstStyle/>
          <a:p>
            <a:r>
              <a:rPr lang="pt-PT" b="1" dirty="0" err="1" smtClean="0">
                <a:solidFill>
                  <a:srgbClr val="FF0000"/>
                </a:solidFill>
                <a:latin typeface="Arial" pitchFamily="34" charset="0"/>
                <a:cs typeface="Arial" pitchFamily="34" charset="0"/>
              </a:rPr>
              <a:t>Frame</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Relay</a:t>
            </a:r>
            <a:endParaRPr lang="pt-PT" dirty="0"/>
          </a:p>
        </p:txBody>
      </p:sp>
      <p:sp>
        <p:nvSpPr>
          <p:cNvPr id="3" name="Marcador de Posição de Conteúdo 2"/>
          <p:cNvSpPr>
            <a:spLocks noGrp="1"/>
          </p:cNvSpPr>
          <p:nvPr>
            <p:ph sz="quarter" idx="1"/>
          </p:nvPr>
        </p:nvSpPr>
        <p:spPr/>
        <p:txBody>
          <a:bodyPr/>
          <a:lstStyle/>
          <a:p>
            <a:pPr>
              <a:buFont typeface="Wingdings" pitchFamily="2" charset="2"/>
              <a:buChar char="q"/>
            </a:pPr>
            <a:r>
              <a:rPr lang="pt-PT" dirty="0" err="1" smtClean="0"/>
              <a:t>Frame</a:t>
            </a:r>
            <a:r>
              <a:rPr lang="pt-PT" dirty="0" smtClean="0"/>
              <a:t> </a:t>
            </a:r>
            <a:r>
              <a:rPr lang="pt-PT" dirty="0" err="1" smtClean="0"/>
              <a:t>Relay</a:t>
            </a:r>
            <a:r>
              <a:rPr lang="pt-PT" dirty="0" smtClean="0"/>
              <a:t> é tecnologia de comunicação de alta difusão usada em centenas de redes em todo mundo para conectar LAN, internet e até mesmo aplicativos de voz.</a:t>
            </a:r>
          </a:p>
          <a:p>
            <a:pPr>
              <a:buFont typeface="Wingdings" pitchFamily="2" charset="2"/>
              <a:buChar char="q"/>
            </a:pPr>
            <a:endParaRPr lang="pt-PT" dirty="0" smtClean="0"/>
          </a:p>
          <a:p>
            <a:pPr>
              <a:buFont typeface="Wingdings" pitchFamily="2" charset="2"/>
              <a:buChar char="q"/>
            </a:pPr>
            <a:r>
              <a:rPr lang="pt-PT" dirty="0" smtClean="0"/>
              <a:t> Em outras palavras, </a:t>
            </a:r>
            <a:r>
              <a:rPr lang="pt-PT" dirty="0" err="1" smtClean="0"/>
              <a:t>frame</a:t>
            </a:r>
            <a:r>
              <a:rPr lang="pt-PT" dirty="0" smtClean="0"/>
              <a:t> –</a:t>
            </a:r>
            <a:r>
              <a:rPr lang="pt-PT" dirty="0" err="1" smtClean="0"/>
              <a:t>Relay</a:t>
            </a:r>
            <a:r>
              <a:rPr lang="pt-PT" dirty="0" smtClean="0"/>
              <a:t> é uma forma de enviar informações por uma rede de longa distância (WAN) que divide as informações em </a:t>
            </a:r>
            <a:r>
              <a:rPr lang="pt-PT" dirty="0" err="1" smtClean="0"/>
              <a:t>frames</a:t>
            </a:r>
            <a:r>
              <a:rPr lang="pt-PT" dirty="0" smtClean="0"/>
              <a:t> ou compartimentos. Cada quadro possui um endereço que a rede usa para determinar o destino do quadro. O quadro viaja através de uma série de  </a:t>
            </a:r>
            <a:r>
              <a:rPr lang="pt-PT" dirty="0" err="1" smtClean="0"/>
              <a:t>switches</a:t>
            </a:r>
            <a:r>
              <a:rPr lang="pt-PT" dirty="0" smtClean="0"/>
              <a:t> dentro da rede </a:t>
            </a:r>
            <a:r>
              <a:rPr lang="pt-PT" dirty="0" err="1" smtClean="0"/>
              <a:t>frame</a:t>
            </a:r>
            <a:r>
              <a:rPr lang="pt-PT" dirty="0" smtClean="0"/>
              <a:t> </a:t>
            </a:r>
            <a:r>
              <a:rPr lang="pt-PT" dirty="0" err="1" smtClean="0"/>
              <a:t>relay</a:t>
            </a:r>
            <a:r>
              <a:rPr lang="pt-PT" dirty="0" smtClean="0"/>
              <a:t> até chegar ao destino.</a:t>
            </a:r>
            <a:endParaRPr lang="pt-PT"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err="1" smtClean="0">
                <a:solidFill>
                  <a:srgbClr val="FF0000"/>
                </a:solidFill>
                <a:latin typeface="Arial" pitchFamily="34" charset="0"/>
                <a:cs typeface="Arial" pitchFamily="34" charset="0"/>
              </a:rPr>
              <a:t>Frame</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Relay</a:t>
            </a:r>
            <a:r>
              <a:rPr lang="pt-PT" b="1" dirty="0" smtClean="0">
                <a:solidFill>
                  <a:srgbClr val="FF0000"/>
                </a:solidFill>
                <a:latin typeface="Arial" pitchFamily="34" charset="0"/>
                <a:cs typeface="Arial" pitchFamily="34" charset="0"/>
              </a:rPr>
              <a:t>-Característica</a:t>
            </a:r>
            <a:endParaRPr lang="pt-PT" dirty="0"/>
          </a:p>
        </p:txBody>
      </p:sp>
      <p:sp>
        <p:nvSpPr>
          <p:cNvPr id="3" name="Marcador de Posição de Conteúdo 2"/>
          <p:cNvSpPr>
            <a:spLocks noGrp="1"/>
          </p:cNvSpPr>
          <p:nvPr>
            <p:ph sz="quarter" idx="1"/>
          </p:nvPr>
        </p:nvSpPr>
        <p:spPr/>
        <p:txBody>
          <a:bodyPr>
            <a:normAutofit fontScale="85000" lnSpcReduction="20000"/>
          </a:bodyPr>
          <a:lstStyle/>
          <a:p>
            <a:pPr marL="338138" indent="-338138">
              <a:spcBef>
                <a:spcPts val="600"/>
              </a:spcBef>
              <a:buFont typeface="Wingdings" pitchFamily="2" charset="2"/>
              <a:buChar char="q"/>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800" dirty="0" smtClean="0"/>
              <a:t>Projetada no final </a:t>
            </a:r>
            <a:r>
              <a:rPr lang="en-GB" sz="2800" dirty="0" err="1" smtClean="0"/>
              <a:t>da</a:t>
            </a:r>
            <a:r>
              <a:rPr lang="en-GB" sz="2800" dirty="0" smtClean="0"/>
              <a:t> década de 80.</a:t>
            </a:r>
          </a:p>
          <a:p>
            <a:pPr marL="338138" indent="-338138">
              <a:spcBef>
                <a:spcPts val="600"/>
              </a:spcBef>
              <a:buFont typeface="Wingdings" pitchFamily="2" charset="2"/>
              <a:buChar char="q"/>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800" dirty="0" smtClean="0"/>
              <a:t>Disseminada </a:t>
            </a:r>
            <a:r>
              <a:rPr lang="en-GB" sz="2800" dirty="0" err="1" smtClean="0"/>
              <a:t>na</a:t>
            </a:r>
            <a:r>
              <a:rPr lang="en-GB" sz="2800" dirty="0" smtClean="0"/>
              <a:t> década de 90.</a:t>
            </a:r>
          </a:p>
          <a:p>
            <a:pPr marL="338138" indent="-338138">
              <a:spcBef>
                <a:spcPts val="600"/>
              </a:spcBef>
              <a:buFont typeface="Wingdings" pitchFamily="2" charset="2"/>
              <a:buChar char="q"/>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800" dirty="0" smtClean="0"/>
              <a:t>Evolução </a:t>
            </a:r>
            <a:r>
              <a:rPr lang="en-GB" sz="2800" dirty="0" err="1" smtClean="0"/>
              <a:t>da</a:t>
            </a:r>
            <a:r>
              <a:rPr lang="en-GB" sz="2800" dirty="0" smtClean="0"/>
              <a:t> rede X.25 atendendo a evolução dos meios de transmissão e dos computadores.</a:t>
            </a:r>
          </a:p>
          <a:p>
            <a:pPr marL="338138" indent="-338138">
              <a:spcBef>
                <a:spcPts val="600"/>
              </a:spcBef>
              <a:buFont typeface="Wingdings" pitchFamily="2" charset="2"/>
              <a:buChar char="q"/>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800" dirty="0" smtClean="0"/>
              <a:t>Opera com circuito virtual.</a:t>
            </a:r>
          </a:p>
          <a:p>
            <a:pPr marL="338138" indent="-338138">
              <a:spcBef>
                <a:spcPts val="600"/>
              </a:spcBef>
              <a:buFont typeface="Wingdings" pitchFamily="2" charset="2"/>
              <a:buChar char="q"/>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pt-BR" sz="2800" dirty="0" smtClean="0"/>
              <a:t>No protocolo Frame Relay uma série de funções, que existiam nos protocolos anteriores (ex.: X.25), são minimizadas ou eliminadas.</a:t>
            </a:r>
          </a:p>
          <a:p>
            <a:pPr marL="338138" indent="-338138">
              <a:spcBef>
                <a:spcPts val="600"/>
              </a:spcBef>
              <a:buFont typeface="Wingdings" pitchFamily="2" charset="2"/>
              <a:buChar char="q"/>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pt-BR" sz="2800" dirty="0" smtClean="0"/>
              <a:t>A Rede Frame Relay é concebida para eliminar e/ou combinar muitas operações residentes nas camadas 2 e 3 de um modelo de 7 camadas convencional. Esta abordagem resulta em aumento de vazão e diminuição de atraso (se comparado com X25)</a:t>
            </a:r>
            <a:endParaRPr lang="en-GB" sz="2800" dirty="0" smtClean="0"/>
          </a:p>
          <a:p>
            <a:pPr marL="338138" indent="-338138">
              <a:spcBef>
                <a:spcPts val="600"/>
              </a:spcBef>
              <a:buFont typeface="Wingdings" pitchFamily="2" charset="2"/>
              <a:buChar char="q"/>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800" dirty="0" smtClean="0"/>
              <a:t>Vem perdendo terreno para as redes IP, ATM, MPLS.</a:t>
            </a:r>
          </a:p>
          <a:p>
            <a:endParaRPr lang="pt-PT"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ATM-</a:t>
            </a:r>
            <a:r>
              <a:rPr lang="pt-PT" b="1" dirty="0" err="1" smtClean="0">
                <a:solidFill>
                  <a:srgbClr val="FF0000"/>
                </a:solidFill>
                <a:latin typeface="Arial" pitchFamily="34" charset="0"/>
                <a:cs typeface="Arial" pitchFamily="34" charset="0"/>
              </a:rPr>
              <a:t>Frame</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Relay</a:t>
            </a:r>
            <a:endParaRPr lang="pt-PT" dirty="0"/>
          </a:p>
        </p:txBody>
      </p:sp>
      <p:sp>
        <p:nvSpPr>
          <p:cNvPr id="3" name="Marcador de Posição de Conteúdo 2"/>
          <p:cNvSpPr>
            <a:spLocks noGrp="1"/>
          </p:cNvSpPr>
          <p:nvPr>
            <p:ph sz="quarter" idx="1"/>
          </p:nvPr>
        </p:nvSpPr>
        <p:spPr/>
        <p:txBody>
          <a:bodyPr/>
          <a:lstStyle/>
          <a:p>
            <a:pPr>
              <a:lnSpc>
                <a:spcPct val="90000"/>
              </a:lnSpc>
              <a:buFont typeface="Wingdings" pitchFamily="2" charset="2"/>
              <a:buChar char="q"/>
            </a:pPr>
            <a:r>
              <a:rPr lang="pt-BR" sz="2800" dirty="0" smtClean="0"/>
              <a:t>  ATM e Frame-Relay</a:t>
            </a:r>
          </a:p>
          <a:p>
            <a:pPr lvl="1">
              <a:lnSpc>
                <a:spcPct val="90000"/>
              </a:lnSpc>
            </a:pPr>
            <a:r>
              <a:rPr lang="pt-BR" dirty="0" smtClean="0"/>
              <a:t>Comunicação Orientada a Conexão</a:t>
            </a:r>
          </a:p>
          <a:p>
            <a:pPr lvl="2">
              <a:lnSpc>
                <a:spcPct val="90000"/>
              </a:lnSpc>
            </a:pPr>
            <a:r>
              <a:rPr lang="pt-BR" dirty="0" smtClean="0"/>
              <a:t>Connecion-Oriented</a:t>
            </a:r>
          </a:p>
          <a:p>
            <a:pPr>
              <a:lnSpc>
                <a:spcPct val="90000"/>
              </a:lnSpc>
              <a:buFont typeface="Wingdings" pitchFamily="2" charset="2"/>
              <a:buChar char="q"/>
            </a:pPr>
            <a:r>
              <a:rPr lang="pt-BR" sz="2800" dirty="0" smtClean="0"/>
              <a:t>  Ambas as tecnologias permitem dividir a banda de um enlace físico através de circuitos virtuais.</a:t>
            </a:r>
          </a:p>
          <a:p>
            <a:pPr>
              <a:lnSpc>
                <a:spcPct val="90000"/>
              </a:lnSpc>
              <a:buFont typeface="Wingdings" pitchFamily="2" charset="2"/>
              <a:buChar char="q"/>
            </a:pPr>
            <a:r>
              <a:rPr lang="pt-BR" sz="2800" dirty="0" smtClean="0"/>
              <a:t>  ATM:</a:t>
            </a:r>
          </a:p>
          <a:p>
            <a:pPr lvl="1">
              <a:lnSpc>
                <a:spcPct val="90000"/>
              </a:lnSpc>
            </a:pPr>
            <a:r>
              <a:rPr lang="pt-BR" dirty="0" smtClean="0"/>
              <a:t>VPI e VCI</a:t>
            </a:r>
          </a:p>
          <a:p>
            <a:pPr>
              <a:lnSpc>
                <a:spcPct val="90000"/>
              </a:lnSpc>
              <a:buFont typeface="Wingdings" pitchFamily="2" charset="2"/>
              <a:buChar char="q"/>
            </a:pPr>
            <a:r>
              <a:rPr lang="pt-BR" sz="2800" dirty="0" smtClean="0"/>
              <a:t>  FRAME RELAY</a:t>
            </a:r>
          </a:p>
          <a:p>
            <a:pPr lvl="1">
              <a:lnSpc>
                <a:spcPct val="90000"/>
              </a:lnSpc>
            </a:pPr>
            <a:r>
              <a:rPr lang="pt-BR" dirty="0" smtClean="0"/>
              <a:t>DLCI</a:t>
            </a:r>
          </a:p>
          <a:p>
            <a:endParaRPr lang="pt-PT"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Rede </a:t>
            </a:r>
            <a:r>
              <a:rPr lang="pt-PT" b="1" dirty="0" err="1" smtClean="0">
                <a:solidFill>
                  <a:srgbClr val="FF0000"/>
                </a:solidFill>
                <a:latin typeface="Arial" pitchFamily="34" charset="0"/>
                <a:cs typeface="Arial" pitchFamily="34" charset="0"/>
              </a:rPr>
              <a:t>Frame</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Relay</a:t>
            </a:r>
            <a:endParaRPr lang="pt-PT" dirty="0"/>
          </a:p>
        </p:txBody>
      </p:sp>
      <p:pic>
        <p:nvPicPr>
          <p:cNvPr id="1026" name="Picture 2"/>
          <p:cNvPicPr>
            <a:picLocks noGrp="1" noChangeAspect="1" noChangeArrowheads="1"/>
          </p:cNvPicPr>
          <p:nvPr>
            <p:ph sz="quarter" idx="1"/>
          </p:nvPr>
        </p:nvPicPr>
        <p:blipFill>
          <a:blip r:embed="rId2" cstate="print"/>
          <a:srcRect/>
          <a:stretch>
            <a:fillRect/>
          </a:stretch>
        </p:blipFill>
        <p:spPr bwMode="auto">
          <a:xfrm>
            <a:off x="899592" y="1412776"/>
            <a:ext cx="7560840" cy="4896544"/>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sz="3200" b="1" dirty="0" smtClean="0">
                <a:solidFill>
                  <a:srgbClr val="FF0000"/>
                </a:solidFill>
                <a:latin typeface="Arial" pitchFamily="34" charset="0"/>
                <a:cs typeface="Arial" pitchFamily="34" charset="0"/>
              </a:rPr>
              <a:t>FRAD: </a:t>
            </a:r>
            <a:r>
              <a:rPr lang="pt-PT" sz="3200" b="1" dirty="0" err="1" smtClean="0">
                <a:solidFill>
                  <a:srgbClr val="FF0000"/>
                </a:solidFill>
                <a:latin typeface="Arial" pitchFamily="34" charset="0"/>
                <a:cs typeface="Arial" pitchFamily="34" charset="0"/>
              </a:rPr>
              <a:t>Frame</a:t>
            </a:r>
            <a:r>
              <a:rPr lang="pt-PT" sz="3200" b="1" dirty="0" smtClean="0">
                <a:solidFill>
                  <a:srgbClr val="FF0000"/>
                </a:solidFill>
                <a:latin typeface="Arial" pitchFamily="34" charset="0"/>
                <a:cs typeface="Arial" pitchFamily="34" charset="0"/>
              </a:rPr>
              <a:t> </a:t>
            </a:r>
            <a:r>
              <a:rPr lang="pt-PT" sz="3200" b="1" dirty="0" err="1" smtClean="0">
                <a:solidFill>
                  <a:srgbClr val="FF0000"/>
                </a:solidFill>
                <a:latin typeface="Arial" pitchFamily="34" charset="0"/>
                <a:cs typeface="Arial" pitchFamily="34" charset="0"/>
              </a:rPr>
              <a:t>Relay</a:t>
            </a:r>
            <a:r>
              <a:rPr lang="pt-PT" sz="3200" b="1" dirty="0" smtClean="0">
                <a:solidFill>
                  <a:srgbClr val="FF0000"/>
                </a:solidFill>
                <a:latin typeface="Arial" pitchFamily="34" charset="0"/>
                <a:cs typeface="Arial" pitchFamily="34" charset="0"/>
              </a:rPr>
              <a:t> ACCESS </a:t>
            </a:r>
            <a:r>
              <a:rPr lang="pt-PT" sz="3200" b="1" dirty="0" err="1" smtClean="0">
                <a:solidFill>
                  <a:srgbClr val="FF0000"/>
                </a:solidFill>
                <a:latin typeface="Arial" pitchFamily="34" charset="0"/>
                <a:cs typeface="Arial" pitchFamily="34" charset="0"/>
              </a:rPr>
              <a:t>Device</a:t>
            </a:r>
            <a:endParaRPr lang="pt-PT" sz="3200" dirty="0"/>
          </a:p>
        </p:txBody>
      </p:sp>
      <p:sp>
        <p:nvSpPr>
          <p:cNvPr id="3" name="Marcador de Posição de Conteúdo 2"/>
          <p:cNvSpPr>
            <a:spLocks noGrp="1"/>
          </p:cNvSpPr>
          <p:nvPr>
            <p:ph sz="quarter" idx="1"/>
          </p:nvPr>
        </p:nvSpPr>
        <p:spPr/>
        <p:txBody>
          <a:bodyPr/>
          <a:lstStyle/>
          <a:p>
            <a:pPr>
              <a:lnSpc>
                <a:spcPct val="90000"/>
              </a:lnSpc>
              <a:buFont typeface="Wingdings" pitchFamily="2" charset="2"/>
              <a:buChar char="q"/>
            </a:pPr>
            <a:r>
              <a:rPr lang="pt-BR" dirty="0" smtClean="0"/>
              <a:t>Dispositivo responsável pela integração do frame relay com o protocolo da camada 3, como o IP, por exemplo.</a:t>
            </a:r>
          </a:p>
          <a:p>
            <a:pPr>
              <a:lnSpc>
                <a:spcPct val="90000"/>
              </a:lnSpc>
              <a:buFont typeface="Wingdings" pitchFamily="2" charset="2"/>
              <a:buChar char="q"/>
            </a:pPr>
            <a:r>
              <a:rPr lang="pt-BR" dirty="0" smtClean="0"/>
              <a:t>Na transmissão o FRAD:</a:t>
            </a:r>
          </a:p>
          <a:p>
            <a:pPr lvl="1">
              <a:lnSpc>
                <a:spcPct val="90000"/>
              </a:lnSpc>
            </a:pPr>
            <a:r>
              <a:rPr lang="pt-BR" dirty="0" smtClean="0"/>
              <a:t>Formata as informações na forma de quadros frame relay antes de enviá-los para o switch</a:t>
            </a:r>
          </a:p>
          <a:p>
            <a:pPr>
              <a:lnSpc>
                <a:spcPct val="90000"/>
              </a:lnSpc>
              <a:buFont typeface="Wingdings" pitchFamily="2" charset="2"/>
              <a:buChar char="q"/>
            </a:pPr>
            <a:r>
              <a:rPr lang="pt-BR" dirty="0" smtClean="0"/>
              <a:t>Na recepção o FRAD:</a:t>
            </a:r>
          </a:p>
          <a:p>
            <a:pPr lvl="1">
              <a:lnSpc>
                <a:spcPct val="90000"/>
              </a:lnSpc>
            </a:pPr>
            <a:r>
              <a:rPr lang="pt-BR" dirty="0" smtClean="0"/>
              <a:t>Retira os dados dos quadros recebidos do switch e entrega para o dispositivo do usuário em seu formato original.</a:t>
            </a:r>
          </a:p>
          <a:p>
            <a:pPr>
              <a:lnSpc>
                <a:spcPct val="90000"/>
              </a:lnSpc>
              <a:buFont typeface="Wingdings" pitchFamily="2" charset="2"/>
              <a:buChar char="q"/>
            </a:pPr>
            <a:r>
              <a:rPr lang="pt-BR" dirty="0" smtClean="0"/>
              <a:t>O FRAD pode ser implementado:</a:t>
            </a:r>
          </a:p>
          <a:p>
            <a:pPr lvl="1">
              <a:lnSpc>
                <a:spcPct val="90000"/>
              </a:lnSpc>
            </a:pPr>
            <a:r>
              <a:rPr lang="pt-BR" dirty="0" smtClean="0"/>
              <a:t>Como um dispositivo </a:t>
            </a:r>
            <a:r>
              <a:rPr lang="pt-BR" i="1" dirty="0" smtClean="0"/>
              <a:t>standalone</a:t>
            </a:r>
            <a:r>
              <a:rPr lang="pt-BR" dirty="0" smtClean="0"/>
              <a:t> ou embutido num </a:t>
            </a:r>
            <a:r>
              <a:rPr lang="en-US" dirty="0" err="1" smtClean="0"/>
              <a:t>roteador</a:t>
            </a:r>
            <a:r>
              <a:rPr lang="pt-BR" dirty="0" smtClean="0"/>
              <a:t>, switch, multiplexador ou dispositivo similar.</a:t>
            </a:r>
          </a:p>
          <a:p>
            <a:endParaRPr lang="pt-PT"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922114"/>
          </a:xfrm>
        </p:spPr>
        <p:txBody>
          <a:bodyPr/>
          <a:lstStyle/>
          <a:p>
            <a:r>
              <a:rPr lang="pt-PT" b="1" dirty="0" smtClean="0">
                <a:solidFill>
                  <a:srgbClr val="FF0000"/>
                </a:solidFill>
                <a:latin typeface="Arial" pitchFamily="34" charset="0"/>
                <a:cs typeface="Arial" pitchFamily="34" charset="0"/>
              </a:rPr>
              <a:t>Quadro </a:t>
            </a:r>
            <a:r>
              <a:rPr lang="pt-PT" b="1" dirty="0" err="1" smtClean="0">
                <a:solidFill>
                  <a:srgbClr val="FF0000"/>
                </a:solidFill>
                <a:latin typeface="Arial" pitchFamily="34" charset="0"/>
                <a:cs typeface="Arial" pitchFamily="34" charset="0"/>
              </a:rPr>
              <a:t>Frame</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Relay</a:t>
            </a:r>
            <a:endParaRPr lang="pt-PT" dirty="0"/>
          </a:p>
        </p:txBody>
      </p:sp>
      <p:pic>
        <p:nvPicPr>
          <p:cNvPr id="2050" name="Picture 2"/>
          <p:cNvPicPr>
            <a:picLocks noGrp="1" noChangeAspect="1" noChangeArrowheads="1"/>
          </p:cNvPicPr>
          <p:nvPr>
            <p:ph sz="quarter" idx="1"/>
          </p:nvPr>
        </p:nvPicPr>
        <p:blipFill>
          <a:blip r:embed="rId2" cstate="print"/>
          <a:srcRect/>
          <a:stretch>
            <a:fillRect/>
          </a:stretch>
        </p:blipFill>
        <p:spPr bwMode="auto">
          <a:xfrm>
            <a:off x="899592" y="1268760"/>
            <a:ext cx="7272808" cy="4896543"/>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994122"/>
          </a:xfrm>
        </p:spPr>
        <p:txBody>
          <a:bodyPr>
            <a:normAutofit/>
          </a:bodyPr>
          <a:lstStyle/>
          <a:p>
            <a:r>
              <a:rPr lang="pt-PT" sz="3200" b="1" dirty="0" smtClean="0">
                <a:solidFill>
                  <a:srgbClr val="FF0000"/>
                </a:solidFill>
                <a:latin typeface="Arial" pitchFamily="34" charset="0"/>
                <a:cs typeface="Arial" pitchFamily="34" charset="0"/>
              </a:rPr>
              <a:t>Quadro </a:t>
            </a:r>
            <a:r>
              <a:rPr lang="pt-PT" sz="3200" b="1" dirty="0" err="1" smtClean="0">
                <a:solidFill>
                  <a:srgbClr val="FF0000"/>
                </a:solidFill>
                <a:latin typeface="Arial" pitchFamily="34" charset="0"/>
                <a:cs typeface="Arial" pitchFamily="34" charset="0"/>
              </a:rPr>
              <a:t>Frame</a:t>
            </a:r>
            <a:r>
              <a:rPr lang="pt-PT" sz="3200" b="1" dirty="0" smtClean="0">
                <a:solidFill>
                  <a:srgbClr val="FF0000"/>
                </a:solidFill>
                <a:latin typeface="Arial" pitchFamily="34" charset="0"/>
                <a:cs typeface="Arial" pitchFamily="34" charset="0"/>
              </a:rPr>
              <a:t> </a:t>
            </a:r>
            <a:r>
              <a:rPr lang="pt-PT" sz="3200" b="1" dirty="0" err="1" smtClean="0">
                <a:solidFill>
                  <a:srgbClr val="FF0000"/>
                </a:solidFill>
                <a:latin typeface="Arial" pitchFamily="34" charset="0"/>
                <a:cs typeface="Arial" pitchFamily="34" charset="0"/>
              </a:rPr>
              <a:t>Relay</a:t>
            </a:r>
            <a:endParaRPr lang="pt-PT" sz="3200" dirty="0"/>
          </a:p>
        </p:txBody>
      </p:sp>
      <p:sp>
        <p:nvSpPr>
          <p:cNvPr id="3" name="Marcador de Posição de Conteúdo 2"/>
          <p:cNvSpPr>
            <a:spLocks noGrp="1"/>
          </p:cNvSpPr>
          <p:nvPr>
            <p:ph sz="quarter" idx="1"/>
          </p:nvPr>
        </p:nvSpPr>
        <p:spPr/>
        <p:txBody>
          <a:bodyPr/>
          <a:lstStyle/>
          <a:p>
            <a:pPr>
              <a:lnSpc>
                <a:spcPct val="100000"/>
              </a:lnSpc>
            </a:pPr>
            <a:endParaRPr lang="pt-BR" sz="2800" dirty="0" smtClean="0"/>
          </a:p>
          <a:p>
            <a:pPr>
              <a:lnSpc>
                <a:spcPct val="100000"/>
              </a:lnSpc>
              <a:buFont typeface="Wingdings" pitchFamily="2" charset="2"/>
              <a:buChar char="q"/>
            </a:pPr>
            <a:r>
              <a:rPr lang="pt-BR" sz="2800" dirty="0" smtClean="0"/>
              <a:t> DLCI: Data Link Connection Identifier</a:t>
            </a:r>
          </a:p>
          <a:p>
            <a:pPr lvl="1">
              <a:lnSpc>
                <a:spcPct val="100000"/>
              </a:lnSpc>
            </a:pPr>
            <a:r>
              <a:rPr lang="pt-BR" dirty="0" smtClean="0"/>
              <a:t>Número de 10 bits, quando o campo de endereços tem apenas dois bytes;</a:t>
            </a:r>
          </a:p>
          <a:p>
            <a:pPr lvl="1">
              <a:lnSpc>
                <a:spcPct val="100000"/>
              </a:lnSpc>
            </a:pPr>
            <a:r>
              <a:rPr lang="pt-BR" dirty="0" smtClean="0"/>
              <a:t>Pode chegar a 23 bits;</a:t>
            </a:r>
          </a:p>
          <a:p>
            <a:pPr lvl="1">
              <a:lnSpc>
                <a:spcPct val="100000"/>
              </a:lnSpc>
            </a:pPr>
            <a:r>
              <a:rPr lang="pt-BR" dirty="0" smtClean="0"/>
              <a:t>DLCI indica a porta de saída (enlace) em que a rede de destino está conectada.</a:t>
            </a:r>
          </a:p>
          <a:p>
            <a:endParaRPr lang="pt-PT"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994122"/>
          </a:xfrm>
        </p:spPr>
        <p:txBody>
          <a:bodyPr>
            <a:normAutofit/>
          </a:bodyPr>
          <a:lstStyle/>
          <a:p>
            <a:r>
              <a:rPr lang="pt-PT" sz="3200" b="1" dirty="0" smtClean="0">
                <a:solidFill>
                  <a:srgbClr val="FF0000"/>
                </a:solidFill>
                <a:latin typeface="Arial" pitchFamily="34" charset="0"/>
                <a:cs typeface="Arial" pitchFamily="34" charset="0"/>
              </a:rPr>
              <a:t>Operação do DLCI (Exemplo)</a:t>
            </a:r>
            <a:endParaRPr lang="pt-PT" sz="3200" dirty="0"/>
          </a:p>
        </p:txBody>
      </p:sp>
      <p:pic>
        <p:nvPicPr>
          <p:cNvPr id="3074" name="Picture 2"/>
          <p:cNvPicPr>
            <a:picLocks noGrp="1" noChangeAspect="1" noChangeArrowheads="1"/>
          </p:cNvPicPr>
          <p:nvPr>
            <p:ph sz="quarter" idx="1"/>
          </p:nvPr>
        </p:nvPicPr>
        <p:blipFill>
          <a:blip r:embed="rId2" cstate="print"/>
          <a:srcRect/>
          <a:stretch>
            <a:fillRect/>
          </a:stretch>
        </p:blipFill>
        <p:spPr bwMode="auto">
          <a:xfrm>
            <a:off x="827584" y="1340768"/>
            <a:ext cx="7560839" cy="4968552"/>
          </a:xfrm>
          <a:prstGeom prst="rect">
            <a:avLst/>
          </a:prstGeom>
          <a:noFill/>
          <a:ln w="9525">
            <a:noFill/>
            <a:miter lim="800000"/>
            <a:headEnd/>
            <a:tailEnd/>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sz="3200" b="1" dirty="0" smtClean="0">
                <a:solidFill>
                  <a:srgbClr val="FF0000"/>
                </a:solidFill>
                <a:latin typeface="Arial" pitchFamily="34" charset="0"/>
                <a:cs typeface="Arial" pitchFamily="34" charset="0"/>
              </a:rPr>
              <a:t>Operação do DLCI (Exemplo)</a:t>
            </a:r>
            <a:endParaRPr lang="pt-PT" sz="3200" dirty="0"/>
          </a:p>
        </p:txBody>
      </p:sp>
      <p:sp>
        <p:nvSpPr>
          <p:cNvPr id="3" name="Marcador de Posição de Conteúdo 2"/>
          <p:cNvSpPr>
            <a:spLocks noGrp="1"/>
          </p:cNvSpPr>
          <p:nvPr>
            <p:ph sz="quarter" idx="1"/>
          </p:nvPr>
        </p:nvSpPr>
        <p:spPr/>
        <p:txBody>
          <a:bodyPr/>
          <a:lstStyle/>
          <a:p>
            <a:pPr>
              <a:buFont typeface="Wingdings" pitchFamily="2" charset="2"/>
              <a:buChar char="q"/>
            </a:pPr>
            <a:r>
              <a:rPr lang="pt-BR" sz="2800" dirty="0" smtClean="0"/>
              <a:t>Roteador 1 envia tráfego para três LANs conectadas aos roteadores 2, 3 e 4.</a:t>
            </a:r>
          </a:p>
          <a:p>
            <a:pPr>
              <a:buFont typeface="Wingdings" pitchFamily="2" charset="2"/>
              <a:buChar char="q"/>
            </a:pPr>
            <a:r>
              <a:rPr lang="pt-BR" sz="2800" dirty="0" smtClean="0"/>
              <a:t>O tráfego consiste de três quadros com os seguintes destinos:</a:t>
            </a:r>
          </a:p>
          <a:p>
            <a:pPr lvl="1"/>
            <a:r>
              <a:rPr lang="pt-BR" dirty="0" smtClean="0"/>
              <a:t>DLCI 100: roteador 2</a:t>
            </a:r>
          </a:p>
          <a:p>
            <a:pPr lvl="1"/>
            <a:r>
              <a:rPr lang="pt-BR" dirty="0" smtClean="0"/>
              <a:t>DLCI 101: roteador 4</a:t>
            </a:r>
          </a:p>
          <a:p>
            <a:pPr lvl="1"/>
            <a:r>
              <a:rPr lang="pt-BR" dirty="0" smtClean="0"/>
              <a:t>DLCI 102: roteador 3</a:t>
            </a:r>
          </a:p>
          <a:p>
            <a:endParaRPr lang="pt-PT"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sz="3200" b="1" dirty="0" smtClean="0">
                <a:solidFill>
                  <a:srgbClr val="FF0000"/>
                </a:solidFill>
                <a:latin typeface="Arial" pitchFamily="34" charset="0"/>
                <a:cs typeface="Arial" pitchFamily="34" charset="0"/>
              </a:rPr>
              <a:t>Operação do DLCI (Exemplo)</a:t>
            </a:r>
            <a:endParaRPr lang="pt-PT" sz="3200" dirty="0"/>
          </a:p>
        </p:txBody>
      </p:sp>
      <p:pic>
        <p:nvPicPr>
          <p:cNvPr id="4099" name="Picture 3"/>
          <p:cNvPicPr>
            <a:picLocks noGrp="1" noChangeAspect="1" noChangeArrowheads="1"/>
          </p:cNvPicPr>
          <p:nvPr>
            <p:ph sz="quarter" idx="1"/>
          </p:nvPr>
        </p:nvPicPr>
        <p:blipFill>
          <a:blip r:embed="rId2" cstate="print"/>
          <a:srcRect/>
          <a:stretch>
            <a:fillRect/>
          </a:stretch>
        </p:blipFill>
        <p:spPr bwMode="auto">
          <a:xfrm>
            <a:off x="899592" y="1556792"/>
            <a:ext cx="7632847" cy="5040560"/>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Princípios de </a:t>
            </a:r>
            <a:r>
              <a:rPr lang="pt-PT" b="1" dirty="0" err="1" smtClean="0">
                <a:solidFill>
                  <a:srgbClr val="FF0000"/>
                </a:solidFill>
                <a:latin typeface="Arial" pitchFamily="34" charset="0"/>
                <a:cs typeface="Arial" pitchFamily="34" charset="0"/>
              </a:rPr>
              <a:t>Frame</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Relay</a:t>
            </a:r>
            <a:endParaRPr lang="pt-PT" dirty="0"/>
          </a:p>
        </p:txBody>
      </p:sp>
      <p:sp>
        <p:nvSpPr>
          <p:cNvPr id="3" name="Marcador de Posição de Conteúdo 2"/>
          <p:cNvSpPr>
            <a:spLocks noGrp="1"/>
          </p:cNvSpPr>
          <p:nvPr>
            <p:ph sz="quarter" idx="1"/>
          </p:nvPr>
        </p:nvSpPr>
        <p:spPr/>
        <p:txBody>
          <a:bodyPr/>
          <a:lstStyle/>
          <a:p>
            <a:pPr>
              <a:lnSpc>
                <a:spcPct val="90000"/>
              </a:lnSpc>
              <a:buFont typeface="Wingdings" pitchFamily="2" charset="2"/>
              <a:buChar char="q"/>
            </a:pPr>
            <a:r>
              <a:rPr lang="pt-BR" sz="2800" dirty="0" smtClean="0"/>
              <a:t> PRINCÍPIOS</a:t>
            </a:r>
          </a:p>
          <a:p>
            <a:pPr lvl="1">
              <a:lnSpc>
                <a:spcPct val="90000"/>
              </a:lnSpc>
            </a:pPr>
            <a:r>
              <a:rPr lang="pt-BR" dirty="0" smtClean="0"/>
              <a:t>Não aloca banda dos circuitos até que os dados sejam realmente enviados pelo meio físico.</a:t>
            </a:r>
          </a:p>
          <a:p>
            <a:pPr lvl="1">
              <a:lnSpc>
                <a:spcPct val="90000"/>
              </a:lnSpc>
            </a:pPr>
            <a:r>
              <a:rPr lang="pt-BR" dirty="0" smtClean="0"/>
              <a:t>Se houver algum erro num quadro recebido, então o quadro é descartado.</a:t>
            </a:r>
          </a:p>
          <a:p>
            <a:pPr lvl="1">
              <a:lnSpc>
                <a:spcPct val="90000"/>
              </a:lnSpc>
            </a:pPr>
            <a:r>
              <a:rPr lang="pt-BR" dirty="0" smtClean="0"/>
              <a:t>Não tenta retransmitir informações.</a:t>
            </a:r>
          </a:p>
          <a:p>
            <a:pPr lvl="1">
              <a:lnSpc>
                <a:spcPct val="90000"/>
              </a:lnSpc>
            </a:pPr>
            <a:r>
              <a:rPr lang="pt-BR" dirty="0" smtClean="0"/>
              <a:t>Não tenta corrigir erros.</a:t>
            </a:r>
          </a:p>
          <a:p>
            <a:pPr>
              <a:lnSpc>
                <a:spcPct val="90000"/>
              </a:lnSpc>
              <a:buFont typeface="Wingdings" pitchFamily="2" charset="2"/>
              <a:buChar char="q"/>
            </a:pPr>
            <a:r>
              <a:rPr lang="pt-BR" sz="2800" dirty="0" smtClean="0"/>
              <a:t> BAIXO DELAY DE PROPAGAÇÃO</a:t>
            </a:r>
          </a:p>
          <a:p>
            <a:pPr lvl="1">
              <a:lnSpc>
                <a:spcPct val="90000"/>
              </a:lnSpc>
            </a:pPr>
            <a:r>
              <a:rPr lang="pt-BR" dirty="0" smtClean="0"/>
              <a:t>Utiliza a banda disponível de maneira eficiente</a:t>
            </a:r>
          </a:p>
          <a:p>
            <a:pPr lvl="1">
              <a:lnSpc>
                <a:spcPct val="90000"/>
              </a:lnSpc>
            </a:pPr>
            <a:r>
              <a:rPr lang="pt-BR" dirty="0" smtClean="0"/>
              <a:t>Não perde tempo na entrega dos quadros.</a:t>
            </a:r>
          </a:p>
          <a:p>
            <a:endParaRPr lang="pt-PT"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Velocidade do </a:t>
            </a:r>
            <a:r>
              <a:rPr lang="pt-PT" b="1" dirty="0" err="1" smtClean="0">
                <a:solidFill>
                  <a:srgbClr val="FF0000"/>
                </a:solidFill>
                <a:latin typeface="Arial" pitchFamily="34" charset="0"/>
                <a:cs typeface="Arial" pitchFamily="34" charset="0"/>
              </a:rPr>
              <a:t>Frame</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Relay</a:t>
            </a:r>
            <a:endParaRPr lang="pt-PT" dirty="0"/>
          </a:p>
        </p:txBody>
      </p:sp>
      <p:sp>
        <p:nvSpPr>
          <p:cNvPr id="3" name="Marcador de Posição de Conteúdo 2"/>
          <p:cNvSpPr>
            <a:spLocks noGrp="1"/>
          </p:cNvSpPr>
          <p:nvPr>
            <p:ph sz="quarter" idx="1"/>
          </p:nvPr>
        </p:nvSpPr>
        <p:spPr>
          <a:xfrm>
            <a:off x="179512" y="1447800"/>
            <a:ext cx="8712968" cy="4572000"/>
          </a:xfrm>
        </p:spPr>
        <p:txBody>
          <a:bodyPr/>
          <a:lstStyle/>
          <a:p>
            <a:pPr>
              <a:buFont typeface="Wingdings" pitchFamily="2" charset="2"/>
              <a:buChar char="q"/>
            </a:pPr>
            <a:r>
              <a:rPr lang="pt-BR" sz="3600" dirty="0" smtClean="0"/>
              <a:t>O serviço frame-relay é oferecido normalmente como:</a:t>
            </a:r>
          </a:p>
          <a:p>
            <a:pPr lvl="1"/>
            <a:r>
              <a:rPr lang="pt-BR" sz="3200" dirty="0" smtClean="0"/>
              <a:t>Frações de canais T1/E1</a:t>
            </a:r>
          </a:p>
          <a:p>
            <a:pPr lvl="1"/>
            <a:r>
              <a:rPr lang="pt-BR" sz="3200" dirty="0" smtClean="0"/>
              <a:t>Taxas completas de T1/E1  </a:t>
            </a:r>
          </a:p>
          <a:p>
            <a:pPr>
              <a:buFont typeface="Wingdings" pitchFamily="2" charset="2"/>
              <a:buChar char="q"/>
            </a:pPr>
            <a:r>
              <a:rPr lang="pt-BR" sz="3600" dirty="0" smtClean="0"/>
              <a:t>Alguns vendedores oferecem frame relay até taxas T3:</a:t>
            </a:r>
          </a:p>
          <a:p>
            <a:pPr lvl="1"/>
            <a:r>
              <a:rPr lang="pt-BR" sz="3200" dirty="0" smtClean="0"/>
              <a:t>45 Mbp. </a:t>
            </a:r>
          </a:p>
          <a:p>
            <a:pPr>
              <a:buNone/>
            </a:pPr>
            <a:endParaRPr lang="pt-PT"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Pilha ATM/</a:t>
            </a:r>
            <a:r>
              <a:rPr lang="pt-PT" b="1" dirty="0" err="1" smtClean="0">
                <a:solidFill>
                  <a:srgbClr val="FF0000"/>
                </a:solidFill>
                <a:latin typeface="Arial" pitchFamily="34" charset="0"/>
                <a:cs typeface="Arial" pitchFamily="34" charset="0"/>
              </a:rPr>
              <a:t>Frame</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Relay</a:t>
            </a:r>
            <a:endParaRPr lang="pt-PT" dirty="0"/>
          </a:p>
        </p:txBody>
      </p:sp>
      <p:sp>
        <p:nvSpPr>
          <p:cNvPr id="3" name="Marcador de Posição de Conteúdo 2"/>
          <p:cNvSpPr>
            <a:spLocks noGrp="1"/>
          </p:cNvSpPr>
          <p:nvPr>
            <p:ph sz="quarter" idx="1"/>
          </p:nvPr>
        </p:nvSpPr>
        <p:spPr>
          <a:xfrm>
            <a:off x="914400" y="1447800"/>
            <a:ext cx="7772400" cy="1117104"/>
          </a:xfrm>
        </p:spPr>
        <p:txBody>
          <a:bodyPr/>
          <a:lstStyle/>
          <a:p>
            <a:r>
              <a:rPr lang="pt-BR" dirty="0" smtClean="0"/>
              <a:t>Princípio:</a:t>
            </a:r>
          </a:p>
          <a:p>
            <a:pPr lvl="1"/>
            <a:r>
              <a:rPr lang="pt-BR" dirty="0" smtClean="0"/>
              <a:t>Concentrar as funções nas camadas físicas e de enlace</a:t>
            </a:r>
          </a:p>
          <a:p>
            <a:pPr>
              <a:buNone/>
            </a:pPr>
            <a:endParaRPr lang="pt-PT" dirty="0"/>
          </a:p>
        </p:txBody>
      </p:sp>
      <p:pic>
        <p:nvPicPr>
          <p:cNvPr id="5123" name="Picture 3"/>
          <p:cNvPicPr>
            <a:picLocks noChangeAspect="1" noChangeArrowheads="1"/>
          </p:cNvPicPr>
          <p:nvPr/>
        </p:nvPicPr>
        <p:blipFill>
          <a:blip r:embed="rId2" cstate="print"/>
          <a:srcRect/>
          <a:stretch>
            <a:fillRect/>
          </a:stretch>
        </p:blipFill>
        <p:spPr bwMode="auto">
          <a:xfrm>
            <a:off x="827584" y="2305050"/>
            <a:ext cx="7272808" cy="4004270"/>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sz="3200" b="1" dirty="0" smtClean="0">
                <a:solidFill>
                  <a:srgbClr val="FF0000"/>
                </a:solidFill>
                <a:latin typeface="Arial" pitchFamily="34" charset="0"/>
                <a:cs typeface="Arial" pitchFamily="34" charset="0"/>
              </a:rPr>
              <a:t>Estratégia de Roteamento </a:t>
            </a:r>
            <a:r>
              <a:rPr lang="pt-PT" sz="3200" b="1" dirty="0" err="1" smtClean="0">
                <a:solidFill>
                  <a:srgbClr val="FF0000"/>
                </a:solidFill>
                <a:latin typeface="Arial" pitchFamily="34" charset="0"/>
                <a:cs typeface="Arial" pitchFamily="34" charset="0"/>
              </a:rPr>
              <a:t>Frame</a:t>
            </a:r>
            <a:r>
              <a:rPr lang="pt-PT" sz="3200" b="1" dirty="0" smtClean="0">
                <a:solidFill>
                  <a:srgbClr val="FF0000"/>
                </a:solidFill>
                <a:latin typeface="Arial" pitchFamily="34" charset="0"/>
                <a:cs typeface="Arial" pitchFamily="34" charset="0"/>
              </a:rPr>
              <a:t> </a:t>
            </a:r>
            <a:r>
              <a:rPr lang="pt-PT" sz="3200" b="1" dirty="0" err="1" smtClean="0">
                <a:solidFill>
                  <a:srgbClr val="FF0000"/>
                </a:solidFill>
                <a:latin typeface="Arial" pitchFamily="34" charset="0"/>
                <a:cs typeface="Arial" pitchFamily="34" charset="0"/>
              </a:rPr>
              <a:t>Relay</a:t>
            </a:r>
            <a:endParaRPr lang="pt-PT" sz="3200" dirty="0"/>
          </a:p>
        </p:txBody>
      </p:sp>
      <p:sp>
        <p:nvSpPr>
          <p:cNvPr id="3" name="Marcador de Posição de Conteúdo 2"/>
          <p:cNvSpPr>
            <a:spLocks noGrp="1"/>
          </p:cNvSpPr>
          <p:nvPr>
            <p:ph sz="quarter" idx="1"/>
          </p:nvPr>
        </p:nvSpPr>
        <p:spPr/>
        <p:txBody>
          <a:bodyPr/>
          <a:lstStyle/>
          <a:p>
            <a:pPr marL="533400" indent="-533400" defTabSz="914400">
              <a:buFont typeface="Wingdings" pitchFamily="2" charset="2"/>
              <a:buChar char="q"/>
            </a:pPr>
            <a:r>
              <a:rPr lang="pt-BR" dirty="0" smtClean="0"/>
              <a:t>Princípio:</a:t>
            </a:r>
          </a:p>
          <a:p>
            <a:pPr marL="914400" lvl="1" indent="-457200" defTabSz="914400"/>
            <a:r>
              <a:rPr lang="pt-BR" dirty="0" smtClean="0"/>
              <a:t>Se houver um problema, descarte os dados.</a:t>
            </a:r>
          </a:p>
          <a:p>
            <a:pPr marL="533400" indent="-533400" defTabSz="914400">
              <a:buFont typeface="Wingdings" pitchFamily="2" charset="2"/>
              <a:buChar char="q"/>
            </a:pPr>
            <a:r>
              <a:rPr lang="pt-BR" dirty="0" smtClean="0"/>
              <a:t>Cada nó da rede frame-relay (switch):</a:t>
            </a:r>
          </a:p>
          <a:p>
            <a:pPr marL="914400" lvl="1" indent="-457200" defTabSz="914400">
              <a:buFontTx/>
              <a:buAutoNum type="arabicPeriod"/>
            </a:pPr>
            <a:r>
              <a:rPr lang="pt-BR" dirty="0" smtClean="0"/>
              <a:t>Verifica o integridade do quadro através do campo FCS (Frame Check Sequence). Se houver um erro, descarta o quadro.</a:t>
            </a:r>
          </a:p>
          <a:p>
            <a:pPr marL="914400" lvl="1" indent="-457200" defTabSz="914400">
              <a:buFontTx/>
              <a:buAutoNum type="arabicPeriod"/>
            </a:pPr>
            <a:r>
              <a:rPr lang="pt-BR" dirty="0" smtClean="0"/>
              <a:t>Procura o DLCI do quadro na sua tabela de roteamento interna. Se não encontrar, descarta o quadro. </a:t>
            </a:r>
          </a:p>
          <a:p>
            <a:pPr marL="914400" lvl="1" indent="-457200" defTabSz="914400">
              <a:buFontTx/>
              <a:buAutoNum type="arabicPeriod"/>
            </a:pPr>
            <a:r>
              <a:rPr lang="pt-BR" dirty="0" smtClean="0"/>
              <a:t>Envia o quadro para o porta do próximo nó frame relay, conforme definido na tabela de roteamento interna.</a:t>
            </a:r>
          </a:p>
          <a:p>
            <a:endParaRPr lang="pt-PT"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b="1" dirty="0" smtClean="0">
                <a:solidFill>
                  <a:srgbClr val="FF0000"/>
                </a:solidFill>
                <a:latin typeface="Arial" pitchFamily="34" charset="0"/>
                <a:cs typeface="Arial" pitchFamily="34" charset="0"/>
              </a:rPr>
              <a:t>Protocolo </a:t>
            </a:r>
            <a:r>
              <a:rPr lang="pt-PT" b="1" dirty="0" err="1" smtClean="0">
                <a:solidFill>
                  <a:srgbClr val="FF0000"/>
                </a:solidFill>
                <a:latin typeface="Arial" pitchFamily="34" charset="0"/>
                <a:cs typeface="Arial" pitchFamily="34" charset="0"/>
              </a:rPr>
              <a:t>Frame</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Relay</a:t>
            </a:r>
            <a:endParaRPr lang="pt-PT" dirty="0"/>
          </a:p>
        </p:txBody>
      </p:sp>
      <p:pic>
        <p:nvPicPr>
          <p:cNvPr id="6146" name="Picture 2"/>
          <p:cNvPicPr>
            <a:picLocks noGrp="1" noChangeAspect="1" noChangeArrowheads="1"/>
          </p:cNvPicPr>
          <p:nvPr>
            <p:ph sz="quarter" idx="1"/>
          </p:nvPr>
        </p:nvPicPr>
        <p:blipFill>
          <a:blip r:embed="rId2" cstate="print"/>
          <a:srcRect/>
          <a:stretch>
            <a:fillRect/>
          </a:stretch>
        </p:blipFill>
        <p:spPr bwMode="auto">
          <a:xfrm>
            <a:off x="1115616" y="1412776"/>
            <a:ext cx="7416824" cy="4752528"/>
          </a:xfrm>
          <a:prstGeom prst="rect">
            <a:avLst/>
          </a:prstGeom>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Circuitos </a:t>
            </a:r>
            <a:r>
              <a:rPr lang="pt-PT" b="1" dirty="0" err="1" smtClean="0">
                <a:solidFill>
                  <a:srgbClr val="FF0000"/>
                </a:solidFill>
                <a:latin typeface="Arial" pitchFamily="34" charset="0"/>
                <a:cs typeface="Arial" pitchFamily="34" charset="0"/>
              </a:rPr>
              <a:t>Frame</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Relay</a:t>
            </a:r>
            <a:endParaRPr lang="pt-PT" dirty="0"/>
          </a:p>
        </p:txBody>
      </p:sp>
      <p:sp>
        <p:nvSpPr>
          <p:cNvPr id="3" name="Marcador de Posição de Conteúdo 2"/>
          <p:cNvSpPr>
            <a:spLocks noGrp="1"/>
          </p:cNvSpPr>
          <p:nvPr>
            <p:ph sz="quarter" idx="1"/>
          </p:nvPr>
        </p:nvSpPr>
        <p:spPr/>
        <p:txBody>
          <a:bodyPr/>
          <a:lstStyle/>
          <a:p>
            <a:pPr>
              <a:buFont typeface="Wingdings" pitchFamily="2" charset="2"/>
              <a:buChar char="q"/>
            </a:pPr>
            <a:r>
              <a:rPr lang="pt-BR" dirty="0" smtClean="0"/>
              <a:t> Frame Relay trabalho com Circuitos Virtuais (VC).</a:t>
            </a:r>
          </a:p>
          <a:p>
            <a:pPr lvl="1"/>
            <a:r>
              <a:rPr lang="pt-BR" dirty="0" smtClean="0"/>
              <a:t>Um VC é um caminho bidirecional entre dois pontos, construído por software, que simula uma linha física.</a:t>
            </a:r>
          </a:p>
          <a:p>
            <a:pPr>
              <a:buFont typeface="Wingdings" pitchFamily="2" charset="2"/>
              <a:buChar char="q"/>
            </a:pPr>
            <a:r>
              <a:rPr lang="pt-BR" dirty="0" smtClean="0"/>
              <a:t> Os circuitos virtuais podem ser de dois tipos:</a:t>
            </a:r>
          </a:p>
          <a:p>
            <a:pPr lvl="1"/>
            <a:r>
              <a:rPr lang="pt-BR" dirty="0" smtClean="0"/>
              <a:t>PVC: Permanent Virtual Circuits</a:t>
            </a:r>
          </a:p>
          <a:p>
            <a:pPr lvl="2"/>
            <a:r>
              <a:rPr lang="pt-BR" sz="2400" dirty="0" smtClean="0"/>
              <a:t>Caminhos fixos configurados pelo operador do sistema.</a:t>
            </a:r>
          </a:p>
          <a:p>
            <a:pPr lvl="1"/>
            <a:r>
              <a:rPr lang="pt-BR" dirty="0" smtClean="0"/>
              <a:t>SVC: Switched Virtual Circuits</a:t>
            </a:r>
          </a:p>
          <a:p>
            <a:pPr lvl="2"/>
            <a:r>
              <a:rPr lang="pt-BR" sz="2400" dirty="0" smtClean="0"/>
              <a:t>Caminhos criados automaticamente por um protocolo de sinalização (Q.933). </a:t>
            </a:r>
          </a:p>
          <a:p>
            <a:pPr>
              <a:buNone/>
            </a:pPr>
            <a:endParaRPr lang="pt-PT"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PT" b="1" dirty="0" smtClean="0">
                <a:solidFill>
                  <a:srgbClr val="FF0000"/>
                </a:solidFill>
                <a:latin typeface="Arial" pitchFamily="34" charset="0"/>
                <a:cs typeface="Arial" pitchFamily="34" charset="0"/>
              </a:rPr>
              <a:t>PVC: </a:t>
            </a:r>
            <a:r>
              <a:rPr lang="pt-PT" b="1" dirty="0" err="1" smtClean="0">
                <a:solidFill>
                  <a:srgbClr val="FF0000"/>
                </a:solidFill>
                <a:latin typeface="Arial" pitchFamily="34" charset="0"/>
                <a:cs typeface="Arial" pitchFamily="34" charset="0"/>
              </a:rPr>
              <a:t>Permanent</a:t>
            </a:r>
            <a:r>
              <a:rPr lang="pt-PT" b="1" dirty="0" smtClean="0">
                <a:solidFill>
                  <a:srgbClr val="FF0000"/>
                </a:solidFill>
                <a:latin typeface="Arial" pitchFamily="34" charset="0"/>
                <a:cs typeface="Arial" pitchFamily="34" charset="0"/>
              </a:rPr>
              <a:t> Virtual </a:t>
            </a:r>
            <a:r>
              <a:rPr lang="pt-PT" b="1" dirty="0" err="1" smtClean="0">
                <a:solidFill>
                  <a:srgbClr val="FF0000"/>
                </a:solidFill>
                <a:latin typeface="Arial" pitchFamily="34" charset="0"/>
                <a:cs typeface="Arial" pitchFamily="34" charset="0"/>
              </a:rPr>
              <a:t>Circuits</a:t>
            </a:r>
            <a:endParaRPr lang="pt-PT" dirty="0"/>
          </a:p>
        </p:txBody>
      </p:sp>
      <p:sp>
        <p:nvSpPr>
          <p:cNvPr id="3" name="Marcador de Posição de Conteúdo 2"/>
          <p:cNvSpPr>
            <a:spLocks noGrp="1"/>
          </p:cNvSpPr>
          <p:nvPr>
            <p:ph sz="quarter" idx="1"/>
          </p:nvPr>
        </p:nvSpPr>
        <p:spPr/>
        <p:txBody>
          <a:bodyPr>
            <a:noAutofit/>
          </a:bodyPr>
          <a:lstStyle/>
          <a:p>
            <a:pPr>
              <a:lnSpc>
                <a:spcPct val="90000"/>
              </a:lnSpc>
              <a:buFont typeface="Wingdings" pitchFamily="2" charset="2"/>
              <a:buChar char="q"/>
            </a:pPr>
            <a:r>
              <a:rPr lang="pt-BR" sz="3200" dirty="0" smtClean="0"/>
              <a:t>Caminhos fixos configurados pelo operador do sistema.</a:t>
            </a:r>
          </a:p>
          <a:p>
            <a:pPr>
              <a:lnSpc>
                <a:spcPct val="90000"/>
              </a:lnSpc>
              <a:buFont typeface="Wingdings" pitchFamily="2" charset="2"/>
              <a:buChar char="q"/>
            </a:pPr>
            <a:r>
              <a:rPr lang="pt-BR" sz="3200" dirty="0" smtClean="0"/>
              <a:t>Os caminhos são definidos pelos pontos de origem e destino.</a:t>
            </a:r>
          </a:p>
          <a:p>
            <a:pPr>
              <a:lnSpc>
                <a:spcPct val="90000"/>
              </a:lnSpc>
              <a:buFont typeface="Wingdings" pitchFamily="2" charset="2"/>
              <a:buChar char="q"/>
            </a:pPr>
            <a:r>
              <a:rPr lang="pt-BR" sz="3200" dirty="0" smtClean="0"/>
              <a:t>O trajeto exato pode variar de tempos em tempos se for adotada uma estratégia de re-roteamento automático.</a:t>
            </a:r>
          </a:p>
          <a:p>
            <a:pPr>
              <a:lnSpc>
                <a:spcPct val="90000"/>
              </a:lnSpc>
              <a:buFont typeface="Wingdings" pitchFamily="2" charset="2"/>
              <a:buChar char="q"/>
            </a:pPr>
            <a:r>
              <a:rPr lang="pt-BR" sz="3200" dirty="0" smtClean="0"/>
              <a:t>A definição dos caminhos é feita através de uma análise global do tráfego e da banda disponível na rede.</a:t>
            </a:r>
          </a:p>
          <a:p>
            <a:pPr>
              <a:buNone/>
            </a:pPr>
            <a:endParaRPr lang="pt-PT" sz="3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b="1" dirty="0" smtClean="0">
                <a:solidFill>
                  <a:srgbClr val="FF0000"/>
                </a:solidFill>
                <a:latin typeface="Arial" pitchFamily="34" charset="0"/>
                <a:cs typeface="Arial" pitchFamily="34" charset="0"/>
              </a:rPr>
              <a:t>SVC: </a:t>
            </a:r>
            <a:r>
              <a:rPr lang="pt-PT" b="1" dirty="0" err="1" smtClean="0">
                <a:solidFill>
                  <a:srgbClr val="FF0000"/>
                </a:solidFill>
                <a:latin typeface="Arial" pitchFamily="34" charset="0"/>
                <a:cs typeface="Arial" pitchFamily="34" charset="0"/>
              </a:rPr>
              <a:t>Switched</a:t>
            </a:r>
            <a:r>
              <a:rPr lang="pt-PT" b="1" dirty="0" smtClean="0">
                <a:solidFill>
                  <a:srgbClr val="FF0000"/>
                </a:solidFill>
                <a:latin typeface="Arial" pitchFamily="34" charset="0"/>
                <a:cs typeface="Arial" pitchFamily="34" charset="0"/>
              </a:rPr>
              <a:t> Virtual </a:t>
            </a:r>
            <a:r>
              <a:rPr lang="pt-PT" b="1" dirty="0" err="1" smtClean="0">
                <a:solidFill>
                  <a:srgbClr val="FF0000"/>
                </a:solidFill>
                <a:latin typeface="Arial" pitchFamily="34" charset="0"/>
                <a:cs typeface="Arial" pitchFamily="34" charset="0"/>
              </a:rPr>
              <a:t>Circuits</a:t>
            </a:r>
            <a:endParaRPr lang="pt-PT" dirty="0"/>
          </a:p>
        </p:txBody>
      </p:sp>
      <p:sp>
        <p:nvSpPr>
          <p:cNvPr id="3" name="Marcador de Posição de Conteúdo 2"/>
          <p:cNvSpPr>
            <a:spLocks noGrp="1"/>
          </p:cNvSpPr>
          <p:nvPr>
            <p:ph sz="quarter" idx="1"/>
          </p:nvPr>
        </p:nvSpPr>
        <p:spPr/>
        <p:txBody>
          <a:bodyPr/>
          <a:lstStyle/>
          <a:p>
            <a:pPr>
              <a:buFont typeface="Wingdings" pitchFamily="2" charset="2"/>
              <a:buChar char="q"/>
            </a:pPr>
            <a:r>
              <a:rPr lang="pt-BR" dirty="0" smtClean="0"/>
              <a:t>Caminhos criados automaticamente por um protocolo de sinalização (Q.933). </a:t>
            </a:r>
          </a:p>
          <a:p>
            <a:pPr>
              <a:buFont typeface="Wingdings" pitchFamily="2" charset="2"/>
              <a:buChar char="q"/>
            </a:pPr>
            <a:r>
              <a:rPr lang="pt-BR" dirty="0" smtClean="0"/>
              <a:t>Os SVC são criados dinamicamente, baseados na requisição feitas por vários usuários.</a:t>
            </a:r>
          </a:p>
          <a:p>
            <a:pPr>
              <a:buFont typeface="Wingdings" pitchFamily="2" charset="2"/>
              <a:buChar char="q"/>
            </a:pPr>
            <a:r>
              <a:rPr lang="pt-BR" dirty="0" smtClean="0"/>
              <a:t>A rede se encarrega de avaliar o uso de banda gerado por cada usuário e cobrar de acordo.</a:t>
            </a:r>
          </a:p>
          <a:p>
            <a:pPr>
              <a:buFont typeface="Wingdings" pitchFamily="2" charset="2"/>
              <a:buChar char="q"/>
            </a:pPr>
            <a:r>
              <a:rPr lang="pt-BR" dirty="0" smtClean="0"/>
              <a:t>A implementação de SVC é mais complexa que PVC, e não foi suportada na primeira geração de equipamentos frame-relay.</a:t>
            </a:r>
          </a:p>
          <a:p>
            <a:pPr>
              <a:buNone/>
            </a:pPr>
            <a:endParaRPr lang="pt-PT"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e Conteúdo 2"/>
          <p:cNvSpPr>
            <a:spLocks noGrp="1"/>
          </p:cNvSpPr>
          <p:nvPr>
            <p:ph sz="quarter" idx="1"/>
          </p:nvPr>
        </p:nvSpPr>
        <p:spPr/>
        <p:txBody>
          <a:bodyPr>
            <a:normAutofit fontScale="92500" lnSpcReduction="10000"/>
          </a:bodyPr>
          <a:lstStyle/>
          <a:p>
            <a:pPr>
              <a:buFont typeface="Wingdings" pitchFamily="2" charset="2"/>
              <a:buChar char="q"/>
            </a:pPr>
            <a:r>
              <a:rPr lang="pt-PT" dirty="0" smtClean="0"/>
              <a:t> A interface de gerenciamento local (LMI) é um padrão de sinalização usado entre a CPE e um SW </a:t>
            </a:r>
            <a:r>
              <a:rPr lang="pt-PT" dirty="0" err="1" smtClean="0"/>
              <a:t>Frame-Relay</a:t>
            </a:r>
            <a:r>
              <a:rPr lang="pt-PT" dirty="0" smtClean="0"/>
              <a:t> ;</a:t>
            </a:r>
          </a:p>
          <a:p>
            <a:pPr>
              <a:buFont typeface="Wingdings" pitchFamily="2" charset="2"/>
              <a:buChar char="q"/>
            </a:pPr>
            <a:r>
              <a:rPr lang="pt-PT" dirty="0" smtClean="0"/>
              <a:t> É responsável pelo gerenciamento e manutenção dos status entre dispositivos DTE e DCE </a:t>
            </a:r>
            <a:r>
              <a:rPr lang="pt-PT" dirty="0" err="1" smtClean="0"/>
              <a:t>Frame-Relay</a:t>
            </a:r>
            <a:r>
              <a:rPr lang="pt-PT" dirty="0" smtClean="0"/>
              <a:t>. Mensagens LMI provêm informações sobre:</a:t>
            </a:r>
          </a:p>
          <a:p>
            <a:pPr>
              <a:buFont typeface="Wingdings" pitchFamily="2" charset="2"/>
              <a:buChar char="ü"/>
            </a:pPr>
            <a:r>
              <a:rPr lang="pt-PT" dirty="0" smtClean="0"/>
              <a:t> </a:t>
            </a:r>
            <a:r>
              <a:rPr lang="pt-PT" dirty="0" err="1" smtClean="0"/>
              <a:t>Keeplives</a:t>
            </a:r>
            <a:r>
              <a:rPr lang="pt-PT" dirty="0" smtClean="0"/>
              <a:t> : Verifica a conectividade e sincronismo entre as pontas DCE e DTE.</a:t>
            </a:r>
          </a:p>
          <a:p>
            <a:pPr>
              <a:buFont typeface="Wingdings" pitchFamily="2" charset="2"/>
              <a:buChar char="ü"/>
            </a:pPr>
            <a:r>
              <a:rPr lang="pt-PT" dirty="0" smtClean="0"/>
              <a:t> </a:t>
            </a:r>
            <a:r>
              <a:rPr lang="pt-PT" dirty="0" err="1" smtClean="0"/>
              <a:t>Multicasting</a:t>
            </a:r>
            <a:r>
              <a:rPr lang="pt-PT" dirty="0" smtClean="0"/>
              <a:t>: extensão que permite o uso de </a:t>
            </a:r>
            <a:r>
              <a:rPr lang="pt-PT" dirty="0" err="1" smtClean="0"/>
              <a:t>multicasting</a:t>
            </a:r>
            <a:r>
              <a:rPr lang="pt-PT" dirty="0" smtClean="0"/>
              <a:t> em redes </a:t>
            </a:r>
            <a:r>
              <a:rPr lang="pt-PT" dirty="0" err="1" smtClean="0"/>
              <a:t>Frame</a:t>
            </a:r>
            <a:r>
              <a:rPr lang="pt-PT" dirty="0" smtClean="0"/>
              <a:t> – </a:t>
            </a:r>
            <a:r>
              <a:rPr lang="pt-PT" dirty="0" err="1" smtClean="0"/>
              <a:t>Relay</a:t>
            </a:r>
            <a:r>
              <a:rPr lang="pt-PT" dirty="0" smtClean="0"/>
              <a:t> , que por padrão, são redes do tipo NBMA (Non – </a:t>
            </a:r>
            <a:r>
              <a:rPr lang="pt-PT" dirty="0" err="1" smtClean="0"/>
              <a:t>Broadcast</a:t>
            </a:r>
            <a:r>
              <a:rPr lang="pt-PT" dirty="0" smtClean="0"/>
              <a:t> </a:t>
            </a:r>
            <a:r>
              <a:rPr lang="pt-PT" dirty="0" err="1" smtClean="0"/>
              <a:t>Multiacess</a:t>
            </a:r>
            <a:r>
              <a:rPr lang="pt-PT" dirty="0" smtClean="0"/>
              <a:t>);</a:t>
            </a:r>
          </a:p>
          <a:p>
            <a:pPr>
              <a:buFont typeface="Wingdings" pitchFamily="2" charset="2"/>
              <a:buChar char="ü"/>
            </a:pPr>
            <a:r>
              <a:rPr lang="pt-PT" dirty="0" smtClean="0"/>
              <a:t>Global DLCI : Permite que </a:t>
            </a:r>
            <a:r>
              <a:rPr lang="pt-PT" dirty="0" err="1" smtClean="0"/>
              <a:t>DLCIs</a:t>
            </a:r>
            <a:r>
              <a:rPr lang="pt-PT" dirty="0" smtClean="0"/>
              <a:t> passem a ter significância global dentro da rede </a:t>
            </a:r>
            <a:r>
              <a:rPr lang="pt-PT" dirty="0" err="1" smtClean="0"/>
              <a:t>Frame-Relay</a:t>
            </a:r>
            <a:r>
              <a:rPr lang="pt-PT" dirty="0" smtClean="0"/>
              <a:t>.</a:t>
            </a:r>
            <a:endParaRPr lang="pt-PT" dirty="0"/>
          </a:p>
        </p:txBody>
      </p:sp>
      <p:sp>
        <p:nvSpPr>
          <p:cNvPr id="4" name="Título 1"/>
          <p:cNvSpPr>
            <a:spLocks noGrp="1"/>
          </p:cNvSpPr>
          <p:nvPr>
            <p:ph type="title"/>
          </p:nvPr>
        </p:nvSpPr>
        <p:spPr>
          <a:xfrm>
            <a:off x="914400" y="274638"/>
            <a:ext cx="7772400" cy="1066130"/>
          </a:xfrm>
        </p:spPr>
        <p:txBody>
          <a:bodyPr>
            <a:normAutofit/>
          </a:bodyPr>
          <a:lstStyle/>
          <a:p>
            <a:r>
              <a:rPr lang="pt-PT" b="1" dirty="0" err="1" smtClean="0">
                <a:solidFill>
                  <a:srgbClr val="FF0000"/>
                </a:solidFill>
                <a:latin typeface="Arial" pitchFamily="34" charset="0"/>
                <a:cs typeface="Arial" pitchFamily="34" charset="0"/>
              </a:rPr>
              <a:t>Frame</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Relay</a:t>
            </a:r>
            <a:r>
              <a:rPr lang="pt-PT" b="1" dirty="0" smtClean="0">
                <a:solidFill>
                  <a:srgbClr val="FF0000"/>
                </a:solidFill>
                <a:latin typeface="Arial" pitchFamily="34" charset="0"/>
                <a:cs typeface="Arial" pitchFamily="34" charset="0"/>
              </a:rPr>
              <a:t>  LMI</a:t>
            </a:r>
            <a:endParaRPr lang="pt-PT"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e Conteúdo 2"/>
          <p:cNvSpPr>
            <a:spLocks noGrp="1"/>
          </p:cNvSpPr>
          <p:nvPr>
            <p:ph sz="quarter" idx="1"/>
          </p:nvPr>
        </p:nvSpPr>
        <p:spPr>
          <a:xfrm>
            <a:off x="914400" y="1447800"/>
            <a:ext cx="7772400" cy="4645496"/>
          </a:xfrm>
        </p:spPr>
        <p:txBody>
          <a:bodyPr/>
          <a:lstStyle/>
          <a:p>
            <a:pPr marL="457200" indent="-457200" defTabSz="914400">
              <a:lnSpc>
                <a:spcPct val="90000"/>
              </a:lnSpc>
              <a:buFont typeface="Wingdings" pitchFamily="2" charset="2"/>
              <a:buChar char="q"/>
            </a:pPr>
            <a:r>
              <a:rPr lang="pt-BR" sz="2800" dirty="0" smtClean="0"/>
              <a:t>O congestionamento numa rede frame-relay pode acontecer por duas razões:</a:t>
            </a:r>
          </a:p>
          <a:p>
            <a:pPr marL="838200" lvl="1" indent="-381000" defTabSz="914400">
              <a:lnSpc>
                <a:spcPct val="90000"/>
              </a:lnSpc>
              <a:buFontTx/>
              <a:buAutoNum type="arabicPeriod"/>
            </a:pPr>
            <a:r>
              <a:rPr lang="pt-BR" dirty="0" smtClean="0"/>
              <a:t>Receiver Congestion: </a:t>
            </a:r>
          </a:p>
          <a:p>
            <a:pPr marL="1257300" lvl="2" indent="-342900" defTabSz="914400">
              <a:lnSpc>
                <a:spcPct val="90000"/>
              </a:lnSpc>
            </a:pPr>
            <a:r>
              <a:rPr lang="pt-BR" dirty="0" smtClean="0"/>
              <a:t>Um nó recebe mais quadros do que pode processar.</a:t>
            </a:r>
          </a:p>
          <a:p>
            <a:pPr marL="838200" lvl="1" indent="-381000" defTabSz="914400">
              <a:lnSpc>
                <a:spcPct val="90000"/>
              </a:lnSpc>
              <a:buFontTx/>
              <a:buAutoNum type="arabicPeriod"/>
            </a:pPr>
            <a:r>
              <a:rPr lang="pt-BR" dirty="0" smtClean="0"/>
              <a:t>Line Congestion: </a:t>
            </a:r>
          </a:p>
          <a:p>
            <a:pPr marL="1257300" lvl="2" indent="-342900" defTabSz="914400">
              <a:lnSpc>
                <a:spcPct val="90000"/>
              </a:lnSpc>
            </a:pPr>
            <a:r>
              <a:rPr lang="pt-BR" dirty="0" smtClean="0"/>
              <a:t>Um nó precisa enviar mais quadros para uma dada linha numa velocidade superior ao que a linha permite.</a:t>
            </a:r>
          </a:p>
          <a:p>
            <a:pPr marL="457200" indent="-457200" defTabSz="914400">
              <a:lnSpc>
                <a:spcPct val="90000"/>
              </a:lnSpc>
              <a:buFont typeface="Wingdings" pitchFamily="2" charset="2"/>
              <a:buChar char="q"/>
            </a:pPr>
            <a:r>
              <a:rPr lang="pt-BR" sz="2800" dirty="0" smtClean="0"/>
              <a:t>Em ambos os casos os nós descartam os quadros por “estouro de buffer”. </a:t>
            </a:r>
          </a:p>
          <a:p>
            <a:pPr>
              <a:buNone/>
            </a:pPr>
            <a:endParaRPr lang="pt-PT" dirty="0"/>
          </a:p>
        </p:txBody>
      </p:sp>
      <p:sp>
        <p:nvSpPr>
          <p:cNvPr id="4" name="Título 1"/>
          <p:cNvSpPr>
            <a:spLocks noGrp="1"/>
          </p:cNvSpPr>
          <p:nvPr>
            <p:ph type="title"/>
          </p:nvPr>
        </p:nvSpPr>
        <p:spPr/>
        <p:txBody>
          <a:bodyPr>
            <a:normAutofit/>
          </a:bodyPr>
          <a:lstStyle/>
          <a:p>
            <a:r>
              <a:rPr lang="pt-PT" b="1" dirty="0" smtClean="0">
                <a:solidFill>
                  <a:srgbClr val="FF0000"/>
                </a:solidFill>
                <a:latin typeface="Arial" pitchFamily="34" charset="0"/>
                <a:cs typeface="Arial" pitchFamily="34" charset="0"/>
              </a:rPr>
              <a:t>Congestionamento</a:t>
            </a:r>
            <a:endParaRPr lang="pt-PT"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Congestionamento</a:t>
            </a:r>
            <a:endParaRPr lang="pt-PT" dirty="0"/>
          </a:p>
        </p:txBody>
      </p:sp>
      <p:pic>
        <p:nvPicPr>
          <p:cNvPr id="1026" name="Picture 2"/>
          <p:cNvPicPr>
            <a:picLocks noGrp="1" noChangeAspect="1" noChangeArrowheads="1"/>
          </p:cNvPicPr>
          <p:nvPr>
            <p:ph sz="quarter" idx="1"/>
          </p:nvPr>
        </p:nvPicPr>
        <p:blipFill>
          <a:blip r:embed="rId2" cstate="print"/>
          <a:srcRect/>
          <a:stretch>
            <a:fillRect/>
          </a:stretch>
        </p:blipFill>
        <p:spPr bwMode="auto">
          <a:xfrm>
            <a:off x="899592" y="1556793"/>
            <a:ext cx="7344816" cy="4464495"/>
          </a:xfrm>
          <a:prstGeom prst="rect">
            <a:avLst/>
          </a:prstGeom>
          <a:noFill/>
          <a:ln w="9525">
            <a:noFill/>
            <a:miter lim="800000"/>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Controle de Congestionamento</a:t>
            </a:r>
            <a:endParaRPr lang="pt-PT" dirty="0"/>
          </a:p>
        </p:txBody>
      </p:sp>
      <p:sp>
        <p:nvSpPr>
          <p:cNvPr id="3" name="Marcador de Posição de Conteúdo 2"/>
          <p:cNvSpPr>
            <a:spLocks noGrp="1"/>
          </p:cNvSpPr>
          <p:nvPr>
            <p:ph sz="quarter" idx="1"/>
          </p:nvPr>
        </p:nvSpPr>
        <p:spPr/>
        <p:txBody>
          <a:bodyPr/>
          <a:lstStyle/>
          <a:p>
            <a:pPr marL="533400" indent="-533400" defTabSz="914400">
              <a:buFont typeface="Wingdings" pitchFamily="2" charset="2"/>
              <a:buChar char="q"/>
            </a:pPr>
            <a:r>
              <a:rPr lang="pt-BR" sz="2800" dirty="0" smtClean="0"/>
              <a:t>Implementação opcional no Frame-Relay</a:t>
            </a:r>
          </a:p>
          <a:p>
            <a:pPr marL="533400" indent="-533400" defTabSz="914400">
              <a:buFont typeface="Wingdings" pitchFamily="2" charset="2"/>
              <a:buChar char="q"/>
            </a:pPr>
            <a:r>
              <a:rPr lang="pt-BR" sz="2800" dirty="0" smtClean="0"/>
              <a:t>Necessidade do controle de congestionamento:</a:t>
            </a:r>
          </a:p>
          <a:p>
            <a:pPr marL="914400" lvl="1" indent="-457200" defTabSz="914400">
              <a:buFontTx/>
              <a:buAutoNum type="arabicPeriod"/>
            </a:pPr>
            <a:r>
              <a:rPr lang="pt-BR" dirty="0" smtClean="0"/>
              <a:t>Quando ocorre descarte de </a:t>
            </a:r>
            <a:r>
              <a:rPr lang="en-US" dirty="0" err="1" smtClean="0"/>
              <a:t>quadros</a:t>
            </a:r>
            <a:r>
              <a:rPr lang="pt-BR" dirty="0" smtClean="0"/>
              <a:t> devido ao congestionamento, os computadores poderão retransmitir os dados perdidos.</a:t>
            </a:r>
          </a:p>
          <a:p>
            <a:pPr marL="914400" lvl="1" indent="-457200" defTabSz="914400">
              <a:buFontTx/>
              <a:buAutoNum type="arabicPeriod"/>
            </a:pPr>
            <a:r>
              <a:rPr lang="pt-BR" dirty="0" smtClean="0"/>
              <a:t>A retransmissão aumentará o congestionamento da rede.</a:t>
            </a:r>
          </a:p>
          <a:p>
            <a:pPr marL="914400" lvl="1" indent="-457200" defTabSz="914400">
              <a:buFontTx/>
              <a:buAutoNum type="arabicPeriod"/>
            </a:pPr>
            <a:r>
              <a:rPr lang="pt-BR" dirty="0" smtClean="0"/>
              <a:t>A rede entra num estado de redução de “througput real”, pois parte significativa do tráfego que circula na rede é retransmissão.</a:t>
            </a:r>
          </a:p>
          <a:p>
            <a:endParaRPr lang="pt-PT"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Controle de Congestionamento</a:t>
            </a:r>
            <a:endParaRPr lang="pt-PT" dirty="0"/>
          </a:p>
        </p:txBody>
      </p:sp>
      <p:pic>
        <p:nvPicPr>
          <p:cNvPr id="2050" name="Picture 2"/>
          <p:cNvPicPr>
            <a:picLocks noGrp="1" noChangeAspect="1" noChangeArrowheads="1"/>
          </p:cNvPicPr>
          <p:nvPr>
            <p:ph sz="quarter" idx="1"/>
          </p:nvPr>
        </p:nvPicPr>
        <p:blipFill>
          <a:blip r:embed="rId2" cstate="print"/>
          <a:srcRect/>
          <a:stretch>
            <a:fillRect/>
          </a:stretch>
        </p:blipFill>
        <p:spPr bwMode="auto">
          <a:xfrm>
            <a:off x="899592" y="1268760"/>
            <a:ext cx="7704855" cy="4896544"/>
          </a:xfrm>
          <a:prstGeom prst="rect">
            <a:avLst/>
          </a:prstGeom>
          <a:noFill/>
          <a:ln w="9525">
            <a:noFill/>
            <a:miter lim="800000"/>
            <a:headEnd/>
            <a:tailEnd/>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Controle de Congestionamento</a:t>
            </a:r>
            <a:endParaRPr lang="pt-PT" dirty="0"/>
          </a:p>
        </p:txBody>
      </p:sp>
      <p:sp>
        <p:nvSpPr>
          <p:cNvPr id="3" name="Marcador de Posição de Conteúdo 2"/>
          <p:cNvSpPr>
            <a:spLocks noGrp="1"/>
          </p:cNvSpPr>
          <p:nvPr>
            <p:ph sz="quarter" idx="1"/>
          </p:nvPr>
        </p:nvSpPr>
        <p:spPr/>
        <p:txBody>
          <a:bodyPr/>
          <a:lstStyle/>
          <a:p>
            <a:pPr>
              <a:buFont typeface="Wingdings" pitchFamily="2" charset="2"/>
              <a:buChar char="q"/>
            </a:pPr>
            <a:r>
              <a:rPr lang="pt-BR" sz="3200" dirty="0" smtClean="0"/>
              <a:t>  Mecanismos associados ao controle de congestionamento:</a:t>
            </a:r>
          </a:p>
          <a:p>
            <a:endParaRPr lang="pt-BR" sz="3200" dirty="0" smtClean="0"/>
          </a:p>
          <a:p>
            <a:pPr lvl="1"/>
            <a:r>
              <a:rPr lang="pt-BR" sz="3600" dirty="0" smtClean="0"/>
              <a:t>Explicit Congestion Notification </a:t>
            </a:r>
          </a:p>
          <a:p>
            <a:pPr lvl="1"/>
            <a:r>
              <a:rPr lang="pt-BR" sz="3600" dirty="0" smtClean="0"/>
              <a:t>Implicit Congestion Notification</a:t>
            </a:r>
          </a:p>
          <a:p>
            <a:pPr lvl="1"/>
            <a:r>
              <a:rPr lang="pt-BR" sz="3600" dirty="0" smtClean="0"/>
              <a:t>Discard Eligibility</a:t>
            </a:r>
          </a:p>
          <a:p>
            <a:pPr>
              <a:buNone/>
            </a:pPr>
            <a:endParaRPr lang="pt-PT"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lvl="1" algn="l" rtl="0">
              <a:spcBef>
                <a:spcPct val="0"/>
              </a:spcBef>
            </a:pPr>
            <a:r>
              <a:rPr lang="pt-BR" sz="3600" dirty="0" smtClean="0">
                <a:solidFill>
                  <a:srgbClr val="FF0000"/>
                </a:solidFill>
              </a:rPr>
              <a:t>Explicit Congestion Notification </a:t>
            </a:r>
            <a:r>
              <a:rPr lang="pt-BR" sz="3600" dirty="0" smtClean="0"/>
              <a:t/>
            </a:r>
            <a:br>
              <a:rPr lang="pt-BR" sz="3600" dirty="0" smtClean="0"/>
            </a:br>
            <a:endParaRPr lang="pt-PT" dirty="0"/>
          </a:p>
        </p:txBody>
      </p:sp>
      <p:sp>
        <p:nvSpPr>
          <p:cNvPr id="3" name="Marcador de Posição de Conteúdo 2"/>
          <p:cNvSpPr>
            <a:spLocks noGrp="1"/>
          </p:cNvSpPr>
          <p:nvPr>
            <p:ph sz="quarter" idx="1"/>
          </p:nvPr>
        </p:nvSpPr>
        <p:spPr/>
        <p:txBody>
          <a:bodyPr/>
          <a:lstStyle/>
          <a:p>
            <a:r>
              <a:rPr lang="pt-BR" sz="2000" dirty="0" smtClean="0"/>
              <a:t>Utiliza os bits:</a:t>
            </a:r>
          </a:p>
          <a:p>
            <a:pPr lvl="1"/>
            <a:r>
              <a:rPr lang="en-US" sz="1800" dirty="0" smtClean="0"/>
              <a:t>FECN (Forward Explicit Congestion Notification)</a:t>
            </a:r>
          </a:p>
          <a:p>
            <a:pPr lvl="1"/>
            <a:r>
              <a:rPr lang="en-US" sz="1800" dirty="0" smtClean="0"/>
              <a:t>BECN (Backward Explicit Congestion Notification)</a:t>
            </a:r>
          </a:p>
          <a:p>
            <a:endParaRPr lang="pt-PT" dirty="0"/>
          </a:p>
        </p:txBody>
      </p:sp>
      <p:pic>
        <p:nvPicPr>
          <p:cNvPr id="3074" name="Picture 2"/>
          <p:cNvPicPr>
            <a:picLocks noChangeAspect="1" noChangeArrowheads="1"/>
          </p:cNvPicPr>
          <p:nvPr/>
        </p:nvPicPr>
        <p:blipFill>
          <a:blip r:embed="rId2" cstate="print"/>
          <a:srcRect/>
          <a:stretch>
            <a:fillRect/>
          </a:stretch>
        </p:blipFill>
        <p:spPr bwMode="auto">
          <a:xfrm>
            <a:off x="899592" y="2780928"/>
            <a:ext cx="7056784" cy="3384376"/>
          </a:xfrm>
          <a:prstGeom prst="rect">
            <a:avLst/>
          </a:prstGeom>
          <a:noFill/>
          <a:ln w="9525">
            <a:noFill/>
            <a:miter lim="800000"/>
            <a:headEnd/>
            <a:tailEnd/>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Controle de Congestionamento</a:t>
            </a:r>
            <a:endParaRPr lang="pt-PT" dirty="0"/>
          </a:p>
        </p:txBody>
      </p:sp>
      <p:sp>
        <p:nvSpPr>
          <p:cNvPr id="3" name="Marcador de Posição de Conteúdo 2"/>
          <p:cNvSpPr>
            <a:spLocks noGrp="1"/>
          </p:cNvSpPr>
          <p:nvPr>
            <p:ph sz="quarter" idx="1"/>
          </p:nvPr>
        </p:nvSpPr>
        <p:spPr/>
        <p:txBody>
          <a:bodyPr/>
          <a:lstStyle/>
          <a:p>
            <a:pPr marL="533400" indent="-533400" defTabSz="914400">
              <a:buFont typeface="Wingdings" pitchFamily="2" charset="2"/>
              <a:buChar char="q"/>
            </a:pPr>
            <a:r>
              <a:rPr lang="pt-BR" dirty="0" smtClean="0"/>
              <a:t>Suponha que o nó B está entrando em congestionamento:</a:t>
            </a:r>
          </a:p>
          <a:p>
            <a:pPr marL="914400" lvl="1" indent="-457200" defTabSz="914400">
              <a:buFontTx/>
              <a:buAutoNum type="arabicPeriod"/>
            </a:pPr>
            <a:r>
              <a:rPr lang="pt-BR" dirty="0" smtClean="0"/>
              <a:t>O nó B determina que está entrando em congestionamento</a:t>
            </a:r>
          </a:p>
          <a:p>
            <a:pPr marL="1295400" lvl="2" indent="-381000" defTabSz="914400">
              <a:buClr>
                <a:srgbClr val="800000"/>
              </a:buClr>
            </a:pPr>
            <a:r>
              <a:rPr lang="pt-BR" dirty="0" smtClean="0"/>
              <a:t>seu buffer está ficando cheio.</a:t>
            </a:r>
          </a:p>
          <a:p>
            <a:pPr marL="914400" lvl="1" indent="-457200" defTabSz="914400">
              <a:buFontTx/>
              <a:buAutoNum type="arabicPeriod"/>
            </a:pPr>
            <a:r>
              <a:rPr lang="pt-BR" dirty="0" smtClean="0"/>
              <a:t>O nó B informa ao nó C que está entrando em congestionamento </a:t>
            </a:r>
          </a:p>
          <a:p>
            <a:pPr marL="1295400" lvl="2" indent="-381000" defTabSz="914400">
              <a:buClr>
                <a:srgbClr val="800000"/>
              </a:buClr>
            </a:pPr>
            <a:r>
              <a:rPr lang="pt-BR" dirty="0" smtClean="0"/>
              <a:t>setando o bit FECN dos quadros que são enviados na direção de C.</a:t>
            </a:r>
          </a:p>
          <a:p>
            <a:pPr marL="914400" lvl="1" indent="-457200" defTabSz="914400">
              <a:buFontTx/>
              <a:buAutoNum type="arabicPeriod"/>
            </a:pPr>
            <a:r>
              <a:rPr lang="pt-BR" dirty="0" smtClean="0"/>
              <a:t>O nó B informa ao nó A que está entrando em congestionamento </a:t>
            </a:r>
          </a:p>
          <a:p>
            <a:pPr marL="1295400" lvl="2" indent="-381000" defTabSz="914400">
              <a:buClr>
                <a:srgbClr val="800000"/>
              </a:buClr>
            </a:pPr>
            <a:r>
              <a:rPr lang="pt-BR" dirty="0" smtClean="0"/>
              <a:t>setando o bit BECN dos quadros que são enviados na direção de A.</a:t>
            </a:r>
          </a:p>
          <a:p>
            <a:pPr marL="533400" indent="-533400" defTabSz="914400">
              <a:buFontTx/>
              <a:buChar char="–"/>
            </a:pPr>
            <a:r>
              <a:rPr lang="pt-BR" dirty="0" smtClean="0"/>
              <a:t>O bits FECN e BECN são setados nos quadros de todas as DLCI’s que estão passando pelo nó saturado.</a:t>
            </a:r>
            <a:endParaRPr lang="pt-PT"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smtClean="0">
                <a:solidFill>
                  <a:srgbClr val="FF0000"/>
                </a:solidFill>
              </a:rPr>
              <a:t>Implicit Congestion Notification </a:t>
            </a:r>
            <a:endParaRPr lang="pt-PT" dirty="0"/>
          </a:p>
        </p:txBody>
      </p:sp>
      <p:sp>
        <p:nvSpPr>
          <p:cNvPr id="3" name="Marcador de Posição de Conteúdo 2"/>
          <p:cNvSpPr>
            <a:spLocks noGrp="1"/>
          </p:cNvSpPr>
          <p:nvPr>
            <p:ph sz="quarter" idx="1"/>
          </p:nvPr>
        </p:nvSpPr>
        <p:spPr/>
        <p:txBody>
          <a:bodyPr/>
          <a:lstStyle/>
          <a:p>
            <a:pPr>
              <a:buFont typeface="Wingdings" pitchFamily="2" charset="2"/>
              <a:buChar char="q"/>
            </a:pPr>
            <a:r>
              <a:rPr lang="pt-BR" sz="2800" dirty="0" smtClean="0"/>
              <a:t>Ao receber as mensagens FECN e BECN:</a:t>
            </a:r>
          </a:p>
          <a:p>
            <a:pPr lvl="1"/>
            <a:r>
              <a:rPr lang="pt-BR" dirty="0" smtClean="0"/>
              <a:t>Todos os dispositivos de rede deverão reduzir a geração de informações para evitar o congestionamento.</a:t>
            </a:r>
          </a:p>
          <a:p>
            <a:pPr lvl="1"/>
            <a:r>
              <a:rPr lang="pt-BR" dirty="0" smtClean="0"/>
              <a:t>Os equipamentos terminais deverão reduzir a geração de tráfego para evitar congestionamento na rede local.</a:t>
            </a:r>
          </a:p>
          <a:p>
            <a:pPr>
              <a:buFont typeface="Wingdings" pitchFamily="2" charset="2"/>
              <a:buChar char="q"/>
            </a:pPr>
            <a:r>
              <a:rPr lang="pt-BR" sz="2800" dirty="0" smtClean="0"/>
              <a:t>Os equipamentos terminais que não falam Frame-Relay diretamente, reduzem seu tráfego por um controle de congestionamento implícito, implementado por protocolos de alto nível, como o TCP.</a:t>
            </a:r>
          </a:p>
          <a:p>
            <a:endParaRPr lang="pt-PT"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solidFill>
                  <a:srgbClr val="FF0000"/>
                </a:solidFill>
              </a:rPr>
              <a:t>Implicit Congestion Notification </a:t>
            </a:r>
            <a:endParaRPr lang="pt-PT" dirty="0"/>
          </a:p>
        </p:txBody>
      </p:sp>
      <p:sp>
        <p:nvSpPr>
          <p:cNvPr id="3" name="Marcador de Posição de Conteúdo 2"/>
          <p:cNvSpPr>
            <a:spLocks noGrp="1"/>
          </p:cNvSpPr>
          <p:nvPr>
            <p:ph sz="quarter" idx="1"/>
          </p:nvPr>
        </p:nvSpPr>
        <p:spPr>
          <a:xfrm>
            <a:off x="914400" y="1447800"/>
            <a:ext cx="7772400" cy="1189112"/>
          </a:xfrm>
        </p:spPr>
        <p:txBody>
          <a:bodyPr>
            <a:normAutofit fontScale="77500" lnSpcReduction="20000"/>
          </a:bodyPr>
          <a:lstStyle/>
          <a:p>
            <a:pPr>
              <a:buNone/>
            </a:pPr>
            <a:r>
              <a:rPr lang="pt-BR" sz="2800" dirty="0" smtClean="0"/>
              <a:t>No TCP os computadores podem transmitir apenas uma quantidade limitada de dados sem receber confirmação. Quando a confirmação não é recebida, o emissor assume que o buffer do receptor está cheio e reduz a velocidade de transmissão.</a:t>
            </a:r>
          </a:p>
          <a:p>
            <a:pPr>
              <a:buNone/>
            </a:pPr>
            <a:endParaRPr lang="pt-PT" dirty="0"/>
          </a:p>
        </p:txBody>
      </p:sp>
      <p:pic>
        <p:nvPicPr>
          <p:cNvPr id="4098" name="Picture 2"/>
          <p:cNvPicPr>
            <a:picLocks noChangeAspect="1" noChangeArrowheads="1"/>
          </p:cNvPicPr>
          <p:nvPr/>
        </p:nvPicPr>
        <p:blipFill>
          <a:blip r:embed="rId2" cstate="print"/>
          <a:srcRect/>
          <a:stretch>
            <a:fillRect/>
          </a:stretch>
        </p:blipFill>
        <p:spPr bwMode="auto">
          <a:xfrm>
            <a:off x="899592" y="2564904"/>
            <a:ext cx="7704856" cy="3888432"/>
          </a:xfrm>
          <a:prstGeom prst="rect">
            <a:avLst/>
          </a:prstGeom>
          <a:noFill/>
          <a:ln w="9525">
            <a:noFill/>
            <a:miter lim="800000"/>
            <a:headEnd/>
            <a:tailEnd/>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smtClean="0">
                <a:solidFill>
                  <a:srgbClr val="FF0000"/>
                </a:solidFill>
                <a:latin typeface="Arial" pitchFamily="34" charset="0"/>
                <a:cs typeface="Arial" pitchFamily="34" charset="0"/>
              </a:rPr>
              <a:t>Controle de Congestionamento</a:t>
            </a:r>
            <a:endParaRPr lang="pt-PT" dirty="0"/>
          </a:p>
        </p:txBody>
      </p:sp>
      <p:sp>
        <p:nvSpPr>
          <p:cNvPr id="3" name="Marcador de Posição de Conteúdo 2"/>
          <p:cNvSpPr>
            <a:spLocks noGrp="1"/>
          </p:cNvSpPr>
          <p:nvPr>
            <p:ph sz="quarter" idx="1"/>
          </p:nvPr>
        </p:nvSpPr>
        <p:spPr>
          <a:xfrm>
            <a:off x="914400" y="1447800"/>
            <a:ext cx="7772400" cy="2413248"/>
          </a:xfrm>
        </p:spPr>
        <p:txBody>
          <a:bodyPr/>
          <a:lstStyle/>
          <a:p>
            <a:r>
              <a:rPr lang="pt-BR" sz="2000" dirty="0" smtClean="0"/>
              <a:t>Se os terminais dos usuários não reduzirem o tráfego gerado durante o período de congestionamento:</a:t>
            </a:r>
          </a:p>
          <a:p>
            <a:pPr lvl="1"/>
            <a:r>
              <a:rPr lang="pt-BR" sz="1800" dirty="0" smtClean="0"/>
              <a:t>Seus quadros deverão ser DESCARTADOS.</a:t>
            </a:r>
          </a:p>
          <a:p>
            <a:r>
              <a:rPr lang="pt-BR" sz="2000" dirty="0" smtClean="0"/>
              <a:t>PROBLEMA:</a:t>
            </a:r>
          </a:p>
          <a:p>
            <a:pPr lvl="1"/>
            <a:r>
              <a:rPr lang="pt-BR" sz="1800" dirty="0" smtClean="0"/>
              <a:t>Uma estratégia de descarte randômica não é adequada pois pode levar a retransmissão de muitos dados.</a:t>
            </a:r>
          </a:p>
          <a:p>
            <a:endParaRPr lang="pt-PT" dirty="0"/>
          </a:p>
        </p:txBody>
      </p:sp>
      <p:pic>
        <p:nvPicPr>
          <p:cNvPr id="5122" name="Picture 2"/>
          <p:cNvPicPr>
            <a:picLocks noChangeAspect="1" noChangeArrowheads="1"/>
          </p:cNvPicPr>
          <p:nvPr/>
        </p:nvPicPr>
        <p:blipFill>
          <a:blip r:embed="rId2" cstate="print"/>
          <a:srcRect/>
          <a:stretch>
            <a:fillRect/>
          </a:stretch>
        </p:blipFill>
        <p:spPr bwMode="auto">
          <a:xfrm>
            <a:off x="1259632" y="3501008"/>
            <a:ext cx="7200800" cy="2279898"/>
          </a:xfrm>
          <a:prstGeom prst="rect">
            <a:avLst/>
          </a:prstGeom>
          <a:noFill/>
          <a:ln w="9525">
            <a:noFill/>
            <a:miter lim="800000"/>
            <a:headEnd/>
            <a:tailEnd/>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sz="2800" b="1" dirty="0" smtClean="0">
                <a:solidFill>
                  <a:srgbClr val="FF0000"/>
                </a:solidFill>
                <a:latin typeface="Arial" pitchFamily="34" charset="0"/>
                <a:cs typeface="Arial" pitchFamily="34" charset="0"/>
              </a:rPr>
              <a:t>CIR- </a:t>
            </a:r>
            <a:r>
              <a:rPr lang="pt-PT" sz="2800" b="1" dirty="0" err="1" smtClean="0">
                <a:solidFill>
                  <a:srgbClr val="FF0000"/>
                </a:solidFill>
                <a:latin typeface="Arial" pitchFamily="34" charset="0"/>
                <a:cs typeface="Arial" pitchFamily="34" charset="0"/>
              </a:rPr>
              <a:t>Commited</a:t>
            </a:r>
            <a:r>
              <a:rPr lang="pt-PT" sz="2800" b="1" dirty="0" smtClean="0">
                <a:solidFill>
                  <a:srgbClr val="FF0000"/>
                </a:solidFill>
                <a:latin typeface="Arial" pitchFamily="34" charset="0"/>
                <a:cs typeface="Arial" pitchFamily="34" charset="0"/>
              </a:rPr>
              <a:t> </a:t>
            </a:r>
            <a:r>
              <a:rPr lang="pt-PT" sz="2800" b="1" dirty="0" err="1" smtClean="0">
                <a:solidFill>
                  <a:srgbClr val="FF0000"/>
                </a:solidFill>
                <a:latin typeface="Arial" pitchFamily="34" charset="0"/>
                <a:cs typeface="Arial" pitchFamily="34" charset="0"/>
              </a:rPr>
              <a:t>information</a:t>
            </a:r>
            <a:r>
              <a:rPr lang="pt-PT" sz="2800" b="1" dirty="0" smtClean="0">
                <a:solidFill>
                  <a:srgbClr val="FF0000"/>
                </a:solidFill>
                <a:latin typeface="Arial" pitchFamily="34" charset="0"/>
                <a:cs typeface="Arial" pitchFamily="34" charset="0"/>
              </a:rPr>
              <a:t> Rate</a:t>
            </a:r>
            <a:endParaRPr lang="pt-PT" sz="2800" dirty="0"/>
          </a:p>
        </p:txBody>
      </p:sp>
      <p:sp>
        <p:nvSpPr>
          <p:cNvPr id="3" name="Marcador de Posição de Conteúdo 2"/>
          <p:cNvSpPr>
            <a:spLocks noGrp="1"/>
          </p:cNvSpPr>
          <p:nvPr>
            <p:ph sz="quarter" idx="1"/>
          </p:nvPr>
        </p:nvSpPr>
        <p:spPr/>
        <p:txBody>
          <a:bodyPr/>
          <a:lstStyle/>
          <a:p>
            <a:pPr>
              <a:buFont typeface="Wingdings" pitchFamily="2" charset="2"/>
              <a:buChar char="q"/>
            </a:pPr>
            <a:r>
              <a:rPr lang="pt-BR" sz="2800" dirty="0" smtClean="0"/>
              <a:t> Para determinar quais quadros devem ser descartados utiliza-se o CIR (Committed Information Rate). </a:t>
            </a:r>
          </a:p>
          <a:p>
            <a:pPr lvl="1"/>
            <a:r>
              <a:rPr lang="pt-BR" dirty="0" smtClean="0"/>
              <a:t>O CIR é a informação da capacidade média do circuito virtual em bits por segundo. </a:t>
            </a:r>
          </a:p>
          <a:p>
            <a:pPr lvl="1"/>
            <a:r>
              <a:rPr lang="pt-BR" dirty="0" smtClean="0"/>
              <a:t>A média é calculada num intervalo mínimo Tc.</a:t>
            </a:r>
          </a:p>
          <a:p>
            <a:pPr>
              <a:buFont typeface="Wingdings" pitchFamily="2" charset="2"/>
              <a:buChar char="q"/>
            </a:pPr>
            <a:r>
              <a:rPr lang="pt-BR" sz="2800" dirty="0" smtClean="0"/>
              <a:t> Quando um usuário contrata um canal junto a um provedor de serviço frame re</a:t>
            </a:r>
            <a:r>
              <a:rPr lang="en-US" sz="2800" dirty="0" smtClean="0"/>
              <a:t>l</a:t>
            </a:r>
            <a:r>
              <a:rPr lang="pt-BR" sz="2800" dirty="0" smtClean="0"/>
              <a:t>ay, ele especifica um CIR dependendo da capacidade de rede que ele estima precisar.</a:t>
            </a:r>
          </a:p>
          <a:p>
            <a:endParaRPr lang="pt-PT"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PT" b="1" dirty="0" smtClean="0">
                <a:solidFill>
                  <a:srgbClr val="FF0000"/>
                </a:solidFill>
                <a:latin typeface="Arial" pitchFamily="34" charset="0"/>
                <a:cs typeface="Arial" pitchFamily="34" charset="0"/>
              </a:rPr>
              <a:t>CIR- </a:t>
            </a:r>
            <a:r>
              <a:rPr lang="pt-PT" b="1" dirty="0" err="1" smtClean="0">
                <a:solidFill>
                  <a:srgbClr val="FF0000"/>
                </a:solidFill>
                <a:latin typeface="Arial" pitchFamily="34" charset="0"/>
                <a:cs typeface="Arial" pitchFamily="34" charset="0"/>
              </a:rPr>
              <a:t>Commited</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information</a:t>
            </a:r>
            <a:r>
              <a:rPr lang="pt-PT" b="1" dirty="0" smtClean="0">
                <a:solidFill>
                  <a:srgbClr val="FF0000"/>
                </a:solidFill>
                <a:latin typeface="Arial" pitchFamily="34" charset="0"/>
                <a:cs typeface="Arial" pitchFamily="34" charset="0"/>
              </a:rPr>
              <a:t> Rate</a:t>
            </a:r>
            <a:endParaRPr lang="pt-PT" dirty="0"/>
          </a:p>
        </p:txBody>
      </p:sp>
      <p:pic>
        <p:nvPicPr>
          <p:cNvPr id="6147" name="Picture 3"/>
          <p:cNvPicPr>
            <a:picLocks noGrp="1" noChangeAspect="1" noChangeArrowheads="1"/>
          </p:cNvPicPr>
          <p:nvPr>
            <p:ph sz="quarter" idx="1"/>
          </p:nvPr>
        </p:nvPicPr>
        <p:blipFill>
          <a:blip r:embed="rId2" cstate="print"/>
          <a:srcRect/>
          <a:stretch>
            <a:fillRect/>
          </a:stretch>
        </p:blipFill>
        <p:spPr bwMode="auto">
          <a:xfrm>
            <a:off x="755576" y="1484784"/>
            <a:ext cx="7632848" cy="4536504"/>
          </a:xfrm>
          <a:prstGeom prst="rect">
            <a:avLst/>
          </a:prstGeom>
          <a:noFill/>
          <a:ln w="9525">
            <a:noFill/>
            <a:miter lim="800000"/>
            <a:headEnd/>
            <a:tailEnd/>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PT" b="1" dirty="0" err="1" smtClean="0">
                <a:solidFill>
                  <a:srgbClr val="FF0000"/>
                </a:solidFill>
                <a:latin typeface="Arial" pitchFamily="34" charset="0"/>
                <a:cs typeface="Arial" pitchFamily="34" charset="0"/>
              </a:rPr>
              <a:t>Discard</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Eligibility</a:t>
            </a:r>
            <a:endParaRPr lang="pt-PT" dirty="0"/>
          </a:p>
        </p:txBody>
      </p:sp>
      <p:sp>
        <p:nvSpPr>
          <p:cNvPr id="3" name="Marcador de Posição de Conteúdo 2"/>
          <p:cNvSpPr>
            <a:spLocks noGrp="1"/>
          </p:cNvSpPr>
          <p:nvPr>
            <p:ph sz="quarter" idx="1"/>
          </p:nvPr>
        </p:nvSpPr>
        <p:spPr>
          <a:xfrm>
            <a:off x="914400" y="1447800"/>
            <a:ext cx="7772400" cy="1549152"/>
          </a:xfrm>
        </p:spPr>
        <p:txBody>
          <a:bodyPr>
            <a:normAutofit fontScale="92500" lnSpcReduction="10000"/>
          </a:bodyPr>
          <a:lstStyle/>
          <a:p>
            <a:pPr>
              <a:buNone/>
            </a:pPr>
            <a:r>
              <a:rPr lang="pt-BR" sz="2800" dirty="0" smtClean="0"/>
              <a:t>    No cabeçalho dos quadros frame relay existe um bit denominado Discard Eligibility (DE). Os quadros com DE=1 serão os primeiros a serem descartados em caso de congestionamento.</a:t>
            </a:r>
            <a:endParaRPr lang="pt-BR" sz="4000" dirty="0" smtClean="0"/>
          </a:p>
          <a:p>
            <a:pPr>
              <a:buNone/>
            </a:pPr>
            <a:endParaRPr lang="pt-PT" dirty="0"/>
          </a:p>
        </p:txBody>
      </p:sp>
      <p:pic>
        <p:nvPicPr>
          <p:cNvPr id="7170" name="Picture 2"/>
          <p:cNvPicPr>
            <a:picLocks noChangeAspect="1" noChangeArrowheads="1"/>
          </p:cNvPicPr>
          <p:nvPr/>
        </p:nvPicPr>
        <p:blipFill>
          <a:blip r:embed="rId2" cstate="print"/>
          <a:srcRect/>
          <a:stretch>
            <a:fillRect/>
          </a:stretch>
        </p:blipFill>
        <p:spPr bwMode="auto">
          <a:xfrm>
            <a:off x="827584" y="3068960"/>
            <a:ext cx="7632848" cy="3123431"/>
          </a:xfrm>
          <a:prstGeom prst="rect">
            <a:avLst/>
          </a:prstGeom>
          <a:noFill/>
          <a:ln w="9525">
            <a:noFill/>
            <a:miter lim="800000"/>
            <a:headEnd/>
            <a:tailEnd/>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err="1" smtClean="0">
                <a:solidFill>
                  <a:srgbClr val="FF0000"/>
                </a:solidFill>
                <a:latin typeface="Arial" pitchFamily="34" charset="0"/>
                <a:cs typeface="Arial" pitchFamily="34" charset="0"/>
              </a:rPr>
              <a:t>Discard</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Eligibility</a:t>
            </a:r>
            <a:endParaRPr lang="pt-PT" dirty="0"/>
          </a:p>
        </p:txBody>
      </p:sp>
      <p:sp>
        <p:nvSpPr>
          <p:cNvPr id="3" name="Marcador de Posição de Conteúdo 2"/>
          <p:cNvSpPr>
            <a:spLocks noGrp="1"/>
          </p:cNvSpPr>
          <p:nvPr>
            <p:ph sz="quarter" idx="1"/>
          </p:nvPr>
        </p:nvSpPr>
        <p:spPr>
          <a:xfrm>
            <a:off x="914400" y="1447800"/>
            <a:ext cx="7772400" cy="1765176"/>
          </a:xfrm>
        </p:spPr>
        <p:txBody>
          <a:bodyPr>
            <a:normAutofit lnSpcReduction="10000"/>
          </a:bodyPr>
          <a:lstStyle/>
          <a:p>
            <a:r>
              <a:rPr lang="pt-BR" sz="2800" dirty="0" smtClean="0"/>
              <a:t>Quando a taxa de bits transmitida por uma rede superar o seu CIR contratado, o próprio roteador da rede do usuário ou o switch da rede frame relay devem setar DE=1.</a:t>
            </a:r>
          </a:p>
          <a:p>
            <a:endParaRPr lang="pt-PT" dirty="0"/>
          </a:p>
        </p:txBody>
      </p:sp>
      <p:pic>
        <p:nvPicPr>
          <p:cNvPr id="8194" name="Picture 2"/>
          <p:cNvPicPr>
            <a:picLocks noChangeAspect="1" noChangeArrowheads="1"/>
          </p:cNvPicPr>
          <p:nvPr/>
        </p:nvPicPr>
        <p:blipFill>
          <a:blip r:embed="rId2" cstate="print"/>
          <a:srcRect/>
          <a:stretch>
            <a:fillRect/>
          </a:stretch>
        </p:blipFill>
        <p:spPr bwMode="auto">
          <a:xfrm>
            <a:off x="899592" y="3501008"/>
            <a:ext cx="7704856" cy="2181225"/>
          </a:xfrm>
          <a:prstGeom prst="rect">
            <a:avLst/>
          </a:prstGeom>
          <a:noFill/>
          <a:ln w="9525">
            <a:noFill/>
            <a:miter lim="800000"/>
            <a:headEnd/>
            <a:tailEnd/>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err="1" smtClean="0">
                <a:solidFill>
                  <a:srgbClr val="FF0000"/>
                </a:solidFill>
                <a:latin typeface="Arial" pitchFamily="34" charset="0"/>
                <a:cs typeface="Arial" pitchFamily="34" charset="0"/>
              </a:rPr>
              <a:t>Discard</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Eligibility</a:t>
            </a:r>
            <a:endParaRPr lang="pt-PT" dirty="0"/>
          </a:p>
        </p:txBody>
      </p:sp>
      <p:sp>
        <p:nvSpPr>
          <p:cNvPr id="3" name="Marcador de Posição de Conteúdo 2"/>
          <p:cNvSpPr>
            <a:spLocks noGrp="1"/>
          </p:cNvSpPr>
          <p:nvPr>
            <p:ph sz="quarter" idx="1"/>
          </p:nvPr>
        </p:nvSpPr>
        <p:spPr>
          <a:xfrm>
            <a:off x="539552" y="1447800"/>
            <a:ext cx="8147248" cy="1189112"/>
          </a:xfrm>
        </p:spPr>
        <p:txBody>
          <a:bodyPr>
            <a:normAutofit fontScale="92500" lnSpcReduction="20000"/>
          </a:bodyPr>
          <a:lstStyle/>
          <a:p>
            <a:r>
              <a:rPr lang="pt-BR" sz="2800" dirty="0" smtClean="0"/>
              <a:t>Os quadros com DE = 1 são os primeiros a serem descartados. </a:t>
            </a:r>
          </a:p>
          <a:p>
            <a:r>
              <a:rPr lang="pt-BR" sz="2800" dirty="0" smtClean="0"/>
              <a:t>Se o descarte dos quadros com DE=1 não for suficiente, os quadros com DE=0 são descartados indiscriminadamente.</a:t>
            </a:r>
            <a:endParaRPr lang="pt-PT" dirty="0"/>
          </a:p>
        </p:txBody>
      </p:sp>
      <p:pic>
        <p:nvPicPr>
          <p:cNvPr id="9218" name="Picture 2"/>
          <p:cNvPicPr>
            <a:picLocks noChangeAspect="1" noChangeArrowheads="1"/>
          </p:cNvPicPr>
          <p:nvPr/>
        </p:nvPicPr>
        <p:blipFill>
          <a:blip r:embed="rId2" cstate="print"/>
          <a:srcRect/>
          <a:stretch>
            <a:fillRect/>
          </a:stretch>
        </p:blipFill>
        <p:spPr bwMode="auto">
          <a:xfrm>
            <a:off x="683568" y="2924944"/>
            <a:ext cx="7776864" cy="2808312"/>
          </a:xfrm>
          <a:prstGeom prst="rect">
            <a:avLst/>
          </a:prstGeom>
          <a:noFill/>
          <a:ln w="9525">
            <a:noFill/>
            <a:miter lim="800000"/>
            <a:headEnd/>
            <a:tailEnd/>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err="1" smtClean="0">
                <a:solidFill>
                  <a:srgbClr val="FF0000"/>
                </a:solidFill>
                <a:latin typeface="Arial" pitchFamily="34" charset="0"/>
                <a:cs typeface="Arial" pitchFamily="34" charset="0"/>
              </a:rPr>
              <a:t>Interconexação</a:t>
            </a:r>
            <a:r>
              <a:rPr lang="pt-PT" b="1" dirty="0" smtClean="0">
                <a:solidFill>
                  <a:srgbClr val="FF0000"/>
                </a:solidFill>
                <a:latin typeface="Arial" pitchFamily="34" charset="0"/>
                <a:cs typeface="Arial" pitchFamily="34" charset="0"/>
              </a:rPr>
              <a:t> de Redes LAN</a:t>
            </a:r>
            <a:endParaRPr lang="pt-PT" dirty="0"/>
          </a:p>
        </p:txBody>
      </p:sp>
      <p:sp>
        <p:nvSpPr>
          <p:cNvPr id="3" name="Marcador de Posição de Conteúdo 2"/>
          <p:cNvSpPr>
            <a:spLocks noGrp="1"/>
          </p:cNvSpPr>
          <p:nvPr>
            <p:ph sz="quarter" idx="1"/>
          </p:nvPr>
        </p:nvSpPr>
        <p:spPr>
          <a:xfrm>
            <a:off x="914400" y="1447800"/>
            <a:ext cx="7772400" cy="613048"/>
          </a:xfrm>
        </p:spPr>
        <p:txBody>
          <a:bodyPr/>
          <a:lstStyle/>
          <a:p>
            <a:r>
              <a:rPr lang="pt-BR" dirty="0" smtClean="0"/>
              <a:t>Abordagem tradicional</a:t>
            </a:r>
          </a:p>
          <a:p>
            <a:endParaRPr lang="pt-PT" dirty="0"/>
          </a:p>
        </p:txBody>
      </p:sp>
      <p:pic>
        <p:nvPicPr>
          <p:cNvPr id="10243" name="Picture 3"/>
          <p:cNvPicPr>
            <a:picLocks noChangeAspect="1" noChangeArrowheads="1"/>
          </p:cNvPicPr>
          <p:nvPr/>
        </p:nvPicPr>
        <p:blipFill>
          <a:blip r:embed="rId2" cstate="print"/>
          <a:srcRect/>
          <a:stretch>
            <a:fillRect/>
          </a:stretch>
        </p:blipFill>
        <p:spPr bwMode="auto">
          <a:xfrm>
            <a:off x="539552" y="2133600"/>
            <a:ext cx="8208912" cy="3455640"/>
          </a:xfrm>
          <a:prstGeom prst="rect">
            <a:avLst/>
          </a:prstGeom>
          <a:noFill/>
          <a:ln w="9525">
            <a:noFill/>
            <a:miter lim="800000"/>
            <a:headEnd/>
            <a:tailEnd/>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b="1" dirty="0" err="1" smtClean="0">
                <a:solidFill>
                  <a:srgbClr val="FF0000"/>
                </a:solidFill>
                <a:latin typeface="Arial" pitchFamily="34" charset="0"/>
                <a:cs typeface="Arial" pitchFamily="34" charset="0"/>
              </a:rPr>
              <a:t>Interconexação</a:t>
            </a:r>
            <a:r>
              <a:rPr lang="pt-PT" b="1" dirty="0" smtClean="0">
                <a:solidFill>
                  <a:srgbClr val="FF0000"/>
                </a:solidFill>
                <a:latin typeface="Arial" pitchFamily="34" charset="0"/>
                <a:cs typeface="Arial" pitchFamily="34" charset="0"/>
              </a:rPr>
              <a:t> de Redes LAN</a:t>
            </a:r>
            <a:endParaRPr lang="pt-PT" dirty="0"/>
          </a:p>
        </p:txBody>
      </p:sp>
      <p:sp>
        <p:nvSpPr>
          <p:cNvPr id="3" name="Marcador de Posição de Conteúdo 2"/>
          <p:cNvSpPr>
            <a:spLocks noGrp="1"/>
          </p:cNvSpPr>
          <p:nvPr>
            <p:ph sz="quarter" idx="1"/>
          </p:nvPr>
        </p:nvSpPr>
        <p:spPr>
          <a:xfrm>
            <a:off x="914400" y="1447800"/>
            <a:ext cx="7772400" cy="613048"/>
          </a:xfrm>
        </p:spPr>
        <p:txBody>
          <a:bodyPr/>
          <a:lstStyle/>
          <a:p>
            <a:r>
              <a:rPr lang="pt-BR" dirty="0" smtClean="0"/>
              <a:t>Abordagem Frame-Relay</a:t>
            </a:r>
          </a:p>
          <a:p>
            <a:endParaRPr lang="pt-PT" dirty="0"/>
          </a:p>
        </p:txBody>
      </p:sp>
      <p:pic>
        <p:nvPicPr>
          <p:cNvPr id="11266" name="Picture 2"/>
          <p:cNvPicPr>
            <a:picLocks noChangeAspect="1" noChangeArrowheads="1"/>
          </p:cNvPicPr>
          <p:nvPr/>
        </p:nvPicPr>
        <p:blipFill>
          <a:blip r:embed="rId2" cstate="print"/>
          <a:srcRect/>
          <a:stretch>
            <a:fillRect/>
          </a:stretch>
        </p:blipFill>
        <p:spPr bwMode="auto">
          <a:xfrm>
            <a:off x="899592" y="1916832"/>
            <a:ext cx="7488832" cy="4320480"/>
          </a:xfrm>
          <a:prstGeom prst="rect">
            <a:avLst/>
          </a:prstGeom>
          <a:noFill/>
          <a:ln w="9525">
            <a:noFill/>
            <a:miter lim="800000"/>
            <a:headEnd/>
            <a:tailEnd/>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PT" b="1" dirty="0" smtClean="0">
                <a:solidFill>
                  <a:srgbClr val="FF0000"/>
                </a:solidFill>
                <a:latin typeface="Arial" pitchFamily="34" charset="0"/>
                <a:cs typeface="Arial" pitchFamily="34" charset="0"/>
              </a:rPr>
              <a:t>Voz e Dados sobre </a:t>
            </a:r>
            <a:r>
              <a:rPr lang="pt-PT" b="1" dirty="0" err="1" smtClean="0">
                <a:solidFill>
                  <a:srgbClr val="FF0000"/>
                </a:solidFill>
                <a:latin typeface="Arial" pitchFamily="34" charset="0"/>
                <a:cs typeface="Arial" pitchFamily="34" charset="0"/>
              </a:rPr>
              <a:t>Frame</a:t>
            </a:r>
            <a:r>
              <a:rPr lang="pt-PT" b="1" dirty="0" smtClean="0">
                <a:solidFill>
                  <a:srgbClr val="FF0000"/>
                </a:solidFill>
                <a:latin typeface="Arial" pitchFamily="34" charset="0"/>
                <a:cs typeface="Arial" pitchFamily="34" charset="0"/>
              </a:rPr>
              <a:t> -</a:t>
            </a:r>
            <a:r>
              <a:rPr lang="pt-PT" b="1" dirty="0" err="1" smtClean="0">
                <a:solidFill>
                  <a:srgbClr val="FF0000"/>
                </a:solidFill>
                <a:latin typeface="Arial" pitchFamily="34" charset="0"/>
                <a:cs typeface="Arial" pitchFamily="34" charset="0"/>
              </a:rPr>
              <a:t>Relay</a:t>
            </a:r>
            <a:endParaRPr lang="pt-PT" dirty="0"/>
          </a:p>
        </p:txBody>
      </p:sp>
      <p:pic>
        <p:nvPicPr>
          <p:cNvPr id="12290" name="Picture 2"/>
          <p:cNvPicPr>
            <a:picLocks noGrp="1" noChangeAspect="1" noChangeArrowheads="1"/>
          </p:cNvPicPr>
          <p:nvPr>
            <p:ph sz="quarter" idx="1"/>
          </p:nvPr>
        </p:nvPicPr>
        <p:blipFill>
          <a:blip r:embed="rId2" cstate="print"/>
          <a:srcRect/>
          <a:stretch>
            <a:fillRect/>
          </a:stretch>
        </p:blipFill>
        <p:spPr bwMode="auto">
          <a:xfrm>
            <a:off x="755576" y="1628800"/>
            <a:ext cx="7704856" cy="4536504"/>
          </a:xfrm>
          <a:prstGeom prst="rect">
            <a:avLst/>
          </a:prstGeom>
          <a:noFill/>
          <a:ln w="9525">
            <a:noFill/>
            <a:miter lim="800000"/>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6034682"/>
          </a:xfrm>
        </p:spPr>
        <p:txBody>
          <a:bodyPr/>
          <a:lstStyle/>
          <a:p>
            <a:r>
              <a:rPr lang="pt-PT" b="1" dirty="0" smtClean="0">
                <a:solidFill>
                  <a:srgbClr val="FF0000"/>
                </a:solidFill>
                <a:latin typeface="Arial" pitchFamily="34" charset="0"/>
                <a:cs typeface="Arial" pitchFamily="34" charset="0"/>
              </a:rPr>
              <a:t> </a:t>
            </a:r>
            <a:endParaRPr lang="pt-PT" dirty="0"/>
          </a:p>
        </p:txBody>
      </p:sp>
      <p:sp>
        <p:nvSpPr>
          <p:cNvPr id="3" name="Marcador de Posição de Conteúdo 2"/>
          <p:cNvSpPr>
            <a:spLocks noGrp="1"/>
          </p:cNvSpPr>
          <p:nvPr>
            <p:ph sz="quarter" idx="1"/>
          </p:nvPr>
        </p:nvSpPr>
        <p:spPr/>
        <p:txBody>
          <a:bodyPr>
            <a:normAutofit/>
          </a:bodyPr>
          <a:lstStyle/>
          <a:p>
            <a:pPr>
              <a:buNone/>
            </a:pPr>
            <a:endParaRPr lang="pt-PT" sz="8000" b="1" dirty="0" smtClean="0">
              <a:solidFill>
                <a:srgbClr val="FF0000"/>
              </a:solidFill>
              <a:latin typeface="Arial" pitchFamily="34" charset="0"/>
              <a:cs typeface="Arial" pitchFamily="34" charset="0"/>
            </a:endParaRPr>
          </a:p>
          <a:p>
            <a:pPr>
              <a:buNone/>
            </a:pPr>
            <a:r>
              <a:rPr lang="pt-PT" sz="8000" b="1" dirty="0" smtClean="0">
                <a:solidFill>
                  <a:srgbClr val="FF0000"/>
                </a:solidFill>
                <a:latin typeface="Arial" pitchFamily="34" charset="0"/>
                <a:cs typeface="Arial" pitchFamily="34" charset="0"/>
              </a:rPr>
              <a:t>  Rede ATM</a:t>
            </a:r>
            <a:endParaRPr lang="pt-PT" sz="8000" dirty="0" smtClean="0"/>
          </a:p>
          <a:p>
            <a:pPr>
              <a:buNone/>
            </a:pPr>
            <a:endParaRPr lang="pt-PT" sz="8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ATM: Definição</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pPr>
              <a:lnSpc>
                <a:spcPct val="100000"/>
              </a:lnSpc>
            </a:pPr>
            <a:r>
              <a:rPr lang="pt-BR" dirty="0" smtClean="0"/>
              <a:t>ATM (</a:t>
            </a:r>
            <a:r>
              <a:rPr lang="pt-BR" i="1" dirty="0" smtClean="0">
                <a:cs typeface="Times New Roman" pitchFamily="18" charset="0"/>
              </a:rPr>
              <a:t>Asynchronous Transfer Mode</a:t>
            </a:r>
            <a:r>
              <a:rPr lang="pt-BR" dirty="0" smtClean="0">
                <a:cs typeface="Times New Roman" pitchFamily="18" charset="0"/>
              </a:rPr>
              <a:t> ou Modo de Transferência Assíncrono).</a:t>
            </a:r>
            <a:endParaRPr lang="pt-BR" dirty="0" smtClean="0">
              <a:solidFill>
                <a:srgbClr val="0066CC"/>
              </a:solidFill>
              <a:cs typeface="Times New Roman" pitchFamily="18" charset="0"/>
            </a:endParaRPr>
          </a:p>
          <a:p>
            <a:pPr lvl="1">
              <a:lnSpc>
                <a:spcPct val="100000"/>
              </a:lnSpc>
            </a:pPr>
            <a:r>
              <a:rPr lang="pt-BR" dirty="0" smtClean="0">
                <a:solidFill>
                  <a:srgbClr val="FF0000"/>
                </a:solidFill>
                <a:cs typeface="Times New Roman" pitchFamily="18" charset="0"/>
              </a:rPr>
              <a:t>Modo de Transferência </a:t>
            </a:r>
            <a:r>
              <a:rPr lang="pt-BR" dirty="0" smtClean="0">
                <a:cs typeface="Times New Roman" pitchFamily="18" charset="0"/>
              </a:rPr>
              <a:t>é o termo usado pelo ITU-T para descrever a tecnologia que cobre os aspectos de </a:t>
            </a:r>
            <a:r>
              <a:rPr lang="pt-BR" dirty="0" smtClean="0">
                <a:solidFill>
                  <a:srgbClr val="FF0000"/>
                </a:solidFill>
                <a:cs typeface="Times New Roman" pitchFamily="18" charset="0"/>
              </a:rPr>
              <a:t>transmissão</a:t>
            </a:r>
            <a:r>
              <a:rPr lang="pt-BR" dirty="0" smtClean="0">
                <a:cs typeface="Times New Roman" pitchFamily="18" charset="0"/>
              </a:rPr>
              <a:t>, </a:t>
            </a:r>
            <a:r>
              <a:rPr lang="pt-BR" dirty="0" smtClean="0">
                <a:solidFill>
                  <a:srgbClr val="FF0000"/>
                </a:solidFill>
                <a:cs typeface="Times New Roman" pitchFamily="18" charset="0"/>
              </a:rPr>
              <a:t>multiplexação</a:t>
            </a:r>
            <a:r>
              <a:rPr lang="pt-BR" dirty="0" smtClean="0">
                <a:cs typeface="Times New Roman" pitchFamily="18" charset="0"/>
              </a:rPr>
              <a:t> e </a:t>
            </a:r>
            <a:r>
              <a:rPr lang="pt-BR" dirty="0" smtClean="0">
                <a:solidFill>
                  <a:srgbClr val="FF0000"/>
                </a:solidFill>
                <a:cs typeface="Times New Roman" pitchFamily="18" charset="0"/>
              </a:rPr>
              <a:t>comutação</a:t>
            </a:r>
            <a:r>
              <a:rPr lang="pt-BR" dirty="0" smtClean="0">
                <a:cs typeface="Times New Roman" pitchFamily="18" charset="0"/>
              </a:rPr>
              <a:t>. </a:t>
            </a:r>
          </a:p>
          <a:p>
            <a:pPr lvl="1">
              <a:lnSpc>
                <a:spcPct val="100000"/>
              </a:lnSpc>
            </a:pPr>
            <a:r>
              <a:rPr lang="pt-BR" dirty="0" smtClean="0">
                <a:cs typeface="Times New Roman" pitchFamily="18" charset="0"/>
              </a:rPr>
              <a:t>O </a:t>
            </a:r>
            <a:r>
              <a:rPr lang="pt-BR" dirty="0" smtClean="0">
                <a:solidFill>
                  <a:srgbClr val="FF0000"/>
                </a:solidFill>
                <a:cs typeface="Times New Roman" pitchFamily="18" charset="0"/>
              </a:rPr>
              <a:t>Modo de Transferência Assíncrono </a:t>
            </a:r>
            <a:r>
              <a:rPr lang="pt-BR" dirty="0" smtClean="0">
                <a:cs typeface="Times New Roman" pitchFamily="18" charset="0"/>
              </a:rPr>
              <a:t>é uma tecnologia que utiliza pequenos pacotes de tamanho fixo, chamados de células, para </a:t>
            </a:r>
            <a:r>
              <a:rPr lang="pt-BR" dirty="0" smtClean="0">
                <a:solidFill>
                  <a:srgbClr val="FF0000"/>
                </a:solidFill>
                <a:cs typeface="Times New Roman" pitchFamily="18" charset="0"/>
              </a:rPr>
              <a:t>transmitir, multiplexar </a:t>
            </a:r>
            <a:r>
              <a:rPr lang="pt-BR" dirty="0" smtClean="0">
                <a:cs typeface="Times New Roman" pitchFamily="18" charset="0"/>
              </a:rPr>
              <a:t>e </a:t>
            </a:r>
            <a:r>
              <a:rPr lang="pt-BR" dirty="0" smtClean="0">
                <a:solidFill>
                  <a:srgbClr val="FF0000"/>
                </a:solidFill>
                <a:cs typeface="Times New Roman" pitchFamily="18" charset="0"/>
              </a:rPr>
              <a:t>comutar</a:t>
            </a:r>
            <a:r>
              <a:rPr lang="pt-BR" dirty="0" smtClean="0">
                <a:cs typeface="Times New Roman" pitchFamily="18" charset="0"/>
              </a:rPr>
              <a:t> tráfegos de </a:t>
            </a:r>
            <a:r>
              <a:rPr lang="pt-BR" dirty="0" smtClean="0">
                <a:solidFill>
                  <a:srgbClr val="FF0000"/>
                </a:solidFill>
                <a:cs typeface="Times New Roman" pitchFamily="18" charset="0"/>
              </a:rPr>
              <a:t>voz</a:t>
            </a:r>
            <a:r>
              <a:rPr lang="pt-BR" dirty="0" smtClean="0">
                <a:cs typeface="Times New Roman" pitchFamily="18" charset="0"/>
              </a:rPr>
              <a:t>, </a:t>
            </a:r>
            <a:r>
              <a:rPr lang="pt-BR" dirty="0" smtClean="0">
                <a:solidFill>
                  <a:srgbClr val="FF0000"/>
                </a:solidFill>
                <a:cs typeface="Times New Roman" pitchFamily="18" charset="0"/>
              </a:rPr>
              <a:t>vídeo</a:t>
            </a:r>
            <a:r>
              <a:rPr lang="pt-BR" dirty="0" smtClean="0">
                <a:cs typeface="Times New Roman" pitchFamily="18" charset="0"/>
              </a:rPr>
              <a:t>, </a:t>
            </a:r>
            <a:r>
              <a:rPr lang="pt-BR" dirty="0" smtClean="0">
                <a:solidFill>
                  <a:srgbClr val="FF0000"/>
                </a:solidFill>
                <a:cs typeface="Times New Roman" pitchFamily="18" charset="0"/>
              </a:rPr>
              <a:t>imagens </a:t>
            </a:r>
            <a:r>
              <a:rPr lang="pt-BR" dirty="0" smtClean="0">
                <a:cs typeface="Times New Roman" pitchFamily="18" charset="0"/>
              </a:rPr>
              <a:t>e </a:t>
            </a:r>
            <a:r>
              <a:rPr lang="pt-BR" dirty="0" smtClean="0">
                <a:solidFill>
                  <a:srgbClr val="FF0000"/>
                </a:solidFill>
                <a:cs typeface="Times New Roman" pitchFamily="18" charset="0"/>
              </a:rPr>
              <a:t>dados</a:t>
            </a:r>
            <a:r>
              <a:rPr lang="pt-BR" dirty="0" smtClean="0">
                <a:cs typeface="Times New Roman" pitchFamily="18" charset="0"/>
              </a:rPr>
              <a:t> sobre uma mesma rede de alta velocidade.</a:t>
            </a:r>
          </a:p>
          <a:p>
            <a:pPr lvl="1">
              <a:lnSpc>
                <a:spcPct val="100000"/>
              </a:lnSpc>
            </a:pPr>
            <a:r>
              <a:rPr lang="pt-BR" dirty="0" smtClean="0">
                <a:cs typeface="Times New Roman" pitchFamily="18" charset="0"/>
              </a:rPr>
              <a:t>O </a:t>
            </a:r>
            <a:r>
              <a:rPr lang="pt-BR" dirty="0" smtClean="0">
                <a:solidFill>
                  <a:srgbClr val="FF0000"/>
                </a:solidFill>
                <a:cs typeface="Times New Roman" pitchFamily="18" charset="0"/>
              </a:rPr>
              <a:t>ATM</a:t>
            </a:r>
            <a:r>
              <a:rPr lang="pt-BR" dirty="0" smtClean="0">
                <a:cs typeface="Times New Roman" pitchFamily="18" charset="0"/>
              </a:rPr>
              <a:t> é uma tecnologia de comutação de pacotes baseada em circuitos virtuais.</a:t>
            </a:r>
            <a:endParaRPr lang="pt-BR" dirty="0" smtClean="0"/>
          </a:p>
          <a:p>
            <a:pPr>
              <a:buNone/>
            </a:pPr>
            <a:endParaRPr lang="pt-PT"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Principais Características</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pPr>
              <a:lnSpc>
                <a:spcPct val="110000"/>
              </a:lnSpc>
            </a:pPr>
            <a:r>
              <a:rPr lang="pt-BR" dirty="0" smtClean="0"/>
              <a:t>A funcionalidade do cabeçalho (5 </a:t>
            </a:r>
            <a:r>
              <a:rPr lang="pt-BR" i="1" dirty="0" smtClean="0"/>
              <a:t>bytes</a:t>
            </a:r>
            <a:r>
              <a:rPr lang="pt-BR" dirty="0" smtClean="0"/>
              <a:t>) das células ATM é </a:t>
            </a:r>
            <a:r>
              <a:rPr lang="pt-BR" dirty="0" smtClean="0">
                <a:solidFill>
                  <a:schemeClr val="bg2">
                    <a:lumMod val="10000"/>
                  </a:schemeClr>
                </a:solidFill>
              </a:rPr>
              <a:t>mínimo.</a:t>
            </a:r>
          </a:p>
          <a:p>
            <a:pPr>
              <a:lnSpc>
                <a:spcPct val="110000"/>
              </a:lnSpc>
            </a:pPr>
            <a:r>
              <a:rPr lang="pt-BR" dirty="0" smtClean="0"/>
              <a:t>O campo de informações das células ATM é relativamente </a:t>
            </a:r>
            <a:r>
              <a:rPr lang="pt-BR" dirty="0" smtClean="0">
                <a:solidFill>
                  <a:schemeClr val="bg2">
                    <a:lumMod val="10000"/>
                  </a:schemeClr>
                </a:solidFill>
              </a:rPr>
              <a:t>pequeno </a:t>
            </a:r>
            <a:r>
              <a:rPr lang="pt-BR" dirty="0" smtClean="0"/>
              <a:t>(48 </a:t>
            </a:r>
            <a:r>
              <a:rPr lang="pt-BR" i="1" dirty="0" smtClean="0"/>
              <a:t>bytes</a:t>
            </a:r>
            <a:r>
              <a:rPr lang="pt-BR" dirty="0" smtClean="0"/>
              <a:t>).</a:t>
            </a:r>
          </a:p>
          <a:p>
            <a:pPr lvl="1">
              <a:lnSpc>
                <a:spcPct val="110000"/>
              </a:lnSpc>
            </a:pPr>
            <a:r>
              <a:rPr lang="pt-BR" dirty="0" smtClean="0"/>
              <a:t>Este valor otimiza os fatores conflitantes: </a:t>
            </a:r>
          </a:p>
          <a:p>
            <a:pPr lvl="2">
              <a:lnSpc>
                <a:spcPct val="110000"/>
              </a:lnSpc>
              <a:buFont typeface="Wingdings" pitchFamily="2" charset="2"/>
              <a:buChar char="q"/>
            </a:pPr>
            <a:r>
              <a:rPr lang="pt-BR" sz="2400" b="1" dirty="0" smtClean="0">
                <a:solidFill>
                  <a:srgbClr val="FF0000"/>
                </a:solidFill>
              </a:rPr>
              <a:t> Atraso na rede.</a:t>
            </a:r>
          </a:p>
          <a:p>
            <a:pPr lvl="2">
              <a:lnSpc>
                <a:spcPct val="110000"/>
              </a:lnSpc>
              <a:buFont typeface="Wingdings" pitchFamily="2" charset="2"/>
              <a:buChar char="q"/>
            </a:pPr>
            <a:r>
              <a:rPr lang="pt-BR" sz="2400" b="1" dirty="0" smtClean="0">
                <a:solidFill>
                  <a:srgbClr val="FF0000"/>
                </a:solidFill>
              </a:rPr>
              <a:t> Eficiência de transmissão.</a:t>
            </a:r>
          </a:p>
          <a:p>
            <a:pPr lvl="2">
              <a:lnSpc>
                <a:spcPct val="110000"/>
              </a:lnSpc>
              <a:buFont typeface="Wingdings" pitchFamily="2" charset="2"/>
              <a:buChar char="q"/>
            </a:pPr>
            <a:r>
              <a:rPr lang="pt-BR" sz="2400" b="1" dirty="0" smtClean="0">
                <a:solidFill>
                  <a:srgbClr val="FF0000"/>
                </a:solidFill>
              </a:rPr>
              <a:t>  Complexidade de implementação.</a:t>
            </a:r>
            <a:endParaRPr lang="pt-BR" sz="2400" dirty="0" smtClean="0">
              <a:solidFill>
                <a:srgbClr val="FF0000"/>
              </a:solidFill>
            </a:endParaRPr>
          </a:p>
          <a:p>
            <a:endParaRPr lang="pt-PT"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GB" b="1" dirty="0" smtClean="0">
                <a:solidFill>
                  <a:srgbClr val="FF0000"/>
                </a:solidFill>
                <a:latin typeface="Arial" pitchFamily="34" charset="0"/>
                <a:cs typeface="Arial" pitchFamily="34" charset="0"/>
              </a:rPr>
              <a:t>ATM – </a:t>
            </a:r>
            <a:r>
              <a:rPr lang="en-GB" b="1" dirty="0" err="1" smtClean="0">
                <a:solidFill>
                  <a:srgbClr val="FF0000"/>
                </a:solidFill>
                <a:latin typeface="Arial" pitchFamily="34" charset="0"/>
                <a:cs typeface="Arial" pitchFamily="34" charset="0"/>
              </a:rPr>
              <a:t>Definições</a:t>
            </a:r>
            <a:r>
              <a:rPr lang="en-GB" b="1" dirty="0" smtClean="0">
                <a:solidFill>
                  <a:srgbClr val="FF0000"/>
                </a:solidFill>
                <a:latin typeface="Arial" pitchFamily="34" charset="0"/>
                <a:cs typeface="Arial" pitchFamily="34" charset="0"/>
              </a:rPr>
              <a:t> </a:t>
            </a:r>
            <a:r>
              <a:rPr lang="en-GB" b="1" dirty="0" err="1" smtClean="0">
                <a:solidFill>
                  <a:srgbClr val="FF0000"/>
                </a:solidFill>
                <a:latin typeface="Arial" pitchFamily="34" charset="0"/>
                <a:cs typeface="Arial" pitchFamily="34" charset="0"/>
              </a:rPr>
              <a:t>Básicas</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pPr>
              <a:buNone/>
            </a:pPr>
            <a:r>
              <a:rPr lang="pt-BR" sz="2800" b="1" dirty="0" smtClean="0">
                <a:solidFill>
                  <a:srgbClr val="000000"/>
                </a:solidFill>
              </a:rPr>
              <a:t>Multiplexação Assíncrona X Síncrona</a:t>
            </a:r>
          </a:p>
          <a:p>
            <a:pPr>
              <a:buNone/>
            </a:pPr>
            <a:endParaRPr lang="pt-PT" dirty="0" smtClean="0"/>
          </a:p>
          <a:p>
            <a:pPr>
              <a:buNone/>
            </a:pPr>
            <a:endParaRPr lang="pt-PT" dirty="0"/>
          </a:p>
        </p:txBody>
      </p:sp>
      <p:pic>
        <p:nvPicPr>
          <p:cNvPr id="4" name="Picture 3"/>
          <p:cNvPicPr>
            <a:picLocks noChangeArrowheads="1"/>
          </p:cNvPicPr>
          <p:nvPr/>
        </p:nvPicPr>
        <p:blipFill>
          <a:blip r:embed="rId2" cstate="print"/>
          <a:srcRect/>
          <a:stretch>
            <a:fillRect/>
          </a:stretch>
        </p:blipFill>
        <p:spPr bwMode="auto">
          <a:xfrm>
            <a:off x="323529" y="1988840"/>
            <a:ext cx="8496944" cy="4392910"/>
          </a:xfrm>
          <a:prstGeom prst="rect">
            <a:avLst/>
          </a:prstGeom>
          <a:solidFill>
            <a:srgbClr val="FFFFCC"/>
          </a:solidFill>
          <a:ln w="9525">
            <a:noFill/>
            <a:miter lim="800000"/>
            <a:headEnd/>
            <a:tailEnd/>
          </a:ln>
          <a:effectLst>
            <a:outerShdw dist="107763" dir="18900000" algn="ctr" rotWithShape="0">
              <a:schemeClr val="bg2"/>
            </a:outerShdw>
          </a:effec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ATM - Definições básicas</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pPr>
              <a:buNone/>
            </a:pPr>
            <a:r>
              <a:rPr lang="pt-BR" sz="2400" b="1" dirty="0" smtClean="0"/>
              <a:t>Efeitos do Tráfego - ATM x STM</a:t>
            </a:r>
          </a:p>
          <a:p>
            <a:pPr>
              <a:buNone/>
            </a:pPr>
            <a:endParaRPr lang="pt-PT" dirty="0"/>
          </a:p>
        </p:txBody>
      </p:sp>
      <p:sp>
        <p:nvSpPr>
          <p:cNvPr id="4" name="Rectângulo 3"/>
          <p:cNvSpPr/>
          <p:nvPr/>
        </p:nvSpPr>
        <p:spPr>
          <a:xfrm>
            <a:off x="755576" y="2132856"/>
            <a:ext cx="7992888" cy="3539430"/>
          </a:xfrm>
          <a:prstGeom prst="rect">
            <a:avLst/>
          </a:prstGeom>
        </p:spPr>
        <p:txBody>
          <a:bodyPr wrap="square">
            <a:spAutoFit/>
          </a:bodyPr>
          <a:lstStyle/>
          <a:p>
            <a:pPr marL="342900" indent="-342900" defTabSz="762000">
              <a:lnSpc>
                <a:spcPct val="100000"/>
              </a:lnSpc>
            </a:pPr>
            <a:r>
              <a:rPr lang="pt-BR" sz="2800" dirty="0" smtClean="0">
                <a:solidFill>
                  <a:srgbClr val="FF0000"/>
                </a:solidFill>
              </a:rPr>
              <a:t>STM</a:t>
            </a:r>
            <a:r>
              <a:rPr lang="pt-BR" sz="2800" dirty="0" smtClean="0"/>
              <a:t> (Synchronous Transfer Mode).</a:t>
            </a:r>
          </a:p>
          <a:p>
            <a:pPr marL="742950" lvl="1" indent="-285750" defTabSz="762000">
              <a:lnSpc>
                <a:spcPct val="100000"/>
              </a:lnSpc>
            </a:pPr>
            <a:r>
              <a:rPr lang="pt-BR" sz="2400" dirty="0" smtClean="0"/>
              <a:t>Banda disponível ao usuário FIXA.</a:t>
            </a:r>
          </a:p>
          <a:p>
            <a:pPr marL="742950" lvl="1" indent="-285750" defTabSz="762000">
              <a:lnSpc>
                <a:spcPct val="100000"/>
              </a:lnSpc>
            </a:pPr>
            <a:r>
              <a:rPr lang="pt-BR" sz="2400" dirty="0" smtClean="0"/>
              <a:t>Excesso de tráfego oferecido causa BLOQUEIO.</a:t>
            </a:r>
          </a:p>
          <a:p>
            <a:pPr marL="742950" lvl="1" indent="-285750" defTabSz="762000">
              <a:lnSpc>
                <a:spcPct val="100000"/>
              </a:lnSpc>
            </a:pPr>
            <a:r>
              <a:rPr lang="pt-BR" sz="2400" dirty="0" smtClean="0"/>
              <a:t>Depois da conexão estabelecida a QoS permanece constante.</a:t>
            </a:r>
          </a:p>
          <a:p>
            <a:pPr marL="342900" indent="-342900" defTabSz="762000">
              <a:lnSpc>
                <a:spcPct val="100000"/>
              </a:lnSpc>
            </a:pPr>
            <a:r>
              <a:rPr lang="pt-BR" sz="2800" dirty="0" smtClean="0">
                <a:solidFill>
                  <a:srgbClr val="FF0000"/>
                </a:solidFill>
              </a:rPr>
              <a:t>ATM</a:t>
            </a:r>
            <a:r>
              <a:rPr lang="pt-BR" sz="2800" dirty="0" smtClean="0"/>
              <a:t> (Asynchronous Transfer Mode).</a:t>
            </a:r>
            <a:endParaRPr lang="pt-BR" sz="3200" dirty="0" smtClean="0"/>
          </a:p>
          <a:p>
            <a:pPr marL="742950" lvl="1" indent="-285750" defTabSz="762000">
              <a:lnSpc>
                <a:spcPct val="100000"/>
              </a:lnSpc>
            </a:pPr>
            <a:r>
              <a:rPr lang="pt-BR" sz="2400" dirty="0" smtClean="0"/>
              <a:t>Banda disponível sob demanda.</a:t>
            </a:r>
          </a:p>
          <a:p>
            <a:pPr marL="742950" lvl="1" indent="-285750" defTabSz="762000">
              <a:lnSpc>
                <a:spcPct val="100000"/>
              </a:lnSpc>
            </a:pPr>
            <a:r>
              <a:rPr lang="pt-BR" sz="2400" dirty="0" smtClean="0"/>
              <a:t>Sensibilidade da QoS em relação ao perfil de tráfego.</a:t>
            </a:r>
          </a:p>
          <a:p>
            <a:pPr marL="742950" lvl="1" indent="-285750" defTabSz="762000">
              <a:lnSpc>
                <a:spcPct val="100000"/>
              </a:lnSpc>
            </a:pPr>
            <a:r>
              <a:rPr lang="pt-BR" sz="2400" dirty="0" smtClean="0"/>
              <a:t>Ganho estatístico no dimensionamento da rede.</a:t>
            </a:r>
          </a:p>
          <a:p>
            <a:pPr marL="742950" lvl="1" indent="-285750" defTabSz="762000">
              <a:lnSpc>
                <a:spcPct val="100000"/>
              </a:lnSpc>
            </a:pPr>
            <a:r>
              <a:rPr lang="pt-BR" sz="2400" dirty="0" smtClean="0"/>
              <a:t>Necessidade de um Contrato de Tráfego e de sua Supervisão.</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ATM - Definições básicas</a:t>
            </a:r>
            <a:endParaRPr lang="pt-PT" dirty="0"/>
          </a:p>
        </p:txBody>
      </p:sp>
      <p:pic>
        <p:nvPicPr>
          <p:cNvPr id="1026" name="Picture 2"/>
          <p:cNvPicPr>
            <a:picLocks noGrp="1" noChangeAspect="1" noChangeArrowheads="1"/>
          </p:cNvPicPr>
          <p:nvPr>
            <p:ph sz="quarter" idx="1"/>
          </p:nvPr>
        </p:nvPicPr>
        <p:blipFill>
          <a:blip r:embed="rId2" cstate="print"/>
          <a:srcRect/>
          <a:stretch>
            <a:fillRect/>
          </a:stretch>
        </p:blipFill>
        <p:spPr bwMode="auto">
          <a:xfrm>
            <a:off x="914400" y="1582750"/>
            <a:ext cx="7772400" cy="4582554"/>
          </a:xfrm>
          <a:prstGeom prst="rect">
            <a:avLst/>
          </a:prstGeom>
          <a:noFill/>
          <a:ln w="9525">
            <a:noFill/>
            <a:miter lim="800000"/>
            <a:headEnd/>
            <a:tailEnd/>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GB" b="1" dirty="0" err="1" smtClean="0">
                <a:solidFill>
                  <a:srgbClr val="FF0000"/>
                </a:solidFill>
                <a:latin typeface="Arial" pitchFamily="34" charset="0"/>
                <a:cs typeface="Arial" pitchFamily="34" charset="0"/>
              </a:rPr>
              <a:t>Conceito</a:t>
            </a:r>
            <a:r>
              <a:rPr lang="en-GB" b="1" dirty="0" smtClean="0">
                <a:solidFill>
                  <a:srgbClr val="FF0000"/>
                </a:solidFill>
                <a:latin typeface="Arial" pitchFamily="34" charset="0"/>
                <a:cs typeface="Arial" pitchFamily="34" charset="0"/>
              </a:rPr>
              <a:t> do ATM</a:t>
            </a:r>
            <a:endParaRPr lang="pt-PT" b="1" dirty="0">
              <a:solidFill>
                <a:srgbClr val="FF0000"/>
              </a:solidFill>
              <a:latin typeface="Arial" pitchFamily="34" charset="0"/>
              <a:cs typeface="Arial" pitchFamily="34" charset="0"/>
            </a:endParaRPr>
          </a:p>
        </p:txBody>
      </p:sp>
      <p:pic>
        <p:nvPicPr>
          <p:cNvPr id="2050" name="Picture 2"/>
          <p:cNvPicPr>
            <a:picLocks noGrp="1" noChangeAspect="1" noChangeArrowheads="1"/>
          </p:cNvPicPr>
          <p:nvPr>
            <p:ph sz="quarter" idx="1"/>
          </p:nvPr>
        </p:nvPicPr>
        <p:blipFill>
          <a:blip r:embed="rId2" cstate="print"/>
          <a:srcRect/>
          <a:stretch>
            <a:fillRect/>
          </a:stretch>
        </p:blipFill>
        <p:spPr bwMode="auto">
          <a:xfrm>
            <a:off x="827584" y="1556792"/>
            <a:ext cx="7560840" cy="4680520"/>
          </a:xfrm>
          <a:prstGeom prst="rect">
            <a:avLst/>
          </a:prstGeom>
          <a:noFill/>
          <a:ln w="9525">
            <a:noFill/>
            <a:miter lim="800000"/>
            <a:headEnd/>
            <a:tailEnd/>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ATM - Definições básicas</a:t>
            </a:r>
            <a:endParaRPr lang="pt-PT" dirty="0"/>
          </a:p>
        </p:txBody>
      </p:sp>
      <p:pic>
        <p:nvPicPr>
          <p:cNvPr id="3074" name="Picture 2"/>
          <p:cNvPicPr>
            <a:picLocks noGrp="1" noChangeAspect="1" noChangeArrowheads="1"/>
          </p:cNvPicPr>
          <p:nvPr>
            <p:ph sz="quarter" idx="1"/>
          </p:nvPr>
        </p:nvPicPr>
        <p:blipFill>
          <a:blip r:embed="rId2" cstate="print"/>
          <a:srcRect/>
          <a:stretch>
            <a:fillRect/>
          </a:stretch>
        </p:blipFill>
        <p:spPr bwMode="auto">
          <a:xfrm>
            <a:off x="683568" y="1484785"/>
            <a:ext cx="7920880" cy="4608512"/>
          </a:xfrm>
          <a:prstGeom prst="rect">
            <a:avLst/>
          </a:prstGeom>
          <a:noFill/>
          <a:ln w="9525">
            <a:noFill/>
            <a:miter lim="800000"/>
            <a:headEnd/>
            <a:tailEnd/>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ATM - Definições básicas</a:t>
            </a:r>
            <a:endParaRPr lang="pt-PT" dirty="0"/>
          </a:p>
        </p:txBody>
      </p:sp>
      <p:sp>
        <p:nvSpPr>
          <p:cNvPr id="3" name="Marcador de Posição de Conteúdo 2"/>
          <p:cNvSpPr>
            <a:spLocks noGrp="1"/>
          </p:cNvSpPr>
          <p:nvPr>
            <p:ph sz="quarter" idx="1"/>
          </p:nvPr>
        </p:nvSpPr>
        <p:spPr/>
        <p:txBody>
          <a:bodyPr>
            <a:normAutofit fontScale="92500" lnSpcReduction="10000"/>
          </a:bodyPr>
          <a:lstStyle/>
          <a:p>
            <a:pPr marL="342900" indent="-342900" defTabSz="762000">
              <a:lnSpc>
                <a:spcPct val="100000"/>
              </a:lnSpc>
            </a:pPr>
            <a:r>
              <a:rPr lang="pt-BR" sz="2000" dirty="0" smtClean="0">
                <a:latin typeface="Arial" charset="0"/>
              </a:rPr>
              <a:t>Não existe proteção contra erros ou controle de tráfego na rede.</a:t>
            </a:r>
          </a:p>
          <a:p>
            <a:pPr marL="742950" lvl="1" indent="-285750" defTabSz="762000">
              <a:lnSpc>
                <a:spcPct val="100000"/>
              </a:lnSpc>
            </a:pPr>
            <a:r>
              <a:rPr lang="pt-BR" sz="1800" dirty="0" smtClean="0">
                <a:latin typeface="Arial" charset="0"/>
              </a:rPr>
              <a:t>A não proteção de erros é permitida uma vez que os enlaces são de alta qualidade.</a:t>
            </a:r>
          </a:p>
          <a:p>
            <a:pPr marL="742950" lvl="1" indent="-285750" defTabSz="762000">
              <a:lnSpc>
                <a:spcPct val="100000"/>
              </a:lnSpc>
            </a:pPr>
            <a:r>
              <a:rPr lang="pt-BR" sz="1800" dirty="0" smtClean="0">
                <a:latin typeface="Arial" charset="0"/>
              </a:rPr>
              <a:t>A perda de pacotes devido à overflow dos buffers, problema típico para a rede ATM, é minimizada à valores aceitáveis da ordem de 10</a:t>
            </a:r>
            <a:r>
              <a:rPr lang="pt-BR" sz="1800" baseline="30000" dirty="0" smtClean="0">
                <a:latin typeface="Arial" charset="0"/>
              </a:rPr>
              <a:t>-8 </a:t>
            </a:r>
            <a:r>
              <a:rPr lang="pt-BR" sz="1800" dirty="0" smtClean="0">
                <a:latin typeface="Arial" charset="0"/>
              </a:rPr>
              <a:t> a 10</a:t>
            </a:r>
            <a:r>
              <a:rPr lang="pt-BR" sz="1800" baseline="30000" dirty="0" smtClean="0">
                <a:latin typeface="Arial" charset="0"/>
              </a:rPr>
              <a:t>-12</a:t>
            </a:r>
            <a:r>
              <a:rPr lang="pt-BR" sz="1800" dirty="0" smtClean="0">
                <a:latin typeface="Arial" charset="0"/>
              </a:rPr>
              <a:t>, através da adequada alocação de recursos e dimensionamento dos buffers.</a:t>
            </a:r>
            <a:endParaRPr lang="pt-BR" sz="1800" baseline="30000" dirty="0" smtClean="0">
              <a:latin typeface="Arial" charset="0"/>
            </a:endParaRPr>
          </a:p>
          <a:p>
            <a:pPr marL="342900" indent="-342900" defTabSz="762000">
              <a:lnSpc>
                <a:spcPct val="100000"/>
              </a:lnSpc>
            </a:pPr>
            <a:r>
              <a:rPr lang="pt-BR" sz="2000" dirty="0" smtClean="0">
                <a:latin typeface="Arial" charset="0"/>
              </a:rPr>
              <a:t>ATM opera no modo orientado à conexão.</a:t>
            </a:r>
          </a:p>
          <a:p>
            <a:pPr marL="742950" lvl="1" indent="-285750" defTabSz="762000">
              <a:lnSpc>
                <a:spcPct val="100000"/>
              </a:lnSpc>
            </a:pPr>
            <a:r>
              <a:rPr lang="pt-BR" sz="1800" dirty="0" smtClean="0">
                <a:latin typeface="Arial" charset="0"/>
              </a:rPr>
              <a:t>Antes da transferência da informação de um terminal para o destino, é realizada a fase de estabelecimento de conexão virtual (lógica), verificando se a disponibilidade recursos da rede é adequada para a necessidade, caso contrário, a sessão é descartada e não se inicia.</a:t>
            </a:r>
          </a:p>
          <a:p>
            <a:pPr marL="742950" lvl="1" indent="-285750" defTabSz="762000">
              <a:lnSpc>
                <a:spcPct val="100000"/>
              </a:lnSpc>
            </a:pPr>
            <a:r>
              <a:rPr lang="pt-BR" sz="1800" dirty="0" smtClean="0">
                <a:latin typeface="Arial" charset="0"/>
              </a:rPr>
              <a:t>Este modo orientado à conexão permite à rede garantir em todas as transmissões uma minimização da PLR.</a:t>
            </a:r>
          </a:p>
          <a:p>
            <a:pPr marL="742950" lvl="1" indent="-285750" defTabSz="762000">
              <a:lnSpc>
                <a:spcPct val="100000"/>
              </a:lnSpc>
            </a:pPr>
            <a:r>
              <a:rPr lang="pt-BR" sz="1800" dirty="0" smtClean="0">
                <a:latin typeface="Arial" charset="0"/>
              </a:rPr>
              <a:t>Com o encerramento da transmissão os recursos são colocados em disponibilidade para outras conexões.</a:t>
            </a:r>
            <a:endParaRPr lang="pt-BR" sz="1800" baseline="30000" dirty="0" smtClean="0">
              <a:latin typeface="Arial" charset="0"/>
            </a:endParaRPr>
          </a:p>
          <a:p>
            <a:pPr>
              <a:buNone/>
            </a:pPr>
            <a:endParaRPr lang="pt-PT"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922114"/>
          </a:xfrm>
        </p:spPr>
        <p:txBody>
          <a:bodyPr/>
          <a:lstStyle/>
          <a:p>
            <a:r>
              <a:rPr lang="pt-BR" b="1" dirty="0" smtClean="0">
                <a:solidFill>
                  <a:srgbClr val="FF0000"/>
                </a:solidFill>
                <a:latin typeface="Arial" pitchFamily="34" charset="0"/>
                <a:cs typeface="Arial" pitchFamily="34" charset="0"/>
              </a:rPr>
              <a:t>ATM - Definições básicas</a:t>
            </a:r>
            <a:endParaRPr lang="pt-PT" dirty="0"/>
          </a:p>
        </p:txBody>
      </p:sp>
      <p:sp>
        <p:nvSpPr>
          <p:cNvPr id="3" name="Marcador de Posição de Conteúdo 2"/>
          <p:cNvSpPr>
            <a:spLocks noGrp="1"/>
          </p:cNvSpPr>
          <p:nvPr>
            <p:ph sz="quarter" idx="1"/>
          </p:nvPr>
        </p:nvSpPr>
        <p:spPr/>
        <p:txBody>
          <a:bodyPr>
            <a:normAutofit fontScale="85000" lnSpcReduction="20000"/>
          </a:bodyPr>
          <a:lstStyle/>
          <a:p>
            <a:pPr marL="342900" indent="-342900" defTabSz="762000">
              <a:lnSpc>
                <a:spcPct val="110000"/>
              </a:lnSpc>
            </a:pPr>
            <a:r>
              <a:rPr lang="pt-BR" dirty="0" smtClean="0"/>
              <a:t>A funcionalidade do cabeçalho é reduzida</a:t>
            </a:r>
            <a:r>
              <a:rPr lang="pt-BR" sz="2000" dirty="0" smtClean="0"/>
              <a:t>.</a:t>
            </a:r>
          </a:p>
          <a:p>
            <a:pPr marL="742950" lvl="1" indent="-285750" defTabSz="762000">
              <a:lnSpc>
                <a:spcPct val="110000"/>
              </a:lnSpc>
            </a:pPr>
            <a:r>
              <a:rPr lang="pt-BR" dirty="0" smtClean="0"/>
              <a:t>Permite um rápido processamento na rede devido a um número limitado de funções, causando um atraso de processamento e atraso de filas pequeno.</a:t>
            </a:r>
          </a:p>
          <a:p>
            <a:pPr marL="742950" lvl="1" indent="-285750" defTabSz="762000">
              <a:lnSpc>
                <a:spcPct val="110000"/>
              </a:lnSpc>
            </a:pPr>
            <a:r>
              <a:rPr lang="pt-BR" dirty="0" smtClean="0"/>
              <a:t>Principal função é identificar a conexão virtual, por um identificador selecionado na fase de estabelecimento de conexão, e garantir o correto roteamento do pacote.</a:t>
            </a:r>
          </a:p>
          <a:p>
            <a:pPr marL="742950" lvl="1" indent="-285750" defTabSz="762000">
              <a:lnSpc>
                <a:spcPct val="110000"/>
              </a:lnSpc>
            </a:pPr>
            <a:r>
              <a:rPr lang="pt-BR" dirty="0" smtClean="0"/>
              <a:t>Permite a multiplexagem de diversas conexões virtuais em um mesmo enlace.</a:t>
            </a:r>
          </a:p>
          <a:p>
            <a:pPr marL="742950" lvl="1" indent="-285750" defTabSz="762000">
              <a:lnSpc>
                <a:spcPct val="110000"/>
              </a:lnSpc>
            </a:pPr>
            <a:r>
              <a:rPr lang="pt-BR" dirty="0" smtClean="0"/>
              <a:t>Erros no cabeçalho causarão roteamento indevido e conseqüentemente perda de pacotes. Desta forma, um bit errado no cabeçalho ocasionará n bits errados ( n igual ao tamanho do pacote).</a:t>
            </a:r>
          </a:p>
          <a:p>
            <a:pPr marL="742950" lvl="1" indent="-285750" defTabSz="762000">
              <a:lnSpc>
                <a:spcPct val="110000"/>
              </a:lnSpc>
            </a:pPr>
            <a:r>
              <a:rPr lang="pt-BR" dirty="0" smtClean="0"/>
              <a:t>Técnicas de detecção e correção de erros, no cabeçalho, são implementadas para  reduzir o efeito de multiplicação de erros.</a:t>
            </a:r>
            <a:endParaRPr lang="pt-PT"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ATM - Definições básicas</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pPr marL="342900" indent="-342900" defTabSz="762000">
              <a:lnSpc>
                <a:spcPct val="110000"/>
              </a:lnSpc>
            </a:pPr>
            <a:r>
              <a:rPr lang="pt-BR" sz="2800" dirty="0" smtClean="0"/>
              <a:t>O comprimento do payload é pequeno.</a:t>
            </a:r>
          </a:p>
          <a:p>
            <a:pPr marL="742950" lvl="1" indent="-285750" defTabSz="762000">
              <a:lnSpc>
                <a:spcPct val="110000"/>
              </a:lnSpc>
            </a:pPr>
            <a:r>
              <a:rPr lang="pt-BR" sz="2800" dirty="0" smtClean="0"/>
              <a:t>Reduz o tamanho dos buffers e o atraso de filas no nós de chaveamento, garantindo um atraso total e variação estatística do atraso adequados à implementação de serviços de tempo real.</a:t>
            </a:r>
          </a:p>
          <a:p>
            <a:pPr>
              <a:buNone/>
            </a:pPr>
            <a:endParaRPr lang="pt-PT"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 CÉLULA ATM</a:t>
            </a:r>
            <a:endParaRPr lang="pt-PT" b="1" dirty="0">
              <a:solidFill>
                <a:srgbClr val="FF0000"/>
              </a:solidFill>
              <a:latin typeface="Arial" pitchFamily="34" charset="0"/>
              <a:cs typeface="Arial" pitchFamily="34" charset="0"/>
            </a:endParaRPr>
          </a:p>
        </p:txBody>
      </p:sp>
      <p:grpSp>
        <p:nvGrpSpPr>
          <p:cNvPr id="11" name="Group 3"/>
          <p:cNvGrpSpPr>
            <a:grpSpLocks noGrp="1"/>
          </p:cNvGrpSpPr>
          <p:nvPr>
            <p:ph sz="quarter" idx="1"/>
          </p:nvPr>
        </p:nvGrpSpPr>
        <p:grpSpPr bwMode="auto">
          <a:xfrm>
            <a:off x="914400" y="1412776"/>
            <a:ext cx="7772400" cy="1008112"/>
            <a:chOff x="929" y="825"/>
            <a:chExt cx="4451" cy="731"/>
          </a:xfrm>
        </p:grpSpPr>
        <p:sp>
          <p:nvSpPr>
            <p:cNvPr id="12" name="Rectangle 4"/>
            <p:cNvSpPr>
              <a:spLocks noChangeArrowheads="1"/>
            </p:cNvSpPr>
            <p:nvPr/>
          </p:nvSpPr>
          <p:spPr bwMode="auto">
            <a:xfrm>
              <a:off x="929" y="1168"/>
              <a:ext cx="4451" cy="388"/>
            </a:xfrm>
            <a:prstGeom prst="rect">
              <a:avLst/>
            </a:prstGeom>
            <a:solidFill>
              <a:schemeClr val="accent1"/>
            </a:solidFill>
            <a:ln w="12700">
              <a:solidFill>
                <a:schemeClr val="tx1"/>
              </a:solidFill>
              <a:miter lim="800000"/>
              <a:headEnd/>
              <a:tailEnd/>
            </a:ln>
          </p:spPr>
          <p:txBody>
            <a:bodyPr wrap="none" anchor="ctr"/>
            <a:lstStyle/>
            <a:p>
              <a:endParaRPr lang="pt-BR"/>
            </a:p>
          </p:txBody>
        </p:sp>
        <p:sp>
          <p:nvSpPr>
            <p:cNvPr id="13" name="Rectangle 5"/>
            <p:cNvSpPr>
              <a:spLocks noChangeArrowheads="1"/>
            </p:cNvSpPr>
            <p:nvPr/>
          </p:nvSpPr>
          <p:spPr bwMode="auto">
            <a:xfrm>
              <a:off x="929" y="1168"/>
              <a:ext cx="967" cy="376"/>
            </a:xfrm>
            <a:prstGeom prst="rect">
              <a:avLst/>
            </a:prstGeom>
            <a:solidFill>
              <a:srgbClr val="FF0066"/>
            </a:solidFill>
            <a:ln w="12700">
              <a:solidFill>
                <a:schemeClr val="tx1"/>
              </a:solidFill>
              <a:miter lim="800000"/>
              <a:headEnd/>
              <a:tailEnd/>
            </a:ln>
          </p:spPr>
          <p:txBody>
            <a:bodyPr wrap="none" anchor="ctr"/>
            <a:lstStyle/>
            <a:p>
              <a:endParaRPr lang="pt-BR"/>
            </a:p>
          </p:txBody>
        </p:sp>
        <p:sp>
          <p:nvSpPr>
            <p:cNvPr id="14" name="Rectangle 6"/>
            <p:cNvSpPr>
              <a:spLocks noChangeArrowheads="1"/>
            </p:cNvSpPr>
            <p:nvPr/>
          </p:nvSpPr>
          <p:spPr bwMode="auto">
            <a:xfrm>
              <a:off x="3176" y="849"/>
              <a:ext cx="907" cy="327"/>
            </a:xfrm>
            <a:prstGeom prst="rect">
              <a:avLst/>
            </a:prstGeom>
            <a:noFill/>
            <a:ln w="9525">
              <a:noFill/>
              <a:miter lim="800000"/>
              <a:headEnd/>
              <a:tailEnd/>
            </a:ln>
          </p:spPr>
          <p:txBody>
            <a:bodyPr wrap="none" lIns="92075" tIns="46038" rIns="92075" bIns="46038">
              <a:spAutoFit/>
            </a:bodyPr>
            <a:lstStyle/>
            <a:p>
              <a:pPr defTabSz="762000">
                <a:lnSpc>
                  <a:spcPct val="100000"/>
                </a:lnSpc>
                <a:buClrTx/>
                <a:buSzTx/>
                <a:buFontTx/>
                <a:buNone/>
              </a:pPr>
              <a:r>
                <a:rPr lang="pt-BR" sz="2800">
                  <a:solidFill>
                    <a:schemeClr val="tx1"/>
                  </a:solidFill>
                </a:rPr>
                <a:t>Payload</a:t>
              </a:r>
            </a:p>
          </p:txBody>
        </p:sp>
        <p:sp>
          <p:nvSpPr>
            <p:cNvPr id="15" name="Rectangle 7"/>
            <p:cNvSpPr>
              <a:spLocks noChangeArrowheads="1"/>
            </p:cNvSpPr>
            <p:nvPr/>
          </p:nvSpPr>
          <p:spPr bwMode="auto">
            <a:xfrm>
              <a:off x="953" y="825"/>
              <a:ext cx="1147" cy="327"/>
            </a:xfrm>
            <a:prstGeom prst="rect">
              <a:avLst/>
            </a:prstGeom>
            <a:noFill/>
            <a:ln w="9525">
              <a:noFill/>
              <a:miter lim="800000"/>
              <a:headEnd/>
              <a:tailEnd/>
            </a:ln>
          </p:spPr>
          <p:txBody>
            <a:bodyPr wrap="none" lIns="92075" tIns="46038" rIns="92075" bIns="46038">
              <a:spAutoFit/>
            </a:bodyPr>
            <a:lstStyle/>
            <a:p>
              <a:pPr defTabSz="762000">
                <a:lnSpc>
                  <a:spcPct val="100000"/>
                </a:lnSpc>
                <a:buClrTx/>
                <a:buSzTx/>
                <a:buFontTx/>
                <a:buNone/>
              </a:pPr>
              <a:r>
                <a:rPr lang="pt-BR" sz="2800">
                  <a:solidFill>
                    <a:schemeClr val="tx1"/>
                  </a:solidFill>
                </a:rPr>
                <a:t>Cabeçalho</a:t>
              </a:r>
            </a:p>
          </p:txBody>
        </p:sp>
        <p:sp>
          <p:nvSpPr>
            <p:cNvPr id="16" name="Rectangle 8"/>
            <p:cNvSpPr>
              <a:spLocks noChangeArrowheads="1"/>
            </p:cNvSpPr>
            <p:nvPr/>
          </p:nvSpPr>
          <p:spPr bwMode="auto">
            <a:xfrm>
              <a:off x="1070" y="1197"/>
              <a:ext cx="819" cy="327"/>
            </a:xfrm>
            <a:prstGeom prst="rect">
              <a:avLst/>
            </a:prstGeom>
            <a:noFill/>
            <a:ln w="9525">
              <a:noFill/>
              <a:miter lim="800000"/>
              <a:headEnd/>
              <a:tailEnd/>
            </a:ln>
          </p:spPr>
          <p:txBody>
            <a:bodyPr wrap="none" lIns="92075" tIns="46038" rIns="92075" bIns="46038">
              <a:spAutoFit/>
            </a:bodyPr>
            <a:lstStyle/>
            <a:p>
              <a:pPr defTabSz="762000">
                <a:lnSpc>
                  <a:spcPct val="100000"/>
                </a:lnSpc>
                <a:buClrTx/>
                <a:buSzTx/>
                <a:buFontTx/>
                <a:buNone/>
              </a:pPr>
              <a:r>
                <a:rPr lang="pt-BR" sz="2800">
                  <a:solidFill>
                    <a:schemeClr val="tx1"/>
                  </a:solidFill>
                </a:rPr>
                <a:t>5 bytes</a:t>
              </a:r>
            </a:p>
          </p:txBody>
        </p:sp>
        <p:sp>
          <p:nvSpPr>
            <p:cNvPr id="17" name="Rectangle 9"/>
            <p:cNvSpPr>
              <a:spLocks noChangeArrowheads="1"/>
            </p:cNvSpPr>
            <p:nvPr/>
          </p:nvSpPr>
          <p:spPr bwMode="auto">
            <a:xfrm>
              <a:off x="3085" y="1185"/>
              <a:ext cx="941" cy="327"/>
            </a:xfrm>
            <a:prstGeom prst="rect">
              <a:avLst/>
            </a:prstGeom>
            <a:noFill/>
            <a:ln w="9525">
              <a:noFill/>
              <a:miter lim="800000"/>
              <a:headEnd/>
              <a:tailEnd/>
            </a:ln>
          </p:spPr>
          <p:txBody>
            <a:bodyPr wrap="none" lIns="92075" tIns="46038" rIns="92075" bIns="46038">
              <a:spAutoFit/>
            </a:bodyPr>
            <a:lstStyle/>
            <a:p>
              <a:pPr defTabSz="762000">
                <a:lnSpc>
                  <a:spcPct val="100000"/>
                </a:lnSpc>
                <a:buClrTx/>
                <a:buSzTx/>
                <a:buFontTx/>
                <a:buNone/>
              </a:pPr>
              <a:r>
                <a:rPr lang="pt-BR" sz="2800">
                  <a:solidFill>
                    <a:schemeClr val="tx1"/>
                  </a:solidFill>
                </a:rPr>
                <a:t>48 bytes</a:t>
              </a:r>
            </a:p>
          </p:txBody>
        </p:sp>
      </p:grpSp>
      <p:sp>
        <p:nvSpPr>
          <p:cNvPr id="18" name="Rectângulo 17"/>
          <p:cNvSpPr/>
          <p:nvPr/>
        </p:nvSpPr>
        <p:spPr>
          <a:xfrm>
            <a:off x="971600" y="3284984"/>
            <a:ext cx="6336704" cy="2603790"/>
          </a:xfrm>
          <a:prstGeom prst="rect">
            <a:avLst/>
          </a:prstGeom>
        </p:spPr>
        <p:txBody>
          <a:bodyPr wrap="square">
            <a:spAutoFit/>
          </a:bodyPr>
          <a:lstStyle/>
          <a:p>
            <a:pPr marL="342900" indent="-342900" defTabSz="762000">
              <a:lnSpc>
                <a:spcPct val="100000"/>
              </a:lnSpc>
              <a:spcBef>
                <a:spcPct val="20000"/>
              </a:spcBef>
              <a:buClr>
                <a:srgbClr val="000000"/>
              </a:buClr>
              <a:buFont typeface="Wingdings" pitchFamily="2" charset="2"/>
              <a:buChar char="q"/>
            </a:pPr>
            <a:r>
              <a:rPr lang="pt-BR" sz="2400" dirty="0" smtClean="0">
                <a:solidFill>
                  <a:srgbClr val="000000"/>
                </a:solidFill>
              </a:rPr>
              <a:t>pacote pequeno</a:t>
            </a:r>
          </a:p>
          <a:p>
            <a:pPr marL="342900" indent="-342900" defTabSz="762000">
              <a:lnSpc>
                <a:spcPct val="100000"/>
              </a:lnSpc>
              <a:spcBef>
                <a:spcPct val="20000"/>
              </a:spcBef>
              <a:buClr>
                <a:srgbClr val="000000"/>
              </a:buClr>
              <a:buFont typeface="Wingdings" pitchFamily="2" charset="2"/>
              <a:buChar char="q"/>
            </a:pPr>
            <a:r>
              <a:rPr lang="pt-BR" sz="2400" dirty="0" smtClean="0">
                <a:solidFill>
                  <a:srgbClr val="000000"/>
                </a:solidFill>
              </a:rPr>
              <a:t>tamanho fixo - comutação eficiente por hardware</a:t>
            </a:r>
          </a:p>
          <a:p>
            <a:pPr marL="342900" indent="-342900" defTabSz="762000">
              <a:lnSpc>
                <a:spcPct val="100000"/>
              </a:lnSpc>
              <a:spcBef>
                <a:spcPct val="20000"/>
              </a:spcBef>
              <a:buClr>
                <a:srgbClr val="000000"/>
              </a:buClr>
              <a:buFont typeface="Wingdings" pitchFamily="2" charset="2"/>
              <a:buChar char="q"/>
            </a:pPr>
            <a:r>
              <a:rPr lang="pt-BR" sz="2400" dirty="0" smtClean="0">
                <a:solidFill>
                  <a:srgbClr val="000000"/>
                </a:solidFill>
              </a:rPr>
              <a:t>conexão virtual, permite a multiplexação assíncrona de pacotes</a:t>
            </a:r>
          </a:p>
          <a:p>
            <a:pPr marL="342900" indent="-342900" defTabSz="762000">
              <a:lnSpc>
                <a:spcPct val="100000"/>
              </a:lnSpc>
              <a:spcBef>
                <a:spcPct val="20000"/>
              </a:spcBef>
              <a:buClr>
                <a:srgbClr val="000000"/>
              </a:buClr>
              <a:buFont typeface="Wingdings" pitchFamily="2" charset="2"/>
              <a:buChar char="q"/>
            </a:pPr>
            <a:r>
              <a:rPr lang="pt-BR" sz="2400" dirty="0" smtClean="0">
                <a:solidFill>
                  <a:srgbClr val="000000"/>
                </a:solidFill>
              </a:rPr>
              <a:t>cabeçalho contém informação do circuito virtual</a:t>
            </a:r>
          </a:p>
          <a:p>
            <a:pPr marL="342900" indent="-342900" defTabSz="762000">
              <a:lnSpc>
                <a:spcPct val="100000"/>
              </a:lnSpc>
              <a:spcBef>
                <a:spcPct val="20000"/>
              </a:spcBef>
              <a:buClr>
                <a:srgbClr val="000000"/>
              </a:buClr>
            </a:pPr>
            <a:r>
              <a:rPr lang="pt-BR" sz="2400" dirty="0" smtClean="0">
                <a:solidFill>
                  <a:srgbClr val="000000"/>
                </a:solidFill>
              </a:rPr>
              <a:t>payload pode ser voz, vídeo, dados</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 CÉLULA ATM</a:t>
            </a:r>
            <a:endParaRPr lang="pt-PT" dirty="0"/>
          </a:p>
        </p:txBody>
      </p:sp>
      <p:sp>
        <p:nvSpPr>
          <p:cNvPr id="3" name="Marcador de Posição de Conteúdo 2"/>
          <p:cNvSpPr>
            <a:spLocks noGrp="1"/>
          </p:cNvSpPr>
          <p:nvPr>
            <p:ph sz="quarter" idx="1"/>
          </p:nvPr>
        </p:nvSpPr>
        <p:spPr/>
        <p:txBody>
          <a:bodyPr>
            <a:normAutofit fontScale="85000" lnSpcReduction="10000"/>
          </a:bodyPr>
          <a:lstStyle/>
          <a:p>
            <a:pPr>
              <a:buNone/>
            </a:pPr>
            <a:r>
              <a:rPr lang="pt-PT" dirty="0" smtClean="0"/>
              <a:t>– Velocidade de operação</a:t>
            </a:r>
          </a:p>
          <a:p>
            <a:pPr>
              <a:buNone/>
            </a:pPr>
            <a:r>
              <a:rPr lang="pt-PT" dirty="0" smtClean="0"/>
              <a:t>• Processamento do cabeçalho</a:t>
            </a:r>
          </a:p>
          <a:p>
            <a:pPr>
              <a:buNone/>
            </a:pPr>
            <a:r>
              <a:rPr lang="pt-PT" dirty="0" smtClean="0"/>
              <a:t>– Se o comprimento da célula for fixo, o tempo disponível para processar o</a:t>
            </a:r>
          </a:p>
          <a:p>
            <a:pPr>
              <a:buNone/>
            </a:pPr>
            <a:r>
              <a:rPr lang="pt-PT" dirty="0" smtClean="0"/>
              <a:t>cabeçalho é constante e conhecido (por exemplo, 2.7 </a:t>
            </a:r>
            <a:r>
              <a:rPr lang="en-US" dirty="0" smtClean="0"/>
              <a:t>μ</a:t>
            </a:r>
            <a:r>
              <a:rPr lang="pt-PT" dirty="0" smtClean="0"/>
              <a:t>s com células ATM com 53 octetos e transmissão a 155 Mbit/s)</a:t>
            </a:r>
          </a:p>
          <a:p>
            <a:pPr>
              <a:buNone/>
            </a:pPr>
            <a:r>
              <a:rPr lang="pt-PT" dirty="0" smtClean="0"/>
              <a:t>– Se o comprimento for variável, o tempo crítico de processamento é</a:t>
            </a:r>
          </a:p>
          <a:p>
            <a:pPr>
              <a:buNone/>
            </a:pPr>
            <a:r>
              <a:rPr lang="pt-PT" dirty="0" smtClean="0"/>
              <a:t>definido pela dimensão do pacote mais pequeno</a:t>
            </a:r>
          </a:p>
          <a:p>
            <a:pPr>
              <a:buNone/>
            </a:pPr>
            <a:r>
              <a:rPr lang="pt-PT" dirty="0" smtClean="0"/>
              <a:t>• Gestão de memória</a:t>
            </a:r>
          </a:p>
          <a:p>
            <a:pPr>
              <a:buNone/>
            </a:pPr>
            <a:r>
              <a:rPr lang="pt-PT" dirty="0" smtClean="0"/>
              <a:t>– A gestão de memória é simples se as células tiverem comprimento fixo</a:t>
            </a:r>
          </a:p>
          <a:p>
            <a:pPr>
              <a:buNone/>
            </a:pPr>
            <a:r>
              <a:rPr lang="pt-PT" dirty="0" smtClean="0"/>
              <a:t>(a memória é atribuída em unidades do mesmo tamanho)</a:t>
            </a:r>
          </a:p>
          <a:p>
            <a:pPr>
              <a:buNone/>
            </a:pPr>
            <a:r>
              <a:rPr lang="pt-PT" dirty="0" smtClean="0"/>
              <a:t>– A atribuição e gestão de blocos de memória é mais complexa com pacotes de comprimento variável</a:t>
            </a:r>
          </a:p>
          <a:p>
            <a:pPr>
              <a:buNone/>
            </a:pPr>
            <a:endParaRPr lang="pt-PT"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1066130"/>
          </a:xfrm>
        </p:spPr>
        <p:txBody>
          <a:bodyPr/>
          <a:lstStyle/>
          <a:p>
            <a:r>
              <a:rPr lang="pt-BR" b="1" dirty="0" smtClean="0">
                <a:solidFill>
                  <a:srgbClr val="FF0000"/>
                </a:solidFill>
                <a:latin typeface="Arial" pitchFamily="34" charset="0"/>
                <a:cs typeface="Arial" pitchFamily="34" charset="0"/>
              </a:rPr>
              <a:t>Nomenclatura das Interfaces</a:t>
            </a:r>
            <a:endParaRPr lang="pt-PT" b="1" dirty="0">
              <a:solidFill>
                <a:srgbClr val="FF0000"/>
              </a:solidFill>
              <a:latin typeface="Arial" pitchFamily="34" charset="0"/>
              <a:cs typeface="Arial" pitchFamily="34" charset="0"/>
            </a:endParaRPr>
          </a:p>
        </p:txBody>
      </p:sp>
      <p:pic>
        <p:nvPicPr>
          <p:cNvPr id="4102" name="Picture 6"/>
          <p:cNvPicPr>
            <a:picLocks noGrp="1" noChangeAspect="1" noChangeArrowheads="1"/>
          </p:cNvPicPr>
          <p:nvPr>
            <p:ph sz="quarter" idx="1"/>
          </p:nvPr>
        </p:nvPicPr>
        <p:blipFill>
          <a:blip r:embed="rId3" cstate="print"/>
          <a:srcRect/>
          <a:stretch>
            <a:fillRect/>
          </a:stretch>
        </p:blipFill>
        <p:spPr bwMode="auto">
          <a:xfrm>
            <a:off x="1043608" y="1484784"/>
            <a:ext cx="7200799" cy="4608511"/>
          </a:xfrm>
          <a:prstGeom prst="rect">
            <a:avLst/>
          </a:prstGeom>
          <a:noFill/>
          <a:ln w="9525">
            <a:noFill/>
            <a:miter lim="800000"/>
            <a:headEnd/>
            <a:tailEnd/>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Nomenclatura das Interfaces</a:t>
            </a:r>
            <a:endParaRPr lang="pt-PT" dirty="0"/>
          </a:p>
        </p:txBody>
      </p:sp>
      <p:pic>
        <p:nvPicPr>
          <p:cNvPr id="5122" name="Picture 2"/>
          <p:cNvPicPr>
            <a:picLocks noGrp="1" noChangeAspect="1" noChangeArrowheads="1"/>
          </p:cNvPicPr>
          <p:nvPr>
            <p:ph sz="quarter" idx="1"/>
          </p:nvPr>
        </p:nvPicPr>
        <p:blipFill>
          <a:blip r:embed="rId3" cstate="print"/>
          <a:srcRect/>
          <a:stretch>
            <a:fillRect/>
          </a:stretch>
        </p:blipFill>
        <p:spPr bwMode="auto">
          <a:xfrm>
            <a:off x="683568" y="1556792"/>
            <a:ext cx="7992888" cy="4680520"/>
          </a:xfrm>
          <a:prstGeom prst="rect">
            <a:avLst/>
          </a:prstGeom>
          <a:noFill/>
          <a:ln w="9525">
            <a:noFill/>
            <a:miter lim="800000"/>
            <a:headEnd/>
            <a:tailEnd/>
          </a:ln>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11560" y="274638"/>
            <a:ext cx="8075240" cy="1143000"/>
          </a:xfrm>
        </p:spPr>
        <p:txBody>
          <a:bodyPr>
            <a:normAutofit/>
          </a:bodyPr>
          <a:lstStyle/>
          <a:p>
            <a:r>
              <a:rPr lang="pt-BR" sz="3200" b="1" dirty="0" smtClean="0">
                <a:solidFill>
                  <a:srgbClr val="FF0000"/>
                </a:solidFill>
                <a:latin typeface="Arial" pitchFamily="34" charset="0"/>
                <a:cs typeface="Arial" pitchFamily="34" charset="0"/>
              </a:rPr>
              <a:t>O protocolo ATM – modelo de referência</a:t>
            </a:r>
            <a:endParaRPr lang="pt-PT" sz="3200" b="1" dirty="0">
              <a:solidFill>
                <a:srgbClr val="FF0000"/>
              </a:solidFill>
              <a:latin typeface="Arial" pitchFamily="34" charset="0"/>
              <a:cs typeface="Arial" pitchFamily="34" charset="0"/>
            </a:endParaRPr>
          </a:p>
        </p:txBody>
      </p:sp>
      <p:pic>
        <p:nvPicPr>
          <p:cNvPr id="6146" name="Picture 2"/>
          <p:cNvPicPr>
            <a:picLocks noGrp="1" noChangeAspect="1" noChangeArrowheads="1"/>
          </p:cNvPicPr>
          <p:nvPr>
            <p:ph sz="quarter" idx="1"/>
          </p:nvPr>
        </p:nvPicPr>
        <p:blipFill>
          <a:blip r:embed="rId3" cstate="print"/>
          <a:srcRect/>
          <a:stretch>
            <a:fillRect/>
          </a:stretch>
        </p:blipFill>
        <p:spPr bwMode="auto">
          <a:xfrm>
            <a:off x="827584" y="1484784"/>
            <a:ext cx="7560840" cy="4752528"/>
          </a:xfrm>
          <a:prstGeom prst="rect">
            <a:avLst/>
          </a:prstGeom>
          <a:noFill/>
          <a:ln w="9525">
            <a:noFill/>
            <a:miter lim="800000"/>
            <a:headEnd/>
            <a:tailEnd/>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200" b="1" dirty="0" smtClean="0">
                <a:solidFill>
                  <a:srgbClr val="FF0000"/>
                </a:solidFill>
                <a:latin typeface="Arial" pitchFamily="34" charset="0"/>
                <a:cs typeface="Arial" pitchFamily="34" charset="0"/>
              </a:rPr>
              <a:t>O modelo de protocolos ATM na rede</a:t>
            </a:r>
            <a:endParaRPr lang="pt-PT" sz="3200" b="1" dirty="0">
              <a:solidFill>
                <a:srgbClr val="FF0000"/>
              </a:solidFill>
              <a:latin typeface="Arial" pitchFamily="34" charset="0"/>
              <a:cs typeface="Arial" pitchFamily="34" charset="0"/>
            </a:endParaRPr>
          </a:p>
        </p:txBody>
      </p:sp>
      <p:pic>
        <p:nvPicPr>
          <p:cNvPr id="7170" name="Picture 2"/>
          <p:cNvPicPr>
            <a:picLocks noGrp="1" noChangeAspect="1" noChangeArrowheads="1"/>
          </p:cNvPicPr>
          <p:nvPr>
            <p:ph sz="quarter" idx="1"/>
          </p:nvPr>
        </p:nvPicPr>
        <p:blipFill>
          <a:blip r:embed="rId3" cstate="print"/>
          <a:srcRect/>
          <a:stretch>
            <a:fillRect/>
          </a:stretch>
        </p:blipFill>
        <p:spPr bwMode="auto">
          <a:xfrm>
            <a:off x="755576" y="1556792"/>
            <a:ext cx="7632848" cy="4752527"/>
          </a:xfrm>
          <a:prstGeom prst="rect">
            <a:avLst/>
          </a:prstGeom>
          <a:noFill/>
          <a:ln w="9525">
            <a:noFill/>
            <a:miter lim="800000"/>
            <a:headEnd/>
            <a:tailEnd/>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n-GB" b="1" dirty="0" smtClean="0">
                <a:solidFill>
                  <a:srgbClr val="FF0000"/>
                </a:solidFill>
                <a:latin typeface="Arial" pitchFamily="34" charset="0"/>
                <a:cs typeface="Arial" pitchFamily="34" charset="0"/>
              </a:rPr>
              <a:t>O </a:t>
            </a:r>
            <a:r>
              <a:rPr lang="en-GB" b="1" dirty="0" err="1" smtClean="0">
                <a:solidFill>
                  <a:srgbClr val="FF0000"/>
                </a:solidFill>
                <a:latin typeface="Arial" pitchFamily="34" charset="0"/>
                <a:cs typeface="Arial" pitchFamily="34" charset="0"/>
              </a:rPr>
              <a:t>Modelo</a:t>
            </a:r>
            <a:r>
              <a:rPr lang="en-GB" b="1" dirty="0" smtClean="0">
                <a:solidFill>
                  <a:srgbClr val="FF0000"/>
                </a:solidFill>
                <a:latin typeface="Arial" pitchFamily="34" charset="0"/>
                <a:cs typeface="Arial" pitchFamily="34" charset="0"/>
              </a:rPr>
              <a:t> de </a:t>
            </a:r>
            <a:r>
              <a:rPr lang="en-GB" b="1" dirty="0" err="1" smtClean="0">
                <a:solidFill>
                  <a:srgbClr val="FF0000"/>
                </a:solidFill>
                <a:latin typeface="Arial" pitchFamily="34" charset="0"/>
                <a:cs typeface="Arial" pitchFamily="34" charset="0"/>
              </a:rPr>
              <a:t>Referência</a:t>
            </a:r>
            <a:r>
              <a:rPr lang="en-GB" b="1" dirty="0" smtClean="0">
                <a:solidFill>
                  <a:srgbClr val="FF0000"/>
                </a:solidFill>
                <a:latin typeface="Arial" pitchFamily="34" charset="0"/>
                <a:cs typeface="Arial" pitchFamily="34" charset="0"/>
              </a:rPr>
              <a:t> do ATM</a:t>
            </a:r>
            <a:endParaRPr lang="pt-PT" b="1" dirty="0">
              <a:solidFill>
                <a:srgbClr val="FF0000"/>
              </a:solidFill>
              <a:latin typeface="Arial" pitchFamily="34" charset="0"/>
              <a:cs typeface="Arial" pitchFamily="34" charset="0"/>
            </a:endParaRPr>
          </a:p>
        </p:txBody>
      </p:sp>
      <p:pic>
        <p:nvPicPr>
          <p:cNvPr id="8194" name="Picture 2"/>
          <p:cNvPicPr>
            <a:picLocks noGrp="1" noChangeAspect="1" noChangeArrowheads="1"/>
          </p:cNvPicPr>
          <p:nvPr>
            <p:ph sz="quarter" idx="1"/>
          </p:nvPr>
        </p:nvPicPr>
        <p:blipFill>
          <a:blip r:embed="rId2" cstate="print"/>
          <a:srcRect/>
          <a:stretch>
            <a:fillRect/>
          </a:stretch>
        </p:blipFill>
        <p:spPr bwMode="auto">
          <a:xfrm>
            <a:off x="827584" y="1556792"/>
            <a:ext cx="7632848" cy="4824536"/>
          </a:xfrm>
          <a:prstGeom prst="rect">
            <a:avLst/>
          </a:prstGeom>
          <a:noFill/>
          <a:ln w="9525">
            <a:noFill/>
            <a:miter lim="800000"/>
            <a:headEnd/>
            <a:tailEnd/>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Camada Física - Sub camadas</a:t>
            </a:r>
            <a:endParaRPr lang="pt-PT" b="1" dirty="0">
              <a:solidFill>
                <a:srgbClr val="FF0000"/>
              </a:solidFill>
              <a:latin typeface="Arial" pitchFamily="34" charset="0"/>
              <a:cs typeface="Arial" pitchFamily="34" charset="0"/>
            </a:endParaRPr>
          </a:p>
        </p:txBody>
      </p:sp>
      <p:pic>
        <p:nvPicPr>
          <p:cNvPr id="9218" name="Picture 2"/>
          <p:cNvPicPr>
            <a:picLocks noGrp="1" noChangeAspect="1" noChangeArrowheads="1"/>
          </p:cNvPicPr>
          <p:nvPr>
            <p:ph sz="quarter" idx="1"/>
          </p:nvPr>
        </p:nvPicPr>
        <p:blipFill>
          <a:blip r:embed="rId3" cstate="print"/>
          <a:srcRect/>
          <a:stretch>
            <a:fillRect/>
          </a:stretch>
        </p:blipFill>
        <p:spPr bwMode="auto">
          <a:xfrm>
            <a:off x="683568" y="1556792"/>
            <a:ext cx="8136903" cy="4680519"/>
          </a:xfrm>
          <a:prstGeom prst="rect">
            <a:avLst/>
          </a:prstGeom>
          <a:noFill/>
          <a:ln w="9525">
            <a:noFill/>
            <a:miter lim="800000"/>
            <a:headEnd/>
            <a:tailEnd/>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GB" sz="2800" b="1" dirty="0" smtClean="0">
                <a:solidFill>
                  <a:srgbClr val="FF0000"/>
                </a:solidFill>
                <a:latin typeface="Arial" pitchFamily="34" charset="0"/>
                <a:cs typeface="Arial" pitchFamily="34" charset="0"/>
              </a:rPr>
              <a:t>Sub </a:t>
            </a:r>
            <a:r>
              <a:rPr lang="en-GB" sz="2800" b="1" dirty="0" err="1" smtClean="0">
                <a:solidFill>
                  <a:srgbClr val="FF0000"/>
                </a:solidFill>
                <a:latin typeface="Arial" pitchFamily="34" charset="0"/>
                <a:cs typeface="Arial" pitchFamily="34" charset="0"/>
              </a:rPr>
              <a:t>Camada</a:t>
            </a:r>
            <a:r>
              <a:rPr lang="en-GB" sz="2800" b="1" dirty="0" smtClean="0">
                <a:solidFill>
                  <a:srgbClr val="FF0000"/>
                </a:solidFill>
                <a:latin typeface="Arial" pitchFamily="34" charset="0"/>
                <a:cs typeface="Arial" pitchFamily="34" charset="0"/>
              </a:rPr>
              <a:t> PMD – Interfaces </a:t>
            </a:r>
            <a:r>
              <a:rPr lang="en-GB" sz="2800" b="1" dirty="0" err="1" smtClean="0">
                <a:solidFill>
                  <a:srgbClr val="FF0000"/>
                </a:solidFill>
                <a:latin typeface="Arial" pitchFamily="34" charset="0"/>
                <a:cs typeface="Arial" pitchFamily="34" charset="0"/>
              </a:rPr>
              <a:t>Suportadas</a:t>
            </a:r>
            <a:endParaRPr lang="pt-PT" sz="2800" dirty="0"/>
          </a:p>
        </p:txBody>
      </p:sp>
      <p:sp>
        <p:nvSpPr>
          <p:cNvPr id="3" name="Marcador de Posição de Conteúdo 2"/>
          <p:cNvSpPr>
            <a:spLocks noGrp="1"/>
          </p:cNvSpPr>
          <p:nvPr>
            <p:ph sz="quarter" idx="1"/>
          </p:nvPr>
        </p:nvSpPr>
        <p:spPr/>
        <p:txBody>
          <a:bodyPr/>
          <a:lstStyle/>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endParaRPr lang="en-GB" sz="3600" dirty="0" smtClean="0"/>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3600" dirty="0" smtClean="0"/>
              <a:t>SDH/SONET</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3600" dirty="0" smtClean="0"/>
              <a:t>PDH</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3600" dirty="0" smtClean="0"/>
              <a:t>Interface </a:t>
            </a:r>
            <a:r>
              <a:rPr lang="en-GB" sz="3600" dirty="0" err="1" smtClean="0"/>
              <a:t>baseada</a:t>
            </a:r>
            <a:r>
              <a:rPr lang="en-GB" sz="3600" dirty="0" smtClean="0"/>
              <a:t> no FDDI</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3600" dirty="0" err="1" smtClean="0"/>
              <a:t>Baseado</a:t>
            </a:r>
            <a:r>
              <a:rPr lang="en-GB" sz="3600" dirty="0" smtClean="0"/>
              <a:t> </a:t>
            </a:r>
            <a:r>
              <a:rPr lang="en-GB" sz="3600" dirty="0" err="1" smtClean="0"/>
              <a:t>em</a:t>
            </a:r>
            <a:r>
              <a:rPr lang="en-GB" sz="3600" dirty="0" smtClean="0"/>
              <a:t> </a:t>
            </a:r>
            <a:r>
              <a:rPr lang="en-GB" sz="3600" dirty="0" err="1" smtClean="0"/>
              <a:t>células</a:t>
            </a:r>
            <a:endParaRPr lang="en-GB" sz="3600" dirty="0" smtClean="0"/>
          </a:p>
          <a:p>
            <a:pPr>
              <a:buNone/>
            </a:pPr>
            <a:endParaRPr lang="pt-PT"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n-GB" b="1" dirty="0" smtClean="0">
                <a:solidFill>
                  <a:srgbClr val="FF0000"/>
                </a:solidFill>
                <a:latin typeface="Arial" pitchFamily="34" charset="0"/>
                <a:cs typeface="Arial" pitchFamily="34" charset="0"/>
              </a:rPr>
              <a:t>Sub </a:t>
            </a:r>
            <a:r>
              <a:rPr lang="en-GB" b="1" dirty="0" err="1" smtClean="0">
                <a:solidFill>
                  <a:srgbClr val="FF0000"/>
                </a:solidFill>
                <a:latin typeface="Arial" pitchFamily="34" charset="0"/>
                <a:cs typeface="Arial" pitchFamily="34" charset="0"/>
              </a:rPr>
              <a:t>Camada</a:t>
            </a:r>
            <a:r>
              <a:rPr lang="en-GB" b="1" dirty="0" smtClean="0">
                <a:solidFill>
                  <a:srgbClr val="FF0000"/>
                </a:solidFill>
                <a:latin typeface="Arial" pitchFamily="34" charset="0"/>
                <a:cs typeface="Arial" pitchFamily="34" charset="0"/>
              </a:rPr>
              <a:t> PMD – Interfaces </a:t>
            </a:r>
            <a:r>
              <a:rPr lang="en-GB" b="1" dirty="0" err="1" smtClean="0">
                <a:solidFill>
                  <a:srgbClr val="FF0000"/>
                </a:solidFill>
                <a:latin typeface="Arial" pitchFamily="34" charset="0"/>
                <a:cs typeface="Arial" pitchFamily="34" charset="0"/>
              </a:rPr>
              <a:t>Suportadas</a:t>
            </a:r>
            <a:endParaRPr lang="pt-PT" b="1" dirty="0">
              <a:solidFill>
                <a:srgbClr val="FF0000"/>
              </a:solidFill>
              <a:latin typeface="Arial" pitchFamily="34" charset="0"/>
              <a:cs typeface="Arial" pitchFamily="34" charset="0"/>
            </a:endParaRPr>
          </a:p>
        </p:txBody>
      </p:sp>
      <p:pic>
        <p:nvPicPr>
          <p:cNvPr id="1027" name="Picture 3"/>
          <p:cNvPicPr>
            <a:picLocks noGrp="1" noChangeAspect="1" noChangeArrowheads="1"/>
          </p:cNvPicPr>
          <p:nvPr>
            <p:ph sz="quarter" idx="1"/>
          </p:nvPr>
        </p:nvPicPr>
        <p:blipFill>
          <a:blip r:embed="rId2" cstate="print"/>
          <a:srcRect/>
          <a:stretch>
            <a:fillRect/>
          </a:stretch>
        </p:blipFill>
        <p:spPr bwMode="auto">
          <a:xfrm>
            <a:off x="755576" y="1340768"/>
            <a:ext cx="7920880" cy="5112568"/>
          </a:xfrm>
          <a:prstGeom prst="rect">
            <a:avLst/>
          </a:prstGeom>
          <a:noFill/>
          <a:ln w="9525">
            <a:noFill/>
            <a:miter lim="800000"/>
            <a:headEnd/>
            <a:tailEnd/>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 Sub Camada TC</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a:xfrm>
            <a:off x="914400" y="1447800"/>
            <a:ext cx="7772400" cy="2269232"/>
          </a:xfrm>
        </p:spPr>
        <p:txBody>
          <a:bodyPr/>
          <a:lstStyle/>
          <a:p>
            <a:r>
              <a:rPr lang="pt-BR" dirty="0" smtClean="0"/>
              <a:t>É  responsável por oferecer um conjunto de serviços à camada ATM, realizando funções como:</a:t>
            </a:r>
          </a:p>
          <a:p>
            <a:pPr lvl="1"/>
            <a:r>
              <a:rPr lang="pt-BR" dirty="0" smtClean="0"/>
              <a:t>Controle de erros no cabeçalho;</a:t>
            </a:r>
          </a:p>
          <a:p>
            <a:pPr lvl="1"/>
            <a:r>
              <a:rPr lang="pt-BR" dirty="0" smtClean="0"/>
              <a:t>Delineamento de Células;</a:t>
            </a:r>
          </a:p>
          <a:p>
            <a:pPr lvl="1"/>
            <a:r>
              <a:rPr lang="pt-BR" dirty="0" smtClean="0"/>
              <a:t>Desacoplamento da Taxa de transmissão.</a:t>
            </a:r>
          </a:p>
          <a:p>
            <a:pPr>
              <a:buNone/>
            </a:pPr>
            <a:endParaRPr lang="pt-PT" dirty="0"/>
          </a:p>
        </p:txBody>
      </p:sp>
      <p:pic>
        <p:nvPicPr>
          <p:cNvPr id="2050" name="Picture 2"/>
          <p:cNvPicPr>
            <a:picLocks noChangeAspect="1" noChangeArrowheads="1"/>
          </p:cNvPicPr>
          <p:nvPr/>
        </p:nvPicPr>
        <p:blipFill>
          <a:blip r:embed="rId3" cstate="print"/>
          <a:srcRect/>
          <a:stretch>
            <a:fillRect/>
          </a:stretch>
        </p:blipFill>
        <p:spPr bwMode="auto">
          <a:xfrm>
            <a:off x="1043608" y="3717032"/>
            <a:ext cx="7056784" cy="2374007"/>
          </a:xfrm>
          <a:prstGeom prst="rect">
            <a:avLst/>
          </a:prstGeom>
          <a:noFill/>
          <a:ln w="9525">
            <a:noFill/>
            <a:miter lim="800000"/>
            <a:headEnd/>
            <a:tailEnd/>
          </a:ln>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 Sub Camada TC</a:t>
            </a:r>
            <a:endParaRPr lang="pt-PT" dirty="0"/>
          </a:p>
        </p:txBody>
      </p:sp>
      <p:sp>
        <p:nvSpPr>
          <p:cNvPr id="3" name="Marcador de Posição de Conteúdo 2"/>
          <p:cNvSpPr>
            <a:spLocks noGrp="1"/>
          </p:cNvSpPr>
          <p:nvPr>
            <p:ph sz="quarter" idx="1"/>
          </p:nvPr>
        </p:nvSpPr>
        <p:spPr/>
        <p:txBody>
          <a:bodyPr/>
          <a:lstStyle/>
          <a:p>
            <a:pPr>
              <a:buNone/>
            </a:pPr>
            <a:r>
              <a:rPr lang="pt-BR" sz="2800" dirty="0" smtClean="0"/>
              <a:t>Delineamento de Célula</a:t>
            </a:r>
            <a:endParaRPr lang="pt-PT" dirty="0"/>
          </a:p>
        </p:txBody>
      </p:sp>
      <p:pic>
        <p:nvPicPr>
          <p:cNvPr id="3074" name="Picture 2"/>
          <p:cNvPicPr>
            <a:picLocks noChangeAspect="1" noChangeArrowheads="1"/>
          </p:cNvPicPr>
          <p:nvPr/>
        </p:nvPicPr>
        <p:blipFill>
          <a:blip r:embed="rId3" cstate="print"/>
          <a:srcRect/>
          <a:stretch>
            <a:fillRect/>
          </a:stretch>
        </p:blipFill>
        <p:spPr bwMode="auto">
          <a:xfrm>
            <a:off x="1547664" y="1916832"/>
            <a:ext cx="6984776" cy="4032448"/>
          </a:xfrm>
          <a:prstGeom prst="rect">
            <a:avLst/>
          </a:prstGeom>
          <a:noFill/>
          <a:ln w="9525">
            <a:noFill/>
            <a:miter lim="800000"/>
            <a:headEnd/>
            <a:tailEnd/>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 Sub Camada TC</a:t>
            </a:r>
            <a:endParaRPr lang="pt-PT" dirty="0"/>
          </a:p>
        </p:txBody>
      </p:sp>
      <p:sp>
        <p:nvSpPr>
          <p:cNvPr id="3" name="Marcador de Posição de Conteúdo 2"/>
          <p:cNvSpPr>
            <a:spLocks noGrp="1"/>
          </p:cNvSpPr>
          <p:nvPr>
            <p:ph sz="quarter" idx="1"/>
          </p:nvPr>
        </p:nvSpPr>
        <p:spPr>
          <a:xfrm>
            <a:off x="914400" y="1447800"/>
            <a:ext cx="7772400" cy="2701280"/>
          </a:xfrm>
        </p:spPr>
        <p:txBody>
          <a:bodyPr>
            <a:normAutofit lnSpcReduction="10000"/>
          </a:bodyPr>
          <a:lstStyle/>
          <a:p>
            <a:pPr marL="342900" indent="-342900">
              <a:lnSpc>
                <a:spcPct val="100000"/>
              </a:lnSpc>
              <a:spcBef>
                <a:spcPct val="20000"/>
              </a:spcBef>
              <a:buClr>
                <a:srgbClr val="000000"/>
              </a:buClr>
            </a:pPr>
            <a:r>
              <a:rPr lang="pt-BR" dirty="0" smtClean="0">
                <a:solidFill>
                  <a:srgbClr val="000000"/>
                </a:solidFill>
              </a:rPr>
              <a:t>Inserção de células vazias</a:t>
            </a:r>
          </a:p>
          <a:p>
            <a:pPr marL="742950" lvl="1" indent="-285750">
              <a:lnSpc>
                <a:spcPct val="100000"/>
              </a:lnSpc>
              <a:spcBef>
                <a:spcPct val="20000"/>
              </a:spcBef>
              <a:buClr>
                <a:srgbClr val="000000"/>
              </a:buClr>
            </a:pPr>
            <a:r>
              <a:rPr lang="pt-BR" dirty="0" smtClean="0">
                <a:solidFill>
                  <a:srgbClr val="000000"/>
                </a:solidFill>
              </a:rPr>
              <a:t>Realizada quando não há células válidas a transmitir , para que seja mantido o sincronismo.</a:t>
            </a:r>
          </a:p>
          <a:p>
            <a:pPr marL="742950" lvl="1" indent="-285750">
              <a:lnSpc>
                <a:spcPct val="100000"/>
              </a:lnSpc>
              <a:spcBef>
                <a:spcPct val="20000"/>
              </a:spcBef>
              <a:buClr>
                <a:srgbClr val="000000"/>
              </a:buClr>
            </a:pPr>
            <a:r>
              <a:rPr lang="pt-BR" dirty="0" smtClean="0">
                <a:solidFill>
                  <a:srgbClr val="000000"/>
                </a:solidFill>
              </a:rPr>
              <a:t>Nas células vazias , o HEC é calculado , permitindo um correto delineamento das mesmas.</a:t>
            </a:r>
          </a:p>
          <a:p>
            <a:pPr marL="742950" lvl="1" indent="-285750">
              <a:lnSpc>
                <a:spcPct val="100000"/>
              </a:lnSpc>
              <a:spcBef>
                <a:spcPct val="20000"/>
              </a:spcBef>
              <a:buClr>
                <a:srgbClr val="000000"/>
              </a:buClr>
            </a:pPr>
            <a:r>
              <a:rPr lang="pt-BR" dirty="0" smtClean="0">
                <a:solidFill>
                  <a:srgbClr val="000000"/>
                </a:solidFill>
              </a:rPr>
              <a:t>O conteúdo do campo de informação é 01101010 repetido 48 vezes </a:t>
            </a:r>
          </a:p>
          <a:p>
            <a:pPr>
              <a:buNone/>
            </a:pPr>
            <a:endParaRPr lang="pt-PT" dirty="0"/>
          </a:p>
        </p:txBody>
      </p:sp>
      <p:grpSp>
        <p:nvGrpSpPr>
          <p:cNvPr id="4" name="Group 4"/>
          <p:cNvGrpSpPr>
            <a:grpSpLocks/>
          </p:cNvGrpSpPr>
          <p:nvPr/>
        </p:nvGrpSpPr>
        <p:grpSpPr bwMode="auto">
          <a:xfrm>
            <a:off x="755576" y="4293096"/>
            <a:ext cx="7823200" cy="1752600"/>
            <a:chOff x="513" y="2558"/>
            <a:chExt cx="5072" cy="1104"/>
          </a:xfrm>
        </p:grpSpPr>
        <p:sp>
          <p:nvSpPr>
            <p:cNvPr id="5" name="Rectangle 5"/>
            <p:cNvSpPr>
              <a:spLocks noChangeArrowheads="1"/>
            </p:cNvSpPr>
            <p:nvPr/>
          </p:nvSpPr>
          <p:spPr bwMode="auto">
            <a:xfrm>
              <a:off x="513" y="2558"/>
              <a:ext cx="5072" cy="1104"/>
            </a:xfrm>
            <a:prstGeom prst="rect">
              <a:avLst/>
            </a:prstGeom>
            <a:solidFill>
              <a:srgbClr val="FFCCCC"/>
            </a:solidFill>
            <a:ln w="12700">
              <a:solidFill>
                <a:schemeClr val="tx1"/>
              </a:solidFill>
              <a:miter lim="800000"/>
              <a:headEnd/>
              <a:tailEnd/>
            </a:ln>
            <a:effectLst>
              <a:outerShdw dist="107763" dir="2700000" algn="ctr" rotWithShape="0">
                <a:schemeClr val="bg2"/>
              </a:outerShdw>
            </a:effectLst>
          </p:spPr>
          <p:txBody>
            <a:bodyPr wrap="none" anchor="ctr"/>
            <a:lstStyle/>
            <a:p>
              <a:pPr>
                <a:defRPr/>
              </a:pPr>
              <a:endParaRPr lang="pt-BR"/>
            </a:p>
          </p:txBody>
        </p:sp>
        <p:sp>
          <p:nvSpPr>
            <p:cNvPr id="6" name="Rectangle 6"/>
            <p:cNvSpPr>
              <a:spLocks noChangeArrowheads="1"/>
            </p:cNvSpPr>
            <p:nvPr/>
          </p:nvSpPr>
          <p:spPr bwMode="auto">
            <a:xfrm>
              <a:off x="545" y="2940"/>
              <a:ext cx="3198" cy="410"/>
            </a:xfrm>
            <a:prstGeom prst="rect">
              <a:avLst/>
            </a:prstGeom>
            <a:solidFill>
              <a:srgbClr val="FFCC00"/>
            </a:solidFill>
            <a:ln w="12700">
              <a:solidFill>
                <a:schemeClr val="tx2"/>
              </a:solidFill>
              <a:miter lim="800000"/>
              <a:headEnd/>
              <a:tailEnd/>
            </a:ln>
          </p:spPr>
          <p:txBody>
            <a:bodyPr wrap="none" anchor="ctr"/>
            <a:lstStyle/>
            <a:p>
              <a:endParaRPr lang="pt-BR"/>
            </a:p>
          </p:txBody>
        </p:sp>
        <p:sp>
          <p:nvSpPr>
            <p:cNvPr id="7" name="Rectangle 7"/>
            <p:cNvSpPr>
              <a:spLocks noChangeArrowheads="1"/>
            </p:cNvSpPr>
            <p:nvPr/>
          </p:nvSpPr>
          <p:spPr bwMode="auto">
            <a:xfrm>
              <a:off x="634" y="2589"/>
              <a:ext cx="461" cy="212"/>
            </a:xfrm>
            <a:prstGeom prst="rect">
              <a:avLst/>
            </a:prstGeom>
            <a:noFill/>
            <a:ln w="9525">
              <a:noFill/>
              <a:miter lim="800000"/>
              <a:headEnd/>
              <a:tailEnd/>
            </a:ln>
          </p:spPr>
          <p:txBody>
            <a:bodyPr wrap="none" lIns="92075" tIns="46038" rIns="92075" bIns="46038">
              <a:spAutoFit/>
            </a:bodyPr>
            <a:lstStyle/>
            <a:p>
              <a:pPr defTabSz="762000" eaLnBrk="1" hangingPunct="1">
                <a:lnSpc>
                  <a:spcPct val="100000"/>
                </a:lnSpc>
                <a:buClrTx/>
                <a:buSzTx/>
                <a:buFontTx/>
                <a:buNone/>
              </a:pPr>
              <a:r>
                <a:rPr lang="pt-BR" sz="1600" b="1" i="1">
                  <a:solidFill>
                    <a:schemeClr val="tx1"/>
                  </a:solidFill>
                </a:rPr>
                <a:t>Byte 1</a:t>
              </a:r>
            </a:p>
          </p:txBody>
        </p:sp>
        <p:sp>
          <p:nvSpPr>
            <p:cNvPr id="8" name="Rectangle 8"/>
            <p:cNvSpPr>
              <a:spLocks noChangeArrowheads="1"/>
            </p:cNvSpPr>
            <p:nvPr/>
          </p:nvSpPr>
          <p:spPr bwMode="auto">
            <a:xfrm>
              <a:off x="1947" y="2589"/>
              <a:ext cx="460" cy="212"/>
            </a:xfrm>
            <a:prstGeom prst="rect">
              <a:avLst/>
            </a:prstGeom>
            <a:noFill/>
            <a:ln w="9525">
              <a:noFill/>
              <a:miter lim="800000"/>
              <a:headEnd/>
              <a:tailEnd/>
            </a:ln>
          </p:spPr>
          <p:txBody>
            <a:bodyPr wrap="none" lIns="92075" tIns="46038" rIns="92075" bIns="46038">
              <a:spAutoFit/>
            </a:bodyPr>
            <a:lstStyle/>
            <a:p>
              <a:pPr defTabSz="762000" eaLnBrk="1" hangingPunct="1">
                <a:lnSpc>
                  <a:spcPct val="100000"/>
                </a:lnSpc>
                <a:buClrTx/>
                <a:buSzTx/>
                <a:buFontTx/>
                <a:buNone/>
              </a:pPr>
              <a:r>
                <a:rPr lang="pt-BR" sz="1600" b="1" i="1">
                  <a:solidFill>
                    <a:schemeClr val="tx1"/>
                  </a:solidFill>
                </a:rPr>
                <a:t>Byte 3</a:t>
              </a:r>
            </a:p>
          </p:txBody>
        </p:sp>
        <p:sp>
          <p:nvSpPr>
            <p:cNvPr id="9" name="Rectangle 9"/>
            <p:cNvSpPr>
              <a:spLocks noChangeArrowheads="1"/>
            </p:cNvSpPr>
            <p:nvPr/>
          </p:nvSpPr>
          <p:spPr bwMode="auto">
            <a:xfrm>
              <a:off x="2558" y="2589"/>
              <a:ext cx="460" cy="212"/>
            </a:xfrm>
            <a:prstGeom prst="rect">
              <a:avLst/>
            </a:prstGeom>
            <a:noFill/>
            <a:ln w="9525">
              <a:noFill/>
              <a:miter lim="800000"/>
              <a:headEnd/>
              <a:tailEnd/>
            </a:ln>
          </p:spPr>
          <p:txBody>
            <a:bodyPr wrap="none" lIns="92075" tIns="46038" rIns="92075" bIns="46038">
              <a:spAutoFit/>
            </a:bodyPr>
            <a:lstStyle/>
            <a:p>
              <a:pPr defTabSz="762000" eaLnBrk="1" hangingPunct="1">
                <a:lnSpc>
                  <a:spcPct val="100000"/>
                </a:lnSpc>
                <a:buClrTx/>
                <a:buSzTx/>
                <a:buFontTx/>
                <a:buNone/>
              </a:pPr>
              <a:r>
                <a:rPr lang="pt-BR" sz="1600" b="1" i="1">
                  <a:solidFill>
                    <a:schemeClr val="tx1"/>
                  </a:solidFill>
                </a:rPr>
                <a:t>Byte 4</a:t>
              </a:r>
            </a:p>
          </p:txBody>
        </p:sp>
        <p:sp>
          <p:nvSpPr>
            <p:cNvPr id="10" name="Rectangle 10"/>
            <p:cNvSpPr>
              <a:spLocks noChangeArrowheads="1"/>
            </p:cNvSpPr>
            <p:nvPr/>
          </p:nvSpPr>
          <p:spPr bwMode="auto">
            <a:xfrm>
              <a:off x="3210" y="2589"/>
              <a:ext cx="460" cy="212"/>
            </a:xfrm>
            <a:prstGeom prst="rect">
              <a:avLst/>
            </a:prstGeom>
            <a:noFill/>
            <a:ln w="9525">
              <a:noFill/>
              <a:miter lim="800000"/>
              <a:headEnd/>
              <a:tailEnd/>
            </a:ln>
          </p:spPr>
          <p:txBody>
            <a:bodyPr wrap="none" lIns="92075" tIns="46038" rIns="92075" bIns="46038">
              <a:spAutoFit/>
            </a:bodyPr>
            <a:lstStyle/>
            <a:p>
              <a:pPr defTabSz="762000" eaLnBrk="1" hangingPunct="1">
                <a:lnSpc>
                  <a:spcPct val="100000"/>
                </a:lnSpc>
                <a:buClrTx/>
                <a:buSzTx/>
                <a:buFontTx/>
                <a:buNone/>
              </a:pPr>
              <a:r>
                <a:rPr lang="pt-BR" sz="1600" b="1" i="1">
                  <a:solidFill>
                    <a:schemeClr val="tx1"/>
                  </a:solidFill>
                </a:rPr>
                <a:t>Byte 5</a:t>
              </a:r>
            </a:p>
          </p:txBody>
        </p:sp>
        <p:sp>
          <p:nvSpPr>
            <p:cNvPr id="11" name="Rectangle 11"/>
            <p:cNvSpPr>
              <a:spLocks noChangeArrowheads="1"/>
            </p:cNvSpPr>
            <p:nvPr/>
          </p:nvSpPr>
          <p:spPr bwMode="auto">
            <a:xfrm>
              <a:off x="1294" y="2589"/>
              <a:ext cx="460" cy="212"/>
            </a:xfrm>
            <a:prstGeom prst="rect">
              <a:avLst/>
            </a:prstGeom>
            <a:noFill/>
            <a:ln w="9525">
              <a:noFill/>
              <a:miter lim="800000"/>
              <a:headEnd/>
              <a:tailEnd/>
            </a:ln>
          </p:spPr>
          <p:txBody>
            <a:bodyPr wrap="none" lIns="92075" tIns="46038" rIns="92075" bIns="46038">
              <a:spAutoFit/>
            </a:bodyPr>
            <a:lstStyle/>
            <a:p>
              <a:pPr defTabSz="762000" eaLnBrk="1" hangingPunct="1">
                <a:lnSpc>
                  <a:spcPct val="100000"/>
                </a:lnSpc>
                <a:buClrTx/>
                <a:buSzTx/>
                <a:buFontTx/>
                <a:buNone/>
              </a:pPr>
              <a:r>
                <a:rPr lang="pt-BR" sz="1600" b="1" i="1">
                  <a:solidFill>
                    <a:schemeClr val="tx1"/>
                  </a:solidFill>
                </a:rPr>
                <a:t>Byte 2</a:t>
              </a:r>
            </a:p>
          </p:txBody>
        </p:sp>
        <p:sp>
          <p:nvSpPr>
            <p:cNvPr id="12" name="Rectangle 12"/>
            <p:cNvSpPr>
              <a:spLocks noChangeArrowheads="1"/>
            </p:cNvSpPr>
            <p:nvPr/>
          </p:nvSpPr>
          <p:spPr bwMode="auto">
            <a:xfrm>
              <a:off x="1207" y="3397"/>
              <a:ext cx="2566" cy="212"/>
            </a:xfrm>
            <a:prstGeom prst="rect">
              <a:avLst/>
            </a:prstGeom>
            <a:noFill/>
            <a:ln w="9525">
              <a:noFill/>
              <a:miter lim="800000"/>
              <a:headEnd/>
              <a:tailEnd/>
            </a:ln>
          </p:spPr>
          <p:txBody>
            <a:bodyPr lIns="92075" tIns="46038" rIns="92075" bIns="46038">
              <a:spAutoFit/>
            </a:bodyPr>
            <a:lstStyle/>
            <a:p>
              <a:pPr defTabSz="762000" eaLnBrk="1" hangingPunct="1">
                <a:lnSpc>
                  <a:spcPct val="100000"/>
                </a:lnSpc>
                <a:buClrTx/>
                <a:buSzTx/>
                <a:buFontTx/>
                <a:buNone/>
              </a:pPr>
              <a:r>
                <a:rPr lang="pt-BR" sz="1600" b="1" i="1">
                  <a:solidFill>
                    <a:schemeClr val="tx1"/>
                  </a:solidFill>
                </a:rPr>
                <a:t>Cabeçalho da célula vazia</a:t>
              </a:r>
            </a:p>
          </p:txBody>
        </p:sp>
        <p:sp>
          <p:nvSpPr>
            <p:cNvPr id="13" name="Rectangle 13"/>
            <p:cNvSpPr>
              <a:spLocks noChangeArrowheads="1"/>
            </p:cNvSpPr>
            <p:nvPr/>
          </p:nvSpPr>
          <p:spPr bwMode="auto">
            <a:xfrm>
              <a:off x="554" y="3021"/>
              <a:ext cx="647" cy="212"/>
            </a:xfrm>
            <a:prstGeom prst="rect">
              <a:avLst/>
            </a:prstGeom>
            <a:noFill/>
            <a:ln w="9525">
              <a:noFill/>
              <a:miter lim="800000"/>
              <a:headEnd/>
              <a:tailEnd/>
            </a:ln>
          </p:spPr>
          <p:txBody>
            <a:bodyPr wrap="none" lIns="92075" tIns="46038" rIns="92075" bIns="46038">
              <a:spAutoFit/>
            </a:bodyPr>
            <a:lstStyle/>
            <a:p>
              <a:pPr defTabSz="762000" eaLnBrk="1" hangingPunct="1">
                <a:lnSpc>
                  <a:spcPct val="100000"/>
                </a:lnSpc>
                <a:buClrTx/>
                <a:buSzTx/>
                <a:buFontTx/>
                <a:buNone/>
              </a:pPr>
              <a:r>
                <a:rPr lang="pt-BR" sz="1600">
                  <a:solidFill>
                    <a:schemeClr val="tx1"/>
                  </a:solidFill>
                </a:rPr>
                <a:t>00000000</a:t>
              </a:r>
            </a:p>
          </p:txBody>
        </p:sp>
        <p:grpSp>
          <p:nvGrpSpPr>
            <p:cNvPr id="14" name="Group 14"/>
            <p:cNvGrpSpPr>
              <a:grpSpLocks/>
            </p:cNvGrpSpPr>
            <p:nvPr/>
          </p:nvGrpSpPr>
          <p:grpSpPr bwMode="auto">
            <a:xfrm>
              <a:off x="1199" y="2939"/>
              <a:ext cx="661" cy="413"/>
              <a:chOff x="1166" y="3181"/>
              <a:chExt cx="661" cy="413"/>
            </a:xfrm>
          </p:grpSpPr>
          <p:sp>
            <p:nvSpPr>
              <p:cNvPr id="39" name="Rectangle 15"/>
              <p:cNvSpPr>
                <a:spLocks noChangeArrowheads="1"/>
              </p:cNvSpPr>
              <p:nvPr/>
            </p:nvSpPr>
            <p:spPr bwMode="auto">
              <a:xfrm>
                <a:off x="1181" y="3263"/>
                <a:ext cx="646" cy="212"/>
              </a:xfrm>
              <a:prstGeom prst="rect">
                <a:avLst/>
              </a:prstGeom>
              <a:noFill/>
              <a:ln w="9525">
                <a:noFill/>
                <a:miter lim="800000"/>
                <a:headEnd/>
                <a:tailEnd/>
              </a:ln>
            </p:spPr>
            <p:txBody>
              <a:bodyPr wrap="none" lIns="92075" tIns="46038" rIns="92075" bIns="46038">
                <a:spAutoFit/>
              </a:bodyPr>
              <a:lstStyle/>
              <a:p>
                <a:pPr defTabSz="762000" eaLnBrk="1" hangingPunct="1">
                  <a:lnSpc>
                    <a:spcPct val="100000"/>
                  </a:lnSpc>
                  <a:buClrTx/>
                  <a:buSzTx/>
                  <a:buFontTx/>
                  <a:buNone/>
                </a:pPr>
                <a:r>
                  <a:rPr lang="pt-BR" sz="1600">
                    <a:solidFill>
                      <a:schemeClr val="tx1"/>
                    </a:solidFill>
                  </a:rPr>
                  <a:t>00000000</a:t>
                </a:r>
              </a:p>
            </p:txBody>
          </p:sp>
          <p:sp>
            <p:nvSpPr>
              <p:cNvPr id="40" name="Line 16"/>
              <p:cNvSpPr>
                <a:spLocks noChangeShapeType="1"/>
              </p:cNvSpPr>
              <p:nvPr/>
            </p:nvSpPr>
            <p:spPr bwMode="auto">
              <a:xfrm>
                <a:off x="1802" y="3181"/>
                <a:ext cx="0" cy="413"/>
              </a:xfrm>
              <a:prstGeom prst="line">
                <a:avLst/>
              </a:prstGeom>
              <a:noFill/>
              <a:ln w="12700">
                <a:solidFill>
                  <a:schemeClr val="tx1"/>
                </a:solidFill>
                <a:round/>
                <a:headEnd type="none" w="sm" len="sm"/>
                <a:tailEnd type="none" w="sm" len="sm"/>
              </a:ln>
            </p:spPr>
            <p:txBody>
              <a:bodyPr wrap="none" anchor="ctr"/>
              <a:lstStyle/>
              <a:p>
                <a:endParaRPr lang="pt-PT"/>
              </a:p>
            </p:txBody>
          </p:sp>
          <p:sp>
            <p:nvSpPr>
              <p:cNvPr id="41" name="Line 17"/>
              <p:cNvSpPr>
                <a:spLocks noChangeShapeType="1"/>
              </p:cNvSpPr>
              <p:nvPr/>
            </p:nvSpPr>
            <p:spPr bwMode="auto">
              <a:xfrm>
                <a:off x="1166" y="3181"/>
                <a:ext cx="0" cy="413"/>
              </a:xfrm>
              <a:prstGeom prst="line">
                <a:avLst/>
              </a:prstGeom>
              <a:noFill/>
              <a:ln w="12700">
                <a:solidFill>
                  <a:schemeClr val="tx1"/>
                </a:solidFill>
                <a:round/>
                <a:headEnd type="none" w="sm" len="sm"/>
                <a:tailEnd type="none" w="sm" len="sm"/>
              </a:ln>
            </p:spPr>
            <p:txBody>
              <a:bodyPr wrap="none" anchor="ctr"/>
              <a:lstStyle/>
              <a:p>
                <a:endParaRPr lang="pt-PT"/>
              </a:p>
            </p:txBody>
          </p:sp>
        </p:grpSp>
        <p:grpSp>
          <p:nvGrpSpPr>
            <p:cNvPr id="15" name="Group 18"/>
            <p:cNvGrpSpPr>
              <a:grpSpLocks/>
            </p:cNvGrpSpPr>
            <p:nvPr/>
          </p:nvGrpSpPr>
          <p:grpSpPr bwMode="auto">
            <a:xfrm>
              <a:off x="1834" y="2947"/>
              <a:ext cx="659" cy="413"/>
              <a:chOff x="1166" y="3181"/>
              <a:chExt cx="659" cy="413"/>
            </a:xfrm>
          </p:grpSpPr>
          <p:sp>
            <p:nvSpPr>
              <p:cNvPr id="36" name="Rectangle 19"/>
              <p:cNvSpPr>
                <a:spLocks noChangeArrowheads="1"/>
              </p:cNvSpPr>
              <p:nvPr/>
            </p:nvSpPr>
            <p:spPr bwMode="auto">
              <a:xfrm>
                <a:off x="1179" y="3263"/>
                <a:ext cx="646" cy="212"/>
              </a:xfrm>
              <a:prstGeom prst="rect">
                <a:avLst/>
              </a:prstGeom>
              <a:noFill/>
              <a:ln w="9525">
                <a:noFill/>
                <a:miter lim="800000"/>
                <a:headEnd/>
                <a:tailEnd/>
              </a:ln>
            </p:spPr>
            <p:txBody>
              <a:bodyPr wrap="none" lIns="92075" tIns="46038" rIns="92075" bIns="46038">
                <a:spAutoFit/>
              </a:bodyPr>
              <a:lstStyle/>
              <a:p>
                <a:pPr defTabSz="762000" eaLnBrk="1" hangingPunct="1">
                  <a:lnSpc>
                    <a:spcPct val="100000"/>
                  </a:lnSpc>
                  <a:buClrTx/>
                  <a:buSzTx/>
                  <a:buFontTx/>
                  <a:buNone/>
                </a:pPr>
                <a:r>
                  <a:rPr lang="pt-BR" sz="1600">
                    <a:solidFill>
                      <a:schemeClr val="tx1"/>
                    </a:solidFill>
                  </a:rPr>
                  <a:t>00000000</a:t>
                </a:r>
              </a:p>
            </p:txBody>
          </p:sp>
          <p:sp>
            <p:nvSpPr>
              <p:cNvPr id="37" name="Line 20"/>
              <p:cNvSpPr>
                <a:spLocks noChangeShapeType="1"/>
              </p:cNvSpPr>
              <p:nvPr/>
            </p:nvSpPr>
            <p:spPr bwMode="auto">
              <a:xfrm>
                <a:off x="1802" y="3181"/>
                <a:ext cx="0" cy="413"/>
              </a:xfrm>
              <a:prstGeom prst="line">
                <a:avLst/>
              </a:prstGeom>
              <a:noFill/>
              <a:ln w="12700">
                <a:solidFill>
                  <a:schemeClr val="tx1"/>
                </a:solidFill>
                <a:round/>
                <a:headEnd type="none" w="sm" len="sm"/>
                <a:tailEnd type="none" w="sm" len="sm"/>
              </a:ln>
            </p:spPr>
            <p:txBody>
              <a:bodyPr wrap="none" anchor="ctr"/>
              <a:lstStyle/>
              <a:p>
                <a:endParaRPr lang="pt-PT"/>
              </a:p>
            </p:txBody>
          </p:sp>
          <p:sp>
            <p:nvSpPr>
              <p:cNvPr id="38" name="Line 21"/>
              <p:cNvSpPr>
                <a:spLocks noChangeShapeType="1"/>
              </p:cNvSpPr>
              <p:nvPr/>
            </p:nvSpPr>
            <p:spPr bwMode="auto">
              <a:xfrm>
                <a:off x="1166" y="3181"/>
                <a:ext cx="0" cy="413"/>
              </a:xfrm>
              <a:prstGeom prst="line">
                <a:avLst/>
              </a:prstGeom>
              <a:noFill/>
              <a:ln w="12700">
                <a:solidFill>
                  <a:schemeClr val="tx1"/>
                </a:solidFill>
                <a:round/>
                <a:headEnd type="none" w="sm" len="sm"/>
                <a:tailEnd type="none" w="sm" len="sm"/>
              </a:ln>
            </p:spPr>
            <p:txBody>
              <a:bodyPr wrap="none" anchor="ctr"/>
              <a:lstStyle/>
              <a:p>
                <a:endParaRPr lang="pt-PT"/>
              </a:p>
            </p:txBody>
          </p:sp>
        </p:grpSp>
        <p:grpSp>
          <p:nvGrpSpPr>
            <p:cNvPr id="16" name="Group 22"/>
            <p:cNvGrpSpPr>
              <a:grpSpLocks/>
            </p:cNvGrpSpPr>
            <p:nvPr/>
          </p:nvGrpSpPr>
          <p:grpSpPr bwMode="auto">
            <a:xfrm>
              <a:off x="2472" y="2936"/>
              <a:ext cx="659" cy="413"/>
              <a:chOff x="1166" y="3181"/>
              <a:chExt cx="659" cy="413"/>
            </a:xfrm>
          </p:grpSpPr>
          <p:sp>
            <p:nvSpPr>
              <p:cNvPr id="33" name="Rectangle 23"/>
              <p:cNvSpPr>
                <a:spLocks noChangeArrowheads="1"/>
              </p:cNvSpPr>
              <p:nvPr/>
            </p:nvSpPr>
            <p:spPr bwMode="auto">
              <a:xfrm>
                <a:off x="1179" y="3263"/>
                <a:ext cx="646" cy="212"/>
              </a:xfrm>
              <a:prstGeom prst="rect">
                <a:avLst/>
              </a:prstGeom>
              <a:noFill/>
              <a:ln w="9525">
                <a:noFill/>
                <a:miter lim="800000"/>
                <a:headEnd/>
                <a:tailEnd/>
              </a:ln>
            </p:spPr>
            <p:txBody>
              <a:bodyPr wrap="none" lIns="92075" tIns="46038" rIns="92075" bIns="46038">
                <a:spAutoFit/>
              </a:bodyPr>
              <a:lstStyle/>
              <a:p>
                <a:pPr defTabSz="762000" eaLnBrk="1" hangingPunct="1">
                  <a:lnSpc>
                    <a:spcPct val="100000"/>
                  </a:lnSpc>
                  <a:buClrTx/>
                  <a:buSzTx/>
                  <a:buFontTx/>
                  <a:buNone/>
                </a:pPr>
                <a:r>
                  <a:rPr lang="pt-BR" sz="1600">
                    <a:solidFill>
                      <a:schemeClr val="tx1"/>
                    </a:solidFill>
                  </a:rPr>
                  <a:t>00000000</a:t>
                </a:r>
              </a:p>
            </p:txBody>
          </p:sp>
          <p:sp>
            <p:nvSpPr>
              <p:cNvPr id="34" name="Line 24"/>
              <p:cNvSpPr>
                <a:spLocks noChangeShapeType="1"/>
              </p:cNvSpPr>
              <p:nvPr/>
            </p:nvSpPr>
            <p:spPr bwMode="auto">
              <a:xfrm>
                <a:off x="1802" y="3181"/>
                <a:ext cx="0" cy="413"/>
              </a:xfrm>
              <a:prstGeom prst="line">
                <a:avLst/>
              </a:prstGeom>
              <a:noFill/>
              <a:ln w="12700">
                <a:solidFill>
                  <a:schemeClr val="tx1"/>
                </a:solidFill>
                <a:round/>
                <a:headEnd type="none" w="sm" len="sm"/>
                <a:tailEnd type="none" w="sm" len="sm"/>
              </a:ln>
            </p:spPr>
            <p:txBody>
              <a:bodyPr wrap="none" anchor="ctr"/>
              <a:lstStyle/>
              <a:p>
                <a:endParaRPr lang="pt-PT"/>
              </a:p>
            </p:txBody>
          </p:sp>
          <p:sp>
            <p:nvSpPr>
              <p:cNvPr id="35" name="Line 25"/>
              <p:cNvSpPr>
                <a:spLocks noChangeShapeType="1"/>
              </p:cNvSpPr>
              <p:nvPr/>
            </p:nvSpPr>
            <p:spPr bwMode="auto">
              <a:xfrm>
                <a:off x="1166" y="3181"/>
                <a:ext cx="0" cy="413"/>
              </a:xfrm>
              <a:prstGeom prst="line">
                <a:avLst/>
              </a:prstGeom>
              <a:noFill/>
              <a:ln w="12700">
                <a:solidFill>
                  <a:schemeClr val="tx1"/>
                </a:solidFill>
                <a:round/>
                <a:headEnd type="none" w="sm" len="sm"/>
                <a:tailEnd type="none" w="sm" len="sm"/>
              </a:ln>
            </p:spPr>
            <p:txBody>
              <a:bodyPr wrap="none" anchor="ctr"/>
              <a:lstStyle/>
              <a:p>
                <a:endParaRPr lang="pt-PT"/>
              </a:p>
            </p:txBody>
          </p:sp>
        </p:grpSp>
        <p:grpSp>
          <p:nvGrpSpPr>
            <p:cNvPr id="17" name="Group 26"/>
            <p:cNvGrpSpPr>
              <a:grpSpLocks/>
            </p:cNvGrpSpPr>
            <p:nvPr/>
          </p:nvGrpSpPr>
          <p:grpSpPr bwMode="auto">
            <a:xfrm>
              <a:off x="3110" y="2936"/>
              <a:ext cx="650" cy="448"/>
              <a:chOff x="1166" y="3181"/>
              <a:chExt cx="650" cy="448"/>
            </a:xfrm>
          </p:grpSpPr>
          <p:sp>
            <p:nvSpPr>
              <p:cNvPr id="30" name="Rectangle 27"/>
              <p:cNvSpPr>
                <a:spLocks noChangeArrowheads="1"/>
              </p:cNvSpPr>
              <p:nvPr/>
            </p:nvSpPr>
            <p:spPr bwMode="auto">
              <a:xfrm>
                <a:off x="1170" y="3263"/>
                <a:ext cx="646" cy="366"/>
              </a:xfrm>
              <a:prstGeom prst="rect">
                <a:avLst/>
              </a:prstGeom>
              <a:noFill/>
              <a:ln w="9525">
                <a:noFill/>
                <a:miter lim="800000"/>
                <a:headEnd/>
                <a:tailEnd/>
              </a:ln>
            </p:spPr>
            <p:txBody>
              <a:bodyPr wrap="none" lIns="92075" tIns="46038" rIns="92075" bIns="46038">
                <a:spAutoFit/>
              </a:bodyPr>
              <a:lstStyle/>
              <a:p>
                <a:pPr algn="ctr" defTabSz="762000" eaLnBrk="1" hangingPunct="1">
                  <a:lnSpc>
                    <a:spcPct val="100000"/>
                  </a:lnSpc>
                  <a:buClrTx/>
                  <a:buSzTx/>
                  <a:buFontTx/>
                  <a:buNone/>
                </a:pPr>
                <a:r>
                  <a:rPr lang="pt-BR" sz="1600">
                    <a:solidFill>
                      <a:schemeClr val="tx1"/>
                    </a:solidFill>
                  </a:rPr>
                  <a:t>01010010</a:t>
                </a:r>
              </a:p>
              <a:p>
                <a:pPr algn="ctr" defTabSz="762000" eaLnBrk="1" hangingPunct="1">
                  <a:lnSpc>
                    <a:spcPct val="100000"/>
                  </a:lnSpc>
                  <a:buClrTx/>
                  <a:buSzTx/>
                  <a:buFontTx/>
                  <a:buNone/>
                </a:pPr>
                <a:r>
                  <a:rPr lang="pt-BR" sz="1600">
                    <a:solidFill>
                      <a:schemeClr val="tx1"/>
                    </a:solidFill>
                  </a:rPr>
                  <a:t>(HEC)</a:t>
                </a:r>
              </a:p>
            </p:txBody>
          </p:sp>
          <p:sp>
            <p:nvSpPr>
              <p:cNvPr id="31" name="Line 28"/>
              <p:cNvSpPr>
                <a:spLocks noChangeShapeType="1"/>
              </p:cNvSpPr>
              <p:nvPr/>
            </p:nvSpPr>
            <p:spPr bwMode="auto">
              <a:xfrm>
                <a:off x="1802" y="3181"/>
                <a:ext cx="0" cy="413"/>
              </a:xfrm>
              <a:prstGeom prst="line">
                <a:avLst/>
              </a:prstGeom>
              <a:noFill/>
              <a:ln w="12700">
                <a:solidFill>
                  <a:schemeClr val="tx1"/>
                </a:solidFill>
                <a:round/>
                <a:headEnd type="none" w="sm" len="sm"/>
                <a:tailEnd type="none" w="sm" len="sm"/>
              </a:ln>
            </p:spPr>
            <p:txBody>
              <a:bodyPr wrap="none" anchor="ctr"/>
              <a:lstStyle/>
              <a:p>
                <a:endParaRPr lang="pt-PT"/>
              </a:p>
            </p:txBody>
          </p:sp>
          <p:sp>
            <p:nvSpPr>
              <p:cNvPr id="32" name="Line 29"/>
              <p:cNvSpPr>
                <a:spLocks noChangeShapeType="1"/>
              </p:cNvSpPr>
              <p:nvPr/>
            </p:nvSpPr>
            <p:spPr bwMode="auto">
              <a:xfrm>
                <a:off x="1166" y="3181"/>
                <a:ext cx="0" cy="413"/>
              </a:xfrm>
              <a:prstGeom prst="line">
                <a:avLst/>
              </a:prstGeom>
              <a:noFill/>
              <a:ln w="12700">
                <a:solidFill>
                  <a:schemeClr val="tx1"/>
                </a:solidFill>
                <a:round/>
                <a:headEnd type="none" w="sm" len="sm"/>
                <a:tailEnd type="none" w="sm" len="sm"/>
              </a:ln>
            </p:spPr>
            <p:txBody>
              <a:bodyPr wrap="none" anchor="ctr"/>
              <a:lstStyle/>
              <a:p>
                <a:endParaRPr lang="pt-PT"/>
              </a:p>
            </p:txBody>
          </p:sp>
        </p:grpSp>
        <p:sp>
          <p:nvSpPr>
            <p:cNvPr id="18" name="Rectangle 30"/>
            <p:cNvSpPr>
              <a:spLocks noChangeArrowheads="1"/>
            </p:cNvSpPr>
            <p:nvPr/>
          </p:nvSpPr>
          <p:spPr bwMode="auto">
            <a:xfrm>
              <a:off x="3745" y="2936"/>
              <a:ext cx="1266" cy="419"/>
            </a:xfrm>
            <a:prstGeom prst="rect">
              <a:avLst/>
            </a:prstGeom>
            <a:solidFill>
              <a:schemeClr val="accent1"/>
            </a:solidFill>
            <a:ln w="9525">
              <a:solidFill>
                <a:schemeClr val="tx1"/>
              </a:solidFill>
              <a:miter lim="800000"/>
              <a:headEnd/>
              <a:tailEnd/>
            </a:ln>
          </p:spPr>
          <p:txBody>
            <a:bodyPr wrap="none" anchor="ctr"/>
            <a:lstStyle/>
            <a:p>
              <a:endParaRPr lang="pt-BR"/>
            </a:p>
          </p:txBody>
        </p:sp>
        <p:grpSp>
          <p:nvGrpSpPr>
            <p:cNvPr id="19" name="Group 31"/>
            <p:cNvGrpSpPr>
              <a:grpSpLocks/>
            </p:cNvGrpSpPr>
            <p:nvPr/>
          </p:nvGrpSpPr>
          <p:grpSpPr bwMode="auto">
            <a:xfrm>
              <a:off x="3741" y="2935"/>
              <a:ext cx="659" cy="413"/>
              <a:chOff x="1166" y="3181"/>
              <a:chExt cx="659" cy="413"/>
            </a:xfrm>
          </p:grpSpPr>
          <p:sp>
            <p:nvSpPr>
              <p:cNvPr id="27" name="Rectangle 32"/>
              <p:cNvSpPr>
                <a:spLocks noChangeArrowheads="1"/>
              </p:cNvSpPr>
              <p:nvPr/>
            </p:nvSpPr>
            <p:spPr bwMode="auto">
              <a:xfrm>
                <a:off x="1179" y="3263"/>
                <a:ext cx="646" cy="212"/>
              </a:xfrm>
              <a:prstGeom prst="rect">
                <a:avLst/>
              </a:prstGeom>
              <a:noFill/>
              <a:ln w="9525">
                <a:noFill/>
                <a:miter lim="800000"/>
                <a:headEnd/>
                <a:tailEnd/>
              </a:ln>
            </p:spPr>
            <p:txBody>
              <a:bodyPr wrap="none" lIns="92075" tIns="46038" rIns="92075" bIns="46038">
                <a:spAutoFit/>
              </a:bodyPr>
              <a:lstStyle/>
              <a:p>
                <a:pPr defTabSz="762000" eaLnBrk="1" hangingPunct="1">
                  <a:lnSpc>
                    <a:spcPct val="100000"/>
                  </a:lnSpc>
                  <a:buClrTx/>
                  <a:buSzTx/>
                  <a:buFontTx/>
                  <a:buNone/>
                </a:pPr>
                <a:r>
                  <a:rPr lang="pt-BR" sz="1600">
                    <a:solidFill>
                      <a:schemeClr val="tx1"/>
                    </a:solidFill>
                  </a:rPr>
                  <a:t>01101010</a:t>
                </a:r>
              </a:p>
            </p:txBody>
          </p:sp>
          <p:sp>
            <p:nvSpPr>
              <p:cNvPr id="28" name="Line 33"/>
              <p:cNvSpPr>
                <a:spLocks noChangeShapeType="1"/>
              </p:cNvSpPr>
              <p:nvPr/>
            </p:nvSpPr>
            <p:spPr bwMode="auto">
              <a:xfrm>
                <a:off x="1802" y="3181"/>
                <a:ext cx="0" cy="413"/>
              </a:xfrm>
              <a:prstGeom prst="line">
                <a:avLst/>
              </a:prstGeom>
              <a:noFill/>
              <a:ln w="12700">
                <a:solidFill>
                  <a:schemeClr val="tx1"/>
                </a:solidFill>
                <a:round/>
                <a:headEnd type="none" w="sm" len="sm"/>
                <a:tailEnd type="none" w="sm" len="sm"/>
              </a:ln>
            </p:spPr>
            <p:txBody>
              <a:bodyPr wrap="none" anchor="ctr"/>
              <a:lstStyle/>
              <a:p>
                <a:endParaRPr lang="pt-PT"/>
              </a:p>
            </p:txBody>
          </p:sp>
          <p:sp>
            <p:nvSpPr>
              <p:cNvPr id="29" name="Line 34"/>
              <p:cNvSpPr>
                <a:spLocks noChangeShapeType="1"/>
              </p:cNvSpPr>
              <p:nvPr/>
            </p:nvSpPr>
            <p:spPr bwMode="auto">
              <a:xfrm>
                <a:off x="1166" y="3181"/>
                <a:ext cx="0" cy="413"/>
              </a:xfrm>
              <a:prstGeom prst="line">
                <a:avLst/>
              </a:prstGeom>
              <a:noFill/>
              <a:ln w="12700">
                <a:solidFill>
                  <a:schemeClr val="tx1"/>
                </a:solidFill>
                <a:round/>
                <a:headEnd type="none" w="sm" len="sm"/>
                <a:tailEnd type="none" w="sm" len="sm"/>
              </a:ln>
            </p:spPr>
            <p:txBody>
              <a:bodyPr wrap="none" anchor="ctr"/>
              <a:lstStyle/>
              <a:p>
                <a:endParaRPr lang="pt-PT"/>
              </a:p>
            </p:txBody>
          </p:sp>
        </p:grpSp>
        <p:grpSp>
          <p:nvGrpSpPr>
            <p:cNvPr id="20" name="Group 35"/>
            <p:cNvGrpSpPr>
              <a:grpSpLocks/>
            </p:cNvGrpSpPr>
            <p:nvPr/>
          </p:nvGrpSpPr>
          <p:grpSpPr bwMode="auto">
            <a:xfrm>
              <a:off x="4376" y="2932"/>
              <a:ext cx="659" cy="413"/>
              <a:chOff x="1166" y="3181"/>
              <a:chExt cx="659" cy="413"/>
            </a:xfrm>
          </p:grpSpPr>
          <p:sp>
            <p:nvSpPr>
              <p:cNvPr id="24" name="Rectangle 36"/>
              <p:cNvSpPr>
                <a:spLocks noChangeArrowheads="1"/>
              </p:cNvSpPr>
              <p:nvPr/>
            </p:nvSpPr>
            <p:spPr bwMode="auto">
              <a:xfrm>
                <a:off x="1179" y="3263"/>
                <a:ext cx="646" cy="212"/>
              </a:xfrm>
              <a:prstGeom prst="rect">
                <a:avLst/>
              </a:prstGeom>
              <a:noFill/>
              <a:ln w="9525">
                <a:noFill/>
                <a:miter lim="800000"/>
                <a:headEnd/>
                <a:tailEnd/>
              </a:ln>
            </p:spPr>
            <p:txBody>
              <a:bodyPr wrap="none" lIns="92075" tIns="46038" rIns="92075" bIns="46038">
                <a:spAutoFit/>
              </a:bodyPr>
              <a:lstStyle/>
              <a:p>
                <a:pPr defTabSz="762000" eaLnBrk="1" hangingPunct="1">
                  <a:lnSpc>
                    <a:spcPct val="100000"/>
                  </a:lnSpc>
                  <a:buClrTx/>
                  <a:buSzTx/>
                  <a:buFontTx/>
                  <a:buNone/>
                </a:pPr>
                <a:r>
                  <a:rPr lang="pt-BR" sz="1600">
                    <a:solidFill>
                      <a:schemeClr val="tx1"/>
                    </a:solidFill>
                  </a:rPr>
                  <a:t>01101010</a:t>
                </a:r>
              </a:p>
            </p:txBody>
          </p:sp>
          <p:sp>
            <p:nvSpPr>
              <p:cNvPr id="25" name="Line 37"/>
              <p:cNvSpPr>
                <a:spLocks noChangeShapeType="1"/>
              </p:cNvSpPr>
              <p:nvPr/>
            </p:nvSpPr>
            <p:spPr bwMode="auto">
              <a:xfrm>
                <a:off x="1802" y="3181"/>
                <a:ext cx="0" cy="413"/>
              </a:xfrm>
              <a:prstGeom prst="line">
                <a:avLst/>
              </a:prstGeom>
              <a:noFill/>
              <a:ln w="12700">
                <a:solidFill>
                  <a:schemeClr val="tx1"/>
                </a:solidFill>
                <a:round/>
                <a:headEnd type="none" w="sm" len="sm"/>
                <a:tailEnd type="none" w="sm" len="sm"/>
              </a:ln>
            </p:spPr>
            <p:txBody>
              <a:bodyPr wrap="none" anchor="ctr"/>
              <a:lstStyle/>
              <a:p>
                <a:endParaRPr lang="pt-PT"/>
              </a:p>
            </p:txBody>
          </p:sp>
          <p:sp>
            <p:nvSpPr>
              <p:cNvPr id="26" name="Line 38"/>
              <p:cNvSpPr>
                <a:spLocks noChangeShapeType="1"/>
              </p:cNvSpPr>
              <p:nvPr/>
            </p:nvSpPr>
            <p:spPr bwMode="auto">
              <a:xfrm>
                <a:off x="1166" y="3181"/>
                <a:ext cx="0" cy="413"/>
              </a:xfrm>
              <a:prstGeom prst="line">
                <a:avLst/>
              </a:prstGeom>
              <a:noFill/>
              <a:ln w="12700">
                <a:solidFill>
                  <a:schemeClr val="tx1"/>
                </a:solidFill>
                <a:round/>
                <a:headEnd type="none" w="sm" len="sm"/>
                <a:tailEnd type="none" w="sm" len="sm"/>
              </a:ln>
            </p:spPr>
            <p:txBody>
              <a:bodyPr wrap="none" anchor="ctr"/>
              <a:lstStyle/>
              <a:p>
                <a:endParaRPr lang="pt-PT"/>
              </a:p>
            </p:txBody>
          </p:sp>
        </p:grpSp>
        <p:sp>
          <p:nvSpPr>
            <p:cNvPr id="21" name="Line 39"/>
            <p:cNvSpPr>
              <a:spLocks noChangeShapeType="1"/>
            </p:cNvSpPr>
            <p:nvPr/>
          </p:nvSpPr>
          <p:spPr bwMode="auto">
            <a:xfrm>
              <a:off x="5014" y="2943"/>
              <a:ext cx="0" cy="413"/>
            </a:xfrm>
            <a:prstGeom prst="line">
              <a:avLst/>
            </a:prstGeom>
            <a:noFill/>
            <a:ln w="12700">
              <a:solidFill>
                <a:schemeClr val="tx1"/>
              </a:solidFill>
              <a:round/>
              <a:headEnd type="none" w="sm" len="sm"/>
              <a:tailEnd type="none" w="sm" len="sm"/>
            </a:ln>
          </p:spPr>
          <p:txBody>
            <a:bodyPr wrap="none" anchor="ctr"/>
            <a:lstStyle/>
            <a:p>
              <a:endParaRPr lang="pt-PT"/>
            </a:p>
          </p:txBody>
        </p:sp>
        <p:sp>
          <p:nvSpPr>
            <p:cNvPr id="22" name="AutoShape 40"/>
            <p:cNvSpPr>
              <a:spLocks noChangeArrowheads="1"/>
            </p:cNvSpPr>
            <p:nvPr/>
          </p:nvSpPr>
          <p:spPr bwMode="auto">
            <a:xfrm rot="-5400000">
              <a:off x="4997" y="2942"/>
              <a:ext cx="418" cy="399"/>
            </a:xfrm>
            <a:prstGeom prst="flowChartDocument">
              <a:avLst/>
            </a:prstGeom>
            <a:solidFill>
              <a:schemeClr val="accent1"/>
            </a:solidFill>
            <a:ln w="9525">
              <a:solidFill>
                <a:schemeClr val="tx1"/>
              </a:solidFill>
              <a:miter lim="800000"/>
              <a:headEnd/>
              <a:tailEnd/>
            </a:ln>
          </p:spPr>
          <p:txBody>
            <a:bodyPr wrap="none" anchor="ctr"/>
            <a:lstStyle/>
            <a:p>
              <a:endParaRPr lang="pt-BR"/>
            </a:p>
          </p:txBody>
        </p:sp>
        <p:sp>
          <p:nvSpPr>
            <p:cNvPr id="23" name="Rectangle 41"/>
            <p:cNvSpPr>
              <a:spLocks noChangeArrowheads="1"/>
            </p:cNvSpPr>
            <p:nvPr/>
          </p:nvSpPr>
          <p:spPr bwMode="auto">
            <a:xfrm>
              <a:off x="5005" y="3058"/>
              <a:ext cx="436" cy="212"/>
            </a:xfrm>
            <a:prstGeom prst="rect">
              <a:avLst/>
            </a:prstGeom>
            <a:noFill/>
            <a:ln w="9525">
              <a:noFill/>
              <a:miter lim="800000"/>
              <a:headEnd/>
              <a:tailEnd/>
            </a:ln>
          </p:spPr>
          <p:txBody>
            <a:bodyPr wrap="none" lIns="92075" tIns="46038" rIns="92075" bIns="46038">
              <a:spAutoFit/>
            </a:bodyPr>
            <a:lstStyle/>
            <a:p>
              <a:pPr defTabSz="762000" eaLnBrk="1" hangingPunct="1">
                <a:lnSpc>
                  <a:spcPct val="100000"/>
                </a:lnSpc>
                <a:buClrTx/>
                <a:buSzTx/>
                <a:buFontTx/>
                <a:buNone/>
              </a:pPr>
              <a:r>
                <a:rPr lang="pt-BR" sz="1600">
                  <a:solidFill>
                    <a:schemeClr val="tx1"/>
                  </a:solidFill>
                </a:rPr>
                <a:t>01:::::</a:t>
              </a:r>
            </a:p>
          </p:txBody>
        </p:sp>
      </p:gr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  Atraso da célula ATM</a:t>
            </a:r>
            <a:endParaRPr lang="pt-PT" dirty="0"/>
          </a:p>
        </p:txBody>
      </p:sp>
      <p:sp>
        <p:nvSpPr>
          <p:cNvPr id="3" name="Marcador de Posição de Conteúdo 2"/>
          <p:cNvSpPr>
            <a:spLocks noGrp="1"/>
          </p:cNvSpPr>
          <p:nvPr>
            <p:ph sz="quarter" idx="1"/>
          </p:nvPr>
        </p:nvSpPr>
        <p:spPr/>
        <p:txBody>
          <a:bodyPr/>
          <a:lstStyle/>
          <a:p>
            <a:endParaRPr lang="pt-PT"/>
          </a:p>
        </p:txBody>
      </p:sp>
      <p:pic>
        <p:nvPicPr>
          <p:cNvPr id="1026" name="Picture 2"/>
          <p:cNvPicPr>
            <a:picLocks noChangeAspect="1" noChangeArrowheads="1"/>
          </p:cNvPicPr>
          <p:nvPr/>
        </p:nvPicPr>
        <p:blipFill>
          <a:blip r:embed="rId3" cstate="print"/>
          <a:srcRect/>
          <a:stretch>
            <a:fillRect/>
          </a:stretch>
        </p:blipFill>
        <p:spPr bwMode="auto">
          <a:xfrm>
            <a:off x="467544" y="1268760"/>
            <a:ext cx="8343900" cy="5191497"/>
          </a:xfrm>
          <a:prstGeom prst="rect">
            <a:avLst/>
          </a:prstGeom>
          <a:noFill/>
          <a:ln w="9525">
            <a:noFill/>
            <a:miter lim="800000"/>
            <a:headEnd/>
            <a:tailEnd/>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Atraso da célula ATM</a:t>
            </a:r>
            <a:endParaRPr lang="pt-PT" dirty="0"/>
          </a:p>
        </p:txBody>
      </p:sp>
      <p:sp>
        <p:nvSpPr>
          <p:cNvPr id="3" name="Marcador de Posição de Conteúdo 2"/>
          <p:cNvSpPr>
            <a:spLocks noGrp="1"/>
          </p:cNvSpPr>
          <p:nvPr>
            <p:ph sz="quarter" idx="1"/>
          </p:nvPr>
        </p:nvSpPr>
        <p:spPr>
          <a:xfrm>
            <a:off x="914400" y="1447800"/>
            <a:ext cx="7772400" cy="2629272"/>
          </a:xfrm>
        </p:spPr>
        <p:txBody>
          <a:bodyPr/>
          <a:lstStyle/>
          <a:p>
            <a:pPr>
              <a:buNone/>
            </a:pPr>
            <a:r>
              <a:rPr lang="pt-PT" dirty="0" smtClean="0"/>
              <a:t>• A redução dos atrasos em fila de espera requer a redução do tamanho dos pacotes</a:t>
            </a:r>
          </a:p>
          <a:p>
            <a:r>
              <a:rPr lang="pt-PT" dirty="0" smtClean="0"/>
              <a:t>• A necessidade de reduzir o tamanho dos pacotes reduz a sua possível gama de variação, pelo que se perdem os efeitos associados ao tamanho variável</a:t>
            </a:r>
            <a:endParaRPr lang="pt-PT" dirty="0"/>
          </a:p>
        </p:txBody>
      </p:sp>
      <p:sp>
        <p:nvSpPr>
          <p:cNvPr id="20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pt-PT"/>
          </a:p>
        </p:txBody>
      </p:sp>
      <p:pic>
        <p:nvPicPr>
          <p:cNvPr id="204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971600" y="4149080"/>
            <a:ext cx="7488832" cy="1296144"/>
          </a:xfrm>
          <a:prstGeom prst="rect">
            <a:avLst/>
          </a:prstGeom>
          <a:noFill/>
        </p:spPr>
      </p:pic>
      <p:sp>
        <p:nvSpPr>
          <p:cNvPr id="2051" name="Rectangle 3"/>
          <p:cNvSpPr>
            <a:spLocks noChangeArrowheads="1"/>
          </p:cNvSpPr>
          <p:nvPr/>
        </p:nvSpPr>
        <p:spPr bwMode="auto">
          <a:xfrm>
            <a:off x="0" y="7239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PT"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Exercicios</a:t>
            </a:r>
            <a:endParaRPr lang="pt-PT" dirty="0"/>
          </a:p>
        </p:txBody>
      </p:sp>
      <p:pic>
        <p:nvPicPr>
          <p:cNvPr id="287746" name="Picture 2"/>
          <p:cNvPicPr>
            <a:picLocks noGrp="1" noChangeAspect="1" noChangeArrowheads="1"/>
          </p:cNvPicPr>
          <p:nvPr>
            <p:ph sz="quarter" idx="1"/>
          </p:nvPr>
        </p:nvPicPr>
        <p:blipFill>
          <a:blip r:embed="rId2" cstate="print"/>
          <a:srcRect/>
          <a:stretch>
            <a:fillRect/>
          </a:stretch>
        </p:blipFill>
        <p:spPr bwMode="auto">
          <a:xfrm>
            <a:off x="683568" y="1268761"/>
            <a:ext cx="8064896" cy="4536504"/>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971600" y="5733256"/>
            <a:ext cx="4619625" cy="285750"/>
          </a:xfrm>
          <a:prstGeom prst="rect">
            <a:avLst/>
          </a:prstGeom>
          <a:noFill/>
          <a:ln w="9525">
            <a:noFill/>
            <a:miter lim="800000"/>
            <a:headEnd/>
            <a:tailEnd/>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 camada ATM</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a:xfrm>
            <a:off x="914400" y="1447800"/>
            <a:ext cx="3801616" cy="3925416"/>
          </a:xfrm>
        </p:spPr>
        <p:txBody>
          <a:bodyPr>
            <a:normAutofit/>
          </a:bodyPr>
          <a:lstStyle/>
          <a:p>
            <a:pPr marL="342900" indent="-342900">
              <a:lnSpc>
                <a:spcPct val="100000"/>
              </a:lnSpc>
              <a:spcBef>
                <a:spcPct val="20000"/>
              </a:spcBef>
              <a:buClr>
                <a:srgbClr val="000000"/>
              </a:buClr>
            </a:pPr>
            <a:r>
              <a:rPr lang="pt-BR" sz="2400" dirty="0" smtClean="0">
                <a:solidFill>
                  <a:srgbClr val="000000"/>
                </a:solidFill>
              </a:rPr>
              <a:t>Responsável pelas funções</a:t>
            </a:r>
          </a:p>
          <a:p>
            <a:pPr marL="742950" lvl="1" indent="-285750">
              <a:lnSpc>
                <a:spcPct val="100000"/>
              </a:lnSpc>
              <a:spcBef>
                <a:spcPct val="20000"/>
              </a:spcBef>
              <a:buClr>
                <a:srgbClr val="000000"/>
              </a:buClr>
            </a:pPr>
            <a:r>
              <a:rPr lang="pt-BR" sz="2000" dirty="0" smtClean="0">
                <a:solidFill>
                  <a:srgbClr val="000000"/>
                </a:solidFill>
              </a:rPr>
              <a:t>Multiplexação e Demultiplexação de Células.</a:t>
            </a:r>
          </a:p>
          <a:p>
            <a:pPr marL="742950" lvl="1" indent="-285750">
              <a:lnSpc>
                <a:spcPct val="100000"/>
              </a:lnSpc>
              <a:spcBef>
                <a:spcPct val="20000"/>
              </a:spcBef>
              <a:buClr>
                <a:srgbClr val="000000"/>
              </a:buClr>
            </a:pPr>
            <a:r>
              <a:rPr lang="pt-BR" sz="2000" dirty="0" smtClean="0">
                <a:solidFill>
                  <a:srgbClr val="000000"/>
                </a:solidFill>
              </a:rPr>
              <a:t>Adição e remoção do cabeçalho da célula (header).</a:t>
            </a:r>
          </a:p>
          <a:p>
            <a:pPr marL="742950" lvl="1" indent="-285750">
              <a:lnSpc>
                <a:spcPct val="100000"/>
              </a:lnSpc>
              <a:spcBef>
                <a:spcPct val="20000"/>
              </a:spcBef>
              <a:buClr>
                <a:srgbClr val="000000"/>
              </a:buClr>
            </a:pPr>
            <a:r>
              <a:rPr lang="pt-BR" sz="2000" dirty="0" smtClean="0">
                <a:solidFill>
                  <a:srgbClr val="000000"/>
                </a:solidFill>
              </a:rPr>
              <a:t>Chaveamento (comutação) e encaminhamento de célula.</a:t>
            </a:r>
          </a:p>
          <a:p>
            <a:pPr marL="742950" lvl="1" indent="-285750">
              <a:lnSpc>
                <a:spcPct val="100000"/>
              </a:lnSpc>
              <a:spcBef>
                <a:spcPct val="20000"/>
              </a:spcBef>
              <a:buClr>
                <a:srgbClr val="000000"/>
              </a:buClr>
            </a:pPr>
            <a:r>
              <a:rPr lang="pt-BR" sz="2000" dirty="0" smtClean="0">
                <a:solidFill>
                  <a:srgbClr val="000000"/>
                </a:solidFill>
              </a:rPr>
              <a:t>Controle Genérico de Fluxo na Interface Usuário Rede - UNI</a:t>
            </a:r>
            <a:endParaRPr lang="pt-BR" sz="1800" dirty="0" smtClean="0">
              <a:solidFill>
                <a:srgbClr val="000000"/>
              </a:solidFill>
            </a:endParaRPr>
          </a:p>
          <a:p>
            <a:endParaRPr lang="pt-PT" dirty="0"/>
          </a:p>
        </p:txBody>
      </p:sp>
      <p:pic>
        <p:nvPicPr>
          <p:cNvPr id="4098" name="Picture 2"/>
          <p:cNvPicPr>
            <a:picLocks noChangeAspect="1" noChangeArrowheads="1"/>
          </p:cNvPicPr>
          <p:nvPr/>
        </p:nvPicPr>
        <p:blipFill>
          <a:blip r:embed="rId3" cstate="print"/>
          <a:srcRect/>
          <a:stretch>
            <a:fillRect/>
          </a:stretch>
        </p:blipFill>
        <p:spPr bwMode="auto">
          <a:xfrm>
            <a:off x="6156176" y="1556792"/>
            <a:ext cx="2160240" cy="3168352"/>
          </a:xfrm>
          <a:prstGeom prst="rect">
            <a:avLst/>
          </a:prstGeom>
          <a:noFill/>
          <a:ln w="9525">
            <a:noFill/>
            <a:miter lim="800000"/>
            <a:headEnd/>
            <a:tailEnd/>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2400" b="1" dirty="0" smtClean="0">
                <a:solidFill>
                  <a:srgbClr val="FF0000"/>
                </a:solidFill>
                <a:latin typeface="Arial" pitchFamily="34" charset="0"/>
                <a:cs typeface="Arial" pitchFamily="34" charset="0"/>
              </a:rPr>
              <a:t>Cabeçalho das Células nas interfaces UNI e NNI</a:t>
            </a:r>
            <a:endParaRPr lang="pt-PT" sz="2400" b="1" dirty="0">
              <a:solidFill>
                <a:srgbClr val="FF0000"/>
              </a:solidFill>
              <a:latin typeface="Arial" pitchFamily="34" charset="0"/>
              <a:cs typeface="Arial" pitchFamily="34" charset="0"/>
            </a:endParaRPr>
          </a:p>
        </p:txBody>
      </p:sp>
      <p:pic>
        <p:nvPicPr>
          <p:cNvPr id="5122" name="Picture 2"/>
          <p:cNvPicPr>
            <a:picLocks noGrp="1" noChangeAspect="1" noChangeArrowheads="1"/>
          </p:cNvPicPr>
          <p:nvPr>
            <p:ph sz="quarter" idx="1"/>
          </p:nvPr>
        </p:nvPicPr>
        <p:blipFill>
          <a:blip r:embed="rId3" cstate="print"/>
          <a:srcRect/>
          <a:stretch>
            <a:fillRect/>
          </a:stretch>
        </p:blipFill>
        <p:spPr bwMode="auto">
          <a:xfrm>
            <a:off x="1043608" y="1628800"/>
            <a:ext cx="7272808" cy="4392487"/>
          </a:xfrm>
          <a:prstGeom prst="rect">
            <a:avLst/>
          </a:prstGeom>
          <a:noFill/>
          <a:ln w="9525">
            <a:noFill/>
            <a:miter lim="800000"/>
            <a:headEnd/>
            <a:tailEnd/>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smtClean="0">
                <a:solidFill>
                  <a:srgbClr val="FF0000"/>
                </a:solidFill>
              </a:rPr>
              <a:t>Definição dos elementos da célula</a:t>
            </a:r>
            <a:endParaRPr lang="pt-PT" b="1" dirty="0">
              <a:solidFill>
                <a:srgbClr val="FF0000"/>
              </a:solidFill>
            </a:endParaRPr>
          </a:p>
        </p:txBody>
      </p:sp>
      <p:sp>
        <p:nvSpPr>
          <p:cNvPr id="3" name="Marcador de Posição de Conteúdo 2"/>
          <p:cNvSpPr>
            <a:spLocks noGrp="1"/>
          </p:cNvSpPr>
          <p:nvPr>
            <p:ph sz="quarter" idx="1"/>
          </p:nvPr>
        </p:nvSpPr>
        <p:spPr/>
        <p:txBody>
          <a:bodyPr/>
          <a:lstStyle/>
          <a:p>
            <a:pPr>
              <a:buNone/>
            </a:pPr>
            <a:r>
              <a:rPr lang="pt-BR" b="1" dirty="0" smtClean="0">
                <a:solidFill>
                  <a:schemeClr val="accent2"/>
                </a:solidFill>
                <a:cs typeface="Times New Roman" pitchFamily="18" charset="0"/>
                <a:sym typeface="Symbol" pitchFamily="18" charset="2"/>
              </a:rPr>
              <a:t></a:t>
            </a:r>
            <a:r>
              <a:rPr lang="pt-BR" dirty="0" smtClean="0">
                <a:solidFill>
                  <a:schemeClr val="accent2"/>
                </a:solidFill>
              </a:rPr>
              <a:t> </a:t>
            </a:r>
            <a:r>
              <a:rPr lang="pt-BR" dirty="0" smtClean="0">
                <a:solidFill>
                  <a:srgbClr val="FF0000"/>
                </a:solidFill>
              </a:rPr>
              <a:t>GFC</a:t>
            </a:r>
            <a:r>
              <a:rPr lang="pt-BR" dirty="0" smtClean="0">
                <a:solidFill>
                  <a:schemeClr val="accent2"/>
                </a:solidFill>
              </a:rPr>
              <a:t> – </a:t>
            </a:r>
            <a:r>
              <a:rPr lang="pt-BR" dirty="0" smtClean="0"/>
              <a:t>Controle de Fluxo Genérico : controle o fluxo de células na rede.</a:t>
            </a:r>
          </a:p>
          <a:p>
            <a:pPr>
              <a:buNone/>
            </a:pPr>
            <a:r>
              <a:rPr lang="pt-BR" dirty="0" smtClean="0">
                <a:solidFill>
                  <a:srgbClr val="FF0000"/>
                </a:solidFill>
              </a:rPr>
              <a:t>PT</a:t>
            </a:r>
            <a:r>
              <a:rPr lang="pt-BR" dirty="0" smtClean="0">
                <a:solidFill>
                  <a:schemeClr val="accent2"/>
                </a:solidFill>
              </a:rPr>
              <a:t> – </a:t>
            </a:r>
            <a:r>
              <a:rPr lang="pt-BR" dirty="0" smtClean="0"/>
              <a:t>Tipo de payload – indica se a célula transporta informação de usuário ou de gerência.</a:t>
            </a:r>
          </a:p>
          <a:p>
            <a:pPr>
              <a:buNone/>
            </a:pPr>
            <a:r>
              <a:rPr lang="pt-BR" b="1" dirty="0" smtClean="0">
                <a:solidFill>
                  <a:schemeClr val="accent2"/>
                </a:solidFill>
                <a:cs typeface="Times New Roman" pitchFamily="18" charset="0"/>
                <a:sym typeface="Symbol" pitchFamily="18" charset="2"/>
              </a:rPr>
              <a:t></a:t>
            </a:r>
            <a:r>
              <a:rPr lang="pt-BR" dirty="0" smtClean="0">
                <a:solidFill>
                  <a:schemeClr val="accent2"/>
                </a:solidFill>
              </a:rPr>
              <a:t> </a:t>
            </a:r>
            <a:r>
              <a:rPr lang="pt-BR" dirty="0" smtClean="0">
                <a:solidFill>
                  <a:srgbClr val="FF0000"/>
                </a:solidFill>
              </a:rPr>
              <a:t>CLP </a:t>
            </a:r>
            <a:r>
              <a:rPr lang="pt-BR" dirty="0" smtClean="0">
                <a:solidFill>
                  <a:schemeClr val="accent2"/>
                </a:solidFill>
              </a:rPr>
              <a:t>– </a:t>
            </a:r>
            <a:r>
              <a:rPr lang="pt-BR" dirty="0" smtClean="0"/>
              <a:t>Prioridade de perda da célula: indica o nível de prioridade da célula em caso de necessidade de descarte</a:t>
            </a:r>
          </a:p>
          <a:p>
            <a:pPr>
              <a:buFont typeface="Symbol" pitchFamily="18" charset="2"/>
              <a:buChar char="·"/>
            </a:pPr>
            <a:r>
              <a:rPr lang="pt-BR" dirty="0" smtClean="0">
                <a:solidFill>
                  <a:srgbClr val="FF0000"/>
                </a:solidFill>
                <a:cs typeface="Times New Roman" pitchFamily="18" charset="0"/>
                <a:sym typeface="Symbol" pitchFamily="18" charset="2"/>
              </a:rPr>
              <a:t>HEC </a:t>
            </a:r>
            <a:r>
              <a:rPr lang="pt-BR" dirty="0" smtClean="0">
                <a:solidFill>
                  <a:schemeClr val="accent2"/>
                </a:solidFill>
                <a:cs typeface="Times New Roman" pitchFamily="18" charset="0"/>
                <a:sym typeface="Symbol" pitchFamily="18" charset="2"/>
              </a:rPr>
              <a:t>– </a:t>
            </a:r>
            <a:r>
              <a:rPr lang="pt-BR" dirty="0" smtClean="0">
                <a:cs typeface="Times New Roman" pitchFamily="18" charset="0"/>
                <a:sym typeface="Symbol" pitchFamily="18" charset="2"/>
              </a:rPr>
              <a:t>Verificação de Erro de Cabeçalho: utilizado para verificar erro no cabeçalho</a:t>
            </a:r>
          </a:p>
          <a:p>
            <a:pPr>
              <a:buFont typeface="Symbol" pitchFamily="18" charset="2"/>
              <a:buChar char="·"/>
            </a:pPr>
            <a:r>
              <a:rPr lang="pt-BR" dirty="0" smtClean="0">
                <a:solidFill>
                  <a:srgbClr val="FF0000"/>
                </a:solidFill>
                <a:cs typeface="Times New Roman" pitchFamily="18" charset="0"/>
                <a:sym typeface="Symbol" pitchFamily="18" charset="2"/>
              </a:rPr>
              <a:t>Payload </a:t>
            </a:r>
            <a:r>
              <a:rPr lang="pt-BR" dirty="0" smtClean="0">
                <a:solidFill>
                  <a:schemeClr val="accent2"/>
                </a:solidFill>
                <a:cs typeface="Times New Roman" pitchFamily="18" charset="0"/>
                <a:sym typeface="Symbol" pitchFamily="18" charset="2"/>
              </a:rPr>
              <a:t>– </a:t>
            </a:r>
            <a:r>
              <a:rPr lang="pt-BR" dirty="0" smtClean="0">
                <a:cs typeface="Times New Roman" pitchFamily="18" charset="0"/>
                <a:sym typeface="Symbol" pitchFamily="18" charset="2"/>
              </a:rPr>
              <a:t>a carga efetiva transportada, que pode ser voz (áudio) , dados ou imagem</a:t>
            </a:r>
            <a:endParaRPr lang="pt-BR" dirty="0" smtClean="0"/>
          </a:p>
          <a:p>
            <a:pPr>
              <a:buNone/>
            </a:pPr>
            <a:endParaRPr lang="pt-PT"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smtClean="0">
                <a:solidFill>
                  <a:srgbClr val="FF0000"/>
                </a:solidFill>
              </a:rPr>
              <a:t>Campo  GFC</a:t>
            </a:r>
            <a:endParaRPr lang="pt-PT" b="1" dirty="0">
              <a:solidFill>
                <a:srgbClr val="FF0000"/>
              </a:solidFill>
            </a:endParaRPr>
          </a:p>
        </p:txBody>
      </p:sp>
      <p:sp>
        <p:nvSpPr>
          <p:cNvPr id="3" name="Marcador de Posição de Conteúdo 2"/>
          <p:cNvSpPr>
            <a:spLocks noGrp="1"/>
          </p:cNvSpPr>
          <p:nvPr>
            <p:ph sz="quarter" idx="1"/>
          </p:nvPr>
        </p:nvSpPr>
        <p:spPr/>
        <p:txBody>
          <a:bodyPr/>
          <a:lstStyle/>
          <a:p>
            <a:pPr>
              <a:lnSpc>
                <a:spcPct val="90000"/>
              </a:lnSpc>
            </a:pPr>
            <a:r>
              <a:rPr lang="en-US" sz="2800" dirty="0" smtClean="0"/>
              <a:t>Utilizado para controle de fluxo na UNI.</a:t>
            </a:r>
          </a:p>
          <a:p>
            <a:pPr>
              <a:lnSpc>
                <a:spcPct val="90000"/>
              </a:lnSpc>
            </a:pPr>
            <a:r>
              <a:rPr lang="en-US" sz="2800" dirty="0" smtClean="0"/>
              <a:t>Modos de operação:</a:t>
            </a:r>
          </a:p>
          <a:p>
            <a:pPr lvl="1">
              <a:lnSpc>
                <a:spcPct val="90000"/>
              </a:lnSpc>
            </a:pPr>
            <a:r>
              <a:rPr lang="en-US" dirty="0" smtClean="0"/>
              <a:t>Controlado : o GFC é utilizado (Apenas ITU-T)</a:t>
            </a:r>
          </a:p>
          <a:p>
            <a:pPr lvl="1">
              <a:lnSpc>
                <a:spcPct val="90000"/>
              </a:lnSpc>
            </a:pPr>
            <a:r>
              <a:rPr lang="en-US" dirty="0" smtClean="0"/>
              <a:t>Não controlado : o GFC </a:t>
            </a:r>
            <a:r>
              <a:rPr lang="en-US" dirty="0" err="1" smtClean="0"/>
              <a:t>não</a:t>
            </a:r>
            <a:r>
              <a:rPr lang="en-US" dirty="0" smtClean="0"/>
              <a:t> é utilizado (ATM-</a:t>
            </a:r>
            <a:r>
              <a:rPr lang="en-US" dirty="0" err="1" smtClean="0"/>
              <a:t>Fórum</a:t>
            </a:r>
            <a:r>
              <a:rPr lang="en-US" dirty="0" smtClean="0"/>
              <a:t> e ITU-T)</a:t>
            </a:r>
          </a:p>
          <a:p>
            <a:pPr>
              <a:lnSpc>
                <a:spcPct val="90000"/>
              </a:lnSpc>
            </a:pPr>
            <a:r>
              <a:rPr lang="en-US" sz="2800" dirty="0" err="1" smtClean="0"/>
              <a:t>Modo</a:t>
            </a:r>
            <a:r>
              <a:rPr lang="en-US" sz="2800" dirty="0" smtClean="0"/>
              <a:t> Controlado:</a:t>
            </a:r>
          </a:p>
          <a:p>
            <a:pPr lvl="1">
              <a:lnSpc>
                <a:spcPct val="90000"/>
              </a:lnSpc>
            </a:pPr>
            <a:r>
              <a:rPr lang="en-US" dirty="0" smtClean="0"/>
              <a:t>Um crédito N é atribuído a </a:t>
            </a:r>
            <a:r>
              <a:rPr lang="en-US" dirty="0" err="1" smtClean="0"/>
              <a:t>cada</a:t>
            </a:r>
            <a:r>
              <a:rPr lang="en-US" dirty="0" smtClean="0"/>
              <a:t> um dos terminais </a:t>
            </a:r>
            <a:r>
              <a:rPr lang="en-US" dirty="0" err="1" smtClean="0"/>
              <a:t>que</a:t>
            </a:r>
            <a:r>
              <a:rPr lang="en-US" dirty="0" smtClean="0"/>
              <a:t> acessa uma determinada UNI, </a:t>
            </a:r>
            <a:r>
              <a:rPr lang="en-US" dirty="0" err="1" smtClean="0"/>
              <a:t>em</a:t>
            </a:r>
            <a:r>
              <a:rPr lang="en-US" dirty="0" smtClean="0"/>
              <a:t> função </a:t>
            </a:r>
            <a:r>
              <a:rPr lang="en-US" dirty="0" err="1" smtClean="0"/>
              <a:t>da</a:t>
            </a:r>
            <a:r>
              <a:rPr lang="en-US" dirty="0" smtClean="0"/>
              <a:t> banda alocada </a:t>
            </a:r>
            <a:r>
              <a:rPr lang="en-US" dirty="0" err="1" smtClean="0"/>
              <a:t>ao</a:t>
            </a:r>
            <a:r>
              <a:rPr lang="en-US" dirty="0" smtClean="0"/>
              <a:t> terminal. Este crédito corresponde </a:t>
            </a:r>
            <a:r>
              <a:rPr lang="en-US" dirty="0" err="1" smtClean="0"/>
              <a:t>ao</a:t>
            </a:r>
            <a:r>
              <a:rPr lang="en-US" dirty="0" smtClean="0"/>
              <a:t> número de células (N) </a:t>
            </a:r>
            <a:r>
              <a:rPr lang="en-US" dirty="0" err="1" smtClean="0"/>
              <a:t>que</a:t>
            </a:r>
            <a:r>
              <a:rPr lang="en-US" dirty="0" smtClean="0"/>
              <a:t> este terminal pode enviar durante um determinado </a:t>
            </a:r>
            <a:r>
              <a:rPr lang="en-US" dirty="0" err="1" smtClean="0"/>
              <a:t>intervalo</a:t>
            </a:r>
            <a:r>
              <a:rPr lang="en-US" dirty="0" smtClean="0"/>
              <a:t> de tempo T . A </a:t>
            </a:r>
            <a:r>
              <a:rPr lang="en-US" dirty="0" err="1" smtClean="0"/>
              <a:t>cada</a:t>
            </a:r>
            <a:r>
              <a:rPr lang="en-US" dirty="0" smtClean="0"/>
              <a:t> T segundos , a UNI envia um reset , restabelecendo o crédito N.</a:t>
            </a:r>
          </a:p>
          <a:p>
            <a:pPr>
              <a:buNone/>
            </a:pPr>
            <a:endParaRPr lang="pt-PT"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smtClean="0">
                <a:solidFill>
                  <a:srgbClr val="FF0000"/>
                </a:solidFill>
              </a:rPr>
              <a:t>Campo CLP</a:t>
            </a:r>
            <a:endParaRPr lang="pt-PT" b="1" dirty="0">
              <a:solidFill>
                <a:srgbClr val="FF0000"/>
              </a:solidFill>
            </a:endParaRPr>
          </a:p>
        </p:txBody>
      </p:sp>
      <p:sp>
        <p:nvSpPr>
          <p:cNvPr id="3" name="Marcador de Posição de Conteúdo 2"/>
          <p:cNvSpPr>
            <a:spLocks noGrp="1"/>
          </p:cNvSpPr>
          <p:nvPr>
            <p:ph sz="quarter" idx="1"/>
          </p:nvPr>
        </p:nvSpPr>
        <p:spPr/>
        <p:txBody>
          <a:bodyPr/>
          <a:lstStyle/>
          <a:p>
            <a:pPr>
              <a:lnSpc>
                <a:spcPct val="100000"/>
              </a:lnSpc>
            </a:pPr>
            <a:r>
              <a:rPr lang="en-US" sz="2800" dirty="0" smtClean="0"/>
              <a:t>Utilizado para </a:t>
            </a:r>
            <a:r>
              <a:rPr lang="en-US" sz="2800" dirty="0" err="1" smtClean="0"/>
              <a:t>indicar</a:t>
            </a:r>
            <a:r>
              <a:rPr lang="en-US" sz="2800" dirty="0" smtClean="0"/>
              <a:t> o </a:t>
            </a:r>
            <a:r>
              <a:rPr lang="en-US" sz="2800" dirty="0" err="1" smtClean="0"/>
              <a:t>nível</a:t>
            </a:r>
            <a:r>
              <a:rPr lang="en-US" sz="2800" dirty="0" smtClean="0"/>
              <a:t> de </a:t>
            </a:r>
            <a:r>
              <a:rPr lang="en-US" sz="2800" dirty="0" err="1" smtClean="0"/>
              <a:t>prioridade</a:t>
            </a:r>
            <a:r>
              <a:rPr lang="en-US" sz="2800" dirty="0" smtClean="0"/>
              <a:t> de </a:t>
            </a:r>
            <a:r>
              <a:rPr lang="en-US" sz="2800" dirty="0" err="1" smtClean="0"/>
              <a:t>descarte</a:t>
            </a:r>
            <a:r>
              <a:rPr lang="en-US" sz="2800" dirty="0" smtClean="0"/>
              <a:t> </a:t>
            </a:r>
            <a:r>
              <a:rPr lang="en-US" sz="2800" dirty="0" err="1" smtClean="0"/>
              <a:t>da</a:t>
            </a:r>
            <a:r>
              <a:rPr lang="en-US" sz="2800" dirty="0" smtClean="0"/>
              <a:t> </a:t>
            </a:r>
            <a:r>
              <a:rPr lang="en-US" sz="2800" dirty="0" err="1" smtClean="0"/>
              <a:t>célula</a:t>
            </a:r>
            <a:r>
              <a:rPr lang="en-US" sz="2800" dirty="0" smtClean="0"/>
              <a:t> </a:t>
            </a:r>
            <a:r>
              <a:rPr lang="en-US" sz="2800" dirty="0" err="1" smtClean="0"/>
              <a:t>em</a:t>
            </a:r>
            <a:r>
              <a:rPr lang="en-US" sz="2800" dirty="0" smtClean="0"/>
              <a:t> </a:t>
            </a:r>
            <a:r>
              <a:rPr lang="en-US" sz="2800" dirty="0" err="1" smtClean="0"/>
              <a:t>caso</a:t>
            </a:r>
            <a:r>
              <a:rPr lang="en-US" sz="2800" dirty="0" smtClean="0"/>
              <a:t> de </a:t>
            </a:r>
            <a:r>
              <a:rPr lang="en-US" sz="2800" dirty="0" err="1" smtClean="0"/>
              <a:t>congestionamento</a:t>
            </a:r>
            <a:r>
              <a:rPr lang="en-US" sz="2800" dirty="0" smtClean="0"/>
              <a:t>:</a:t>
            </a:r>
          </a:p>
          <a:p>
            <a:pPr lvl="1">
              <a:lnSpc>
                <a:spcPct val="100000"/>
              </a:lnSpc>
            </a:pPr>
            <a:r>
              <a:rPr lang="en-US" dirty="0" smtClean="0"/>
              <a:t>CLP = 0 - </a:t>
            </a:r>
            <a:r>
              <a:rPr lang="en-US" dirty="0" err="1" smtClean="0"/>
              <a:t>menor</a:t>
            </a:r>
            <a:r>
              <a:rPr lang="en-US" dirty="0" smtClean="0"/>
              <a:t> </a:t>
            </a:r>
            <a:r>
              <a:rPr lang="en-US" dirty="0" err="1" smtClean="0"/>
              <a:t>prioridade</a:t>
            </a:r>
            <a:r>
              <a:rPr lang="en-US" dirty="0" smtClean="0"/>
              <a:t> de </a:t>
            </a:r>
            <a:r>
              <a:rPr lang="en-US" dirty="0" err="1" smtClean="0"/>
              <a:t>descarte</a:t>
            </a:r>
            <a:endParaRPr lang="en-US" dirty="0" smtClean="0"/>
          </a:p>
          <a:p>
            <a:pPr lvl="1">
              <a:lnSpc>
                <a:spcPct val="100000"/>
              </a:lnSpc>
            </a:pPr>
            <a:r>
              <a:rPr lang="en-US" dirty="0" smtClean="0"/>
              <a:t>CLP = 1 – </a:t>
            </a:r>
            <a:r>
              <a:rPr lang="en-US" dirty="0" err="1" smtClean="0"/>
              <a:t>maior</a:t>
            </a:r>
            <a:r>
              <a:rPr lang="en-US" dirty="0" smtClean="0"/>
              <a:t> </a:t>
            </a:r>
            <a:r>
              <a:rPr lang="en-US" dirty="0" err="1" smtClean="0"/>
              <a:t>prioridade</a:t>
            </a:r>
            <a:r>
              <a:rPr lang="en-US" dirty="0" smtClean="0"/>
              <a:t> de </a:t>
            </a:r>
            <a:r>
              <a:rPr lang="en-US" dirty="0" err="1" smtClean="0"/>
              <a:t>descarte</a:t>
            </a:r>
            <a:endParaRPr lang="en-US" dirty="0" smtClean="0"/>
          </a:p>
          <a:p>
            <a:pPr>
              <a:lnSpc>
                <a:spcPct val="100000"/>
              </a:lnSpc>
            </a:pPr>
            <a:r>
              <a:rPr lang="en-US" sz="2800" dirty="0" smtClean="0"/>
              <a:t>Pode ser </a:t>
            </a:r>
            <a:r>
              <a:rPr lang="en-US" sz="2800" dirty="0" err="1" smtClean="0"/>
              <a:t>setado</a:t>
            </a:r>
            <a:r>
              <a:rPr lang="en-US" sz="2800" dirty="0" smtClean="0"/>
              <a:t> </a:t>
            </a:r>
            <a:r>
              <a:rPr lang="en-US" sz="2800" dirty="0" err="1" smtClean="0"/>
              <a:t>pela</a:t>
            </a:r>
            <a:r>
              <a:rPr lang="en-US" sz="2800" dirty="0" smtClean="0"/>
              <a:t> </a:t>
            </a:r>
            <a:r>
              <a:rPr lang="en-US" sz="2800" dirty="0" err="1" smtClean="0"/>
              <a:t>aplicação</a:t>
            </a:r>
            <a:r>
              <a:rPr lang="en-US" sz="2800" dirty="0" smtClean="0"/>
              <a:t> </a:t>
            </a:r>
            <a:r>
              <a:rPr lang="en-US" sz="2800" dirty="0" err="1" smtClean="0"/>
              <a:t>ou</a:t>
            </a:r>
            <a:r>
              <a:rPr lang="en-US" sz="2800" dirty="0" smtClean="0"/>
              <a:t> </a:t>
            </a:r>
            <a:r>
              <a:rPr lang="en-US" sz="2800" dirty="0" err="1" smtClean="0"/>
              <a:t>pelo</a:t>
            </a:r>
            <a:r>
              <a:rPr lang="en-US" sz="2800" dirty="0" smtClean="0"/>
              <a:t> </a:t>
            </a:r>
            <a:r>
              <a:rPr lang="en-US" sz="2800" dirty="0" err="1" smtClean="0"/>
              <a:t>comutador</a:t>
            </a:r>
            <a:r>
              <a:rPr lang="en-US" sz="2800" dirty="0" smtClean="0"/>
              <a:t>.</a:t>
            </a:r>
          </a:p>
          <a:p>
            <a:pPr>
              <a:buNone/>
            </a:pPr>
            <a:endParaRPr lang="pt-PT"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Campo de PT</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pPr marL="342900" indent="-342900" defTabSz="762000">
              <a:lnSpc>
                <a:spcPct val="90000"/>
              </a:lnSpc>
            </a:pPr>
            <a:r>
              <a:rPr lang="pt-BR" sz="2800" dirty="0" smtClean="0"/>
              <a:t>Identifica qual o tipo de informação que está sendo transportada nos 48 bytes de carga útil :</a:t>
            </a:r>
          </a:p>
          <a:p>
            <a:pPr marL="742950" lvl="1" indent="-285750" defTabSz="762000">
              <a:lnSpc>
                <a:spcPct val="90000"/>
              </a:lnSpc>
            </a:pPr>
            <a:r>
              <a:rPr lang="pt-BR" sz="2800" dirty="0" smtClean="0"/>
              <a:t>Os valores de 000 a 011 , indicam que está sendo transportada informação de usuário</a:t>
            </a:r>
          </a:p>
          <a:p>
            <a:pPr marL="742950" lvl="1" indent="-285750" defTabSz="762000">
              <a:lnSpc>
                <a:spcPct val="90000"/>
              </a:lnSpc>
            </a:pPr>
            <a:r>
              <a:rPr lang="pt-BR" sz="2800" dirty="0" smtClean="0"/>
              <a:t>Os valores de 100 a 111 , indicam que está sendo transportada informação de gerência</a:t>
            </a:r>
          </a:p>
          <a:p>
            <a:pPr marL="342900" indent="-342900" defTabSz="762000">
              <a:lnSpc>
                <a:spcPct val="90000"/>
              </a:lnSpc>
            </a:pPr>
            <a:r>
              <a:rPr lang="pt-BR" sz="2800" dirty="0" smtClean="0"/>
              <a:t>Qualquer nó congestionado, assim que recebe uma célula, pode modificar o seu header de forma a indicar que a mesma passou por nó em congestionamento.</a:t>
            </a:r>
          </a:p>
          <a:p>
            <a:pPr>
              <a:buNone/>
            </a:pPr>
            <a:endParaRPr lang="pt-PT"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Campo de PT</a:t>
            </a:r>
            <a:endParaRPr lang="pt-PT" dirty="0"/>
          </a:p>
        </p:txBody>
      </p:sp>
      <p:sp>
        <p:nvSpPr>
          <p:cNvPr id="3" name="Marcador de Posição de Conteúdo 2"/>
          <p:cNvSpPr>
            <a:spLocks noGrp="1"/>
          </p:cNvSpPr>
          <p:nvPr>
            <p:ph sz="quarter" idx="1"/>
          </p:nvPr>
        </p:nvSpPr>
        <p:spPr/>
        <p:txBody>
          <a:bodyPr/>
          <a:lstStyle/>
          <a:p>
            <a:pPr>
              <a:lnSpc>
                <a:spcPct val="100000"/>
              </a:lnSpc>
            </a:pPr>
            <a:r>
              <a:rPr lang="pt-BR" sz="2400" dirty="0" smtClean="0"/>
              <a:t>000 – Célula de dados do usuário que não passou por nó em congestionamento, AAL indicate = 0</a:t>
            </a:r>
          </a:p>
          <a:p>
            <a:pPr>
              <a:lnSpc>
                <a:spcPct val="100000"/>
              </a:lnSpc>
            </a:pPr>
            <a:r>
              <a:rPr lang="pt-BR" sz="2400" dirty="0" smtClean="0"/>
              <a:t>001 – Célula de dados do usuário que não passou por nó em congestionamento, AAL indicate = 1</a:t>
            </a:r>
          </a:p>
          <a:p>
            <a:pPr>
              <a:lnSpc>
                <a:spcPct val="100000"/>
              </a:lnSpc>
            </a:pPr>
            <a:r>
              <a:rPr lang="pt-BR" sz="2400" dirty="0" smtClean="0"/>
              <a:t>010 – Célula de dados do usuário que passou por nó em congestionamento, AAL indicate = 0</a:t>
            </a:r>
          </a:p>
          <a:p>
            <a:pPr>
              <a:lnSpc>
                <a:spcPct val="100000"/>
              </a:lnSpc>
            </a:pPr>
            <a:r>
              <a:rPr lang="pt-BR" sz="2400" dirty="0" smtClean="0"/>
              <a:t>011 – Célula de dados do usuário que passou por nó em congestionamento, AAL indicate = 1</a:t>
            </a:r>
            <a:endParaRPr lang="pt-BR" sz="2800" dirty="0" smtClean="0"/>
          </a:p>
          <a:p>
            <a:pPr>
              <a:buNone/>
            </a:pPr>
            <a:endParaRPr lang="pt-PT"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smtClean="0">
                <a:solidFill>
                  <a:srgbClr val="FF0000"/>
                </a:solidFill>
                <a:latin typeface="Arial" pitchFamily="34" charset="0"/>
                <a:cs typeface="Arial" pitchFamily="34" charset="0"/>
              </a:rPr>
              <a:t>Campos VPI E VCI</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normAutofit fontScale="92500" lnSpcReduction="10000"/>
          </a:bodyPr>
          <a:lstStyle/>
          <a:p>
            <a:pPr>
              <a:lnSpc>
                <a:spcPct val="90000"/>
              </a:lnSpc>
            </a:pPr>
            <a:r>
              <a:rPr lang="en-US" dirty="0" err="1" smtClean="0"/>
              <a:t>Necessários</a:t>
            </a:r>
            <a:r>
              <a:rPr lang="en-US" dirty="0" smtClean="0"/>
              <a:t> para </a:t>
            </a:r>
            <a:r>
              <a:rPr lang="en-US" dirty="0" err="1" smtClean="0"/>
              <a:t>os</a:t>
            </a:r>
            <a:r>
              <a:rPr lang="en-US" dirty="0" smtClean="0"/>
              <a:t> </a:t>
            </a:r>
            <a:r>
              <a:rPr lang="en-US" dirty="0" err="1" smtClean="0"/>
              <a:t>comutadores</a:t>
            </a:r>
            <a:r>
              <a:rPr lang="en-US" dirty="0" smtClean="0"/>
              <a:t> </a:t>
            </a:r>
            <a:r>
              <a:rPr lang="en-US" dirty="0" err="1" smtClean="0"/>
              <a:t>efetuarem</a:t>
            </a:r>
            <a:r>
              <a:rPr lang="en-US" dirty="0" smtClean="0"/>
              <a:t> a </a:t>
            </a:r>
            <a:r>
              <a:rPr lang="en-US" dirty="0" err="1" smtClean="0"/>
              <a:t>comutação</a:t>
            </a:r>
            <a:r>
              <a:rPr lang="en-US" dirty="0" smtClean="0"/>
              <a:t> das células.</a:t>
            </a:r>
          </a:p>
          <a:p>
            <a:pPr>
              <a:lnSpc>
                <a:spcPct val="90000"/>
              </a:lnSpc>
            </a:pPr>
            <a:r>
              <a:rPr lang="en-US" dirty="0" err="1" smtClean="0"/>
              <a:t>Alguns</a:t>
            </a:r>
            <a:r>
              <a:rPr lang="en-US" dirty="0" smtClean="0"/>
              <a:t> </a:t>
            </a:r>
            <a:r>
              <a:rPr lang="en-US" dirty="0" err="1" smtClean="0"/>
              <a:t>valores</a:t>
            </a:r>
            <a:r>
              <a:rPr lang="en-US" dirty="0" smtClean="0"/>
              <a:t> </a:t>
            </a:r>
            <a:r>
              <a:rPr lang="en-US" dirty="0" err="1" smtClean="0"/>
              <a:t>são</a:t>
            </a:r>
            <a:r>
              <a:rPr lang="en-US" dirty="0" smtClean="0"/>
              <a:t> </a:t>
            </a:r>
            <a:r>
              <a:rPr lang="en-US" dirty="0" err="1" smtClean="0"/>
              <a:t>reservados</a:t>
            </a:r>
            <a:r>
              <a:rPr lang="en-US" dirty="0" smtClean="0"/>
              <a:t> para </a:t>
            </a:r>
            <a:r>
              <a:rPr lang="en-US" dirty="0" err="1" smtClean="0"/>
              <a:t>funções</a:t>
            </a:r>
            <a:r>
              <a:rPr lang="en-US" dirty="0" smtClean="0"/>
              <a:t> de </a:t>
            </a:r>
            <a:r>
              <a:rPr lang="en-US" dirty="0" err="1" smtClean="0"/>
              <a:t>sinalização</a:t>
            </a:r>
            <a:r>
              <a:rPr lang="en-US" dirty="0" smtClean="0"/>
              <a:t> e OAM</a:t>
            </a:r>
          </a:p>
          <a:p>
            <a:pPr>
              <a:buFont typeface="Times New Roman" pitchFamily="18" charset="0"/>
              <a:buNone/>
            </a:pPr>
            <a:endParaRPr lang="pt-BR" dirty="0" smtClean="0"/>
          </a:p>
          <a:p>
            <a:r>
              <a:rPr lang="pt-BR" dirty="0" smtClean="0"/>
              <a:t>Valores reservados</a:t>
            </a:r>
          </a:p>
          <a:p>
            <a:pPr lvl="1"/>
            <a:r>
              <a:rPr lang="pt-BR" dirty="0" smtClean="0"/>
              <a:t>VPI = 0	VCI  = 0 a 15	ITU-T</a:t>
            </a:r>
          </a:p>
          <a:p>
            <a:pPr lvl="1"/>
            <a:r>
              <a:rPr lang="pt-BR" dirty="0" smtClean="0"/>
              <a:t>VPI = 0	VCI = 16 a 31	ATM Forum</a:t>
            </a:r>
          </a:p>
          <a:p>
            <a:pPr lvl="1"/>
            <a:r>
              <a:rPr lang="pt-BR" dirty="0" smtClean="0"/>
              <a:t>VPI = 0	VCI = 32		MPLS </a:t>
            </a:r>
          </a:p>
          <a:p>
            <a:pPr lvl="1"/>
            <a:r>
              <a:rPr lang="pt-BR" dirty="0" smtClean="0"/>
              <a:t>VPI = todos	VCI = 1 a 5</a:t>
            </a:r>
          </a:p>
          <a:p>
            <a:pPr lvl="1">
              <a:buFont typeface="Times New Roman" pitchFamily="18" charset="0"/>
              <a:buNone/>
            </a:pPr>
            <a:endParaRPr lang="pt-BR" dirty="0" smtClean="0"/>
          </a:p>
          <a:p>
            <a:pPr lvl="1"/>
            <a:r>
              <a:rPr lang="pt-BR" dirty="0" smtClean="0"/>
              <a:t>Na prática os operadores reservam os VCIs de 0 a 31 de todos os VPIs.</a:t>
            </a:r>
          </a:p>
          <a:p>
            <a:pPr>
              <a:buNone/>
            </a:pPr>
            <a:endParaRPr lang="pt-PT"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850106"/>
          </a:xfrm>
        </p:spPr>
        <p:txBody>
          <a:bodyPr>
            <a:normAutofit/>
          </a:bodyPr>
          <a:lstStyle/>
          <a:p>
            <a:r>
              <a:rPr lang="pt-BR" b="1" dirty="0" smtClean="0">
                <a:solidFill>
                  <a:srgbClr val="FF0000"/>
                </a:solidFill>
              </a:rPr>
              <a:t>Virtual Path Identifier - VPI</a:t>
            </a:r>
            <a:endParaRPr lang="pt-PT" dirty="0">
              <a:solidFill>
                <a:srgbClr val="FF0000"/>
              </a:solidFill>
            </a:endParaRPr>
          </a:p>
        </p:txBody>
      </p:sp>
      <p:sp>
        <p:nvSpPr>
          <p:cNvPr id="3" name="Marcador de Posição de Conteúdo 2"/>
          <p:cNvSpPr>
            <a:spLocks noGrp="1"/>
          </p:cNvSpPr>
          <p:nvPr>
            <p:ph sz="quarter" idx="1"/>
          </p:nvPr>
        </p:nvSpPr>
        <p:spPr>
          <a:xfrm>
            <a:off x="914400" y="1447800"/>
            <a:ext cx="7772400" cy="2773288"/>
          </a:xfrm>
        </p:spPr>
        <p:txBody>
          <a:bodyPr>
            <a:normAutofit lnSpcReduction="10000"/>
          </a:bodyPr>
          <a:lstStyle/>
          <a:p>
            <a:pPr marL="342900" indent="-342900" defTabSz="914400">
              <a:lnSpc>
                <a:spcPct val="100000"/>
              </a:lnSpc>
              <a:spcBef>
                <a:spcPct val="20000"/>
              </a:spcBef>
              <a:buClrTx/>
              <a:buSzTx/>
              <a:buFontTx/>
              <a:buChar char="•"/>
            </a:pPr>
            <a:r>
              <a:rPr lang="pt-BR" sz="2800" dirty="0" smtClean="0"/>
              <a:t>Identifica o caminho virtual da célula, no meio de transmissão</a:t>
            </a:r>
          </a:p>
          <a:p>
            <a:pPr marL="342900" indent="-342900" defTabSz="914400">
              <a:lnSpc>
                <a:spcPct val="100000"/>
              </a:lnSpc>
              <a:spcBef>
                <a:spcPct val="20000"/>
              </a:spcBef>
              <a:buClrTx/>
              <a:buSzTx/>
              <a:buFontTx/>
              <a:buChar char="•"/>
            </a:pPr>
            <a:r>
              <a:rPr lang="pt-BR" sz="2800" dirty="0" smtClean="0"/>
              <a:t>8 bits na interface Usuário-Rede (UNI)</a:t>
            </a:r>
          </a:p>
          <a:p>
            <a:pPr marL="742950" lvl="1" indent="-285750" defTabSz="914400">
              <a:lnSpc>
                <a:spcPct val="100000"/>
              </a:lnSpc>
              <a:spcBef>
                <a:spcPct val="20000"/>
              </a:spcBef>
              <a:buClrTx/>
              <a:buSzTx/>
              <a:buFontTx/>
              <a:buChar char="–"/>
            </a:pPr>
            <a:r>
              <a:rPr lang="pt-BR" dirty="0" smtClean="0"/>
              <a:t>Possibilidade de identificar 256 caminhos simultâneos</a:t>
            </a:r>
          </a:p>
          <a:p>
            <a:pPr marL="342900" indent="-342900" defTabSz="914400">
              <a:lnSpc>
                <a:spcPct val="100000"/>
              </a:lnSpc>
              <a:spcBef>
                <a:spcPct val="20000"/>
              </a:spcBef>
              <a:buClrTx/>
              <a:buSzTx/>
              <a:buFontTx/>
              <a:buChar char="•"/>
            </a:pPr>
            <a:r>
              <a:rPr lang="pt-BR" sz="2800" dirty="0" smtClean="0"/>
              <a:t>12 bits na interface Rede-Rede (NNI)</a:t>
            </a:r>
          </a:p>
          <a:p>
            <a:pPr marL="742950" lvl="1" indent="-285750" defTabSz="914400">
              <a:lnSpc>
                <a:spcPct val="100000"/>
              </a:lnSpc>
              <a:spcBef>
                <a:spcPct val="20000"/>
              </a:spcBef>
              <a:buClrTx/>
              <a:buSzTx/>
              <a:buFontTx/>
              <a:buChar char="–"/>
            </a:pPr>
            <a:r>
              <a:rPr lang="pt-BR" dirty="0" smtClean="0"/>
              <a:t>Possibilita até 4096 caminhos simultâneos</a:t>
            </a:r>
            <a:endParaRPr lang="pt-BR" sz="2800" dirty="0" smtClean="0"/>
          </a:p>
          <a:p>
            <a:pPr>
              <a:buNone/>
            </a:pPr>
            <a:endParaRPr lang="pt-PT" dirty="0"/>
          </a:p>
        </p:txBody>
      </p:sp>
      <p:pic>
        <p:nvPicPr>
          <p:cNvPr id="6146" name="Picture 2"/>
          <p:cNvPicPr>
            <a:picLocks noChangeAspect="1" noChangeArrowheads="1"/>
          </p:cNvPicPr>
          <p:nvPr/>
        </p:nvPicPr>
        <p:blipFill>
          <a:blip r:embed="rId2" cstate="print"/>
          <a:srcRect/>
          <a:stretch>
            <a:fillRect/>
          </a:stretch>
        </p:blipFill>
        <p:spPr bwMode="auto">
          <a:xfrm>
            <a:off x="1547664" y="4365104"/>
            <a:ext cx="5760640" cy="1619250"/>
          </a:xfrm>
          <a:prstGeom prst="rect">
            <a:avLst/>
          </a:prstGeom>
          <a:noFill/>
          <a:ln w="9525">
            <a:noFill/>
            <a:miter lim="800000"/>
            <a:headEnd/>
            <a:tailEnd/>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994122"/>
          </a:xfrm>
        </p:spPr>
        <p:txBody>
          <a:bodyPr>
            <a:normAutofit/>
          </a:bodyPr>
          <a:lstStyle/>
          <a:p>
            <a:r>
              <a:rPr lang="pt-BR" b="1" dirty="0" smtClean="0">
                <a:solidFill>
                  <a:srgbClr val="FF0000"/>
                </a:solidFill>
              </a:rPr>
              <a:t>Virtual Channel Identifier - VCI</a:t>
            </a:r>
            <a:endParaRPr lang="pt-PT" dirty="0">
              <a:solidFill>
                <a:srgbClr val="FF0000"/>
              </a:solidFill>
            </a:endParaRPr>
          </a:p>
        </p:txBody>
      </p:sp>
      <p:sp>
        <p:nvSpPr>
          <p:cNvPr id="3" name="Marcador de Posição de Conteúdo 2"/>
          <p:cNvSpPr>
            <a:spLocks noGrp="1"/>
          </p:cNvSpPr>
          <p:nvPr>
            <p:ph sz="quarter" idx="1"/>
          </p:nvPr>
        </p:nvSpPr>
        <p:spPr>
          <a:xfrm>
            <a:off x="914400" y="1447800"/>
            <a:ext cx="7772400" cy="2269232"/>
          </a:xfrm>
        </p:spPr>
        <p:txBody>
          <a:bodyPr/>
          <a:lstStyle/>
          <a:p>
            <a:pPr marL="342900" indent="-342900" defTabSz="914400">
              <a:lnSpc>
                <a:spcPct val="100000"/>
              </a:lnSpc>
              <a:spcBef>
                <a:spcPct val="20000"/>
              </a:spcBef>
              <a:buClrTx/>
              <a:buSzTx/>
              <a:buFontTx/>
              <a:buChar char="•"/>
            </a:pPr>
            <a:r>
              <a:rPr lang="pt-BR" sz="2800" dirty="0" smtClean="0"/>
              <a:t>Identifica o canal virtual da célula em um determinado caminho virtual</a:t>
            </a:r>
          </a:p>
          <a:p>
            <a:pPr marL="342900" indent="-342900" defTabSz="914400">
              <a:lnSpc>
                <a:spcPct val="100000"/>
              </a:lnSpc>
              <a:spcBef>
                <a:spcPct val="20000"/>
              </a:spcBef>
              <a:buClrTx/>
              <a:buSzTx/>
              <a:buFontTx/>
              <a:buChar char="•"/>
            </a:pPr>
            <a:r>
              <a:rPr lang="pt-BR" sz="2800" dirty="0" smtClean="0"/>
              <a:t>16 bits tanto na UNI quanto na NNI</a:t>
            </a:r>
          </a:p>
          <a:p>
            <a:pPr marL="742950" lvl="1" indent="-285750" defTabSz="914400">
              <a:lnSpc>
                <a:spcPct val="100000"/>
              </a:lnSpc>
              <a:spcBef>
                <a:spcPct val="20000"/>
              </a:spcBef>
              <a:buClrTx/>
              <a:buSzTx/>
              <a:buFontTx/>
              <a:buChar char="–"/>
            </a:pPr>
            <a:r>
              <a:rPr lang="pt-BR" dirty="0" smtClean="0"/>
              <a:t>Possibilita até 65536 (2</a:t>
            </a:r>
            <a:r>
              <a:rPr lang="pt-BR" baseline="30000" dirty="0" smtClean="0"/>
              <a:t>16</a:t>
            </a:r>
            <a:r>
              <a:rPr lang="pt-BR" dirty="0" smtClean="0"/>
              <a:t>)canais simultâneos por caminho virtual</a:t>
            </a:r>
            <a:endParaRPr lang="pt-PT" dirty="0"/>
          </a:p>
        </p:txBody>
      </p:sp>
      <p:pic>
        <p:nvPicPr>
          <p:cNvPr id="7170" name="Picture 2"/>
          <p:cNvPicPr>
            <a:picLocks noChangeAspect="1" noChangeArrowheads="1"/>
          </p:cNvPicPr>
          <p:nvPr/>
        </p:nvPicPr>
        <p:blipFill>
          <a:blip r:embed="rId2" cstate="print"/>
          <a:srcRect/>
          <a:stretch>
            <a:fillRect/>
          </a:stretch>
        </p:blipFill>
        <p:spPr bwMode="auto">
          <a:xfrm>
            <a:off x="1691680" y="3861048"/>
            <a:ext cx="6264696" cy="2312665"/>
          </a:xfrm>
          <a:prstGeom prst="rect">
            <a:avLst/>
          </a:prstGeom>
          <a:noFill/>
          <a:ln w="9525">
            <a:noFill/>
            <a:miter lim="800000"/>
            <a:headEnd/>
            <a:tailEnd/>
          </a:ln>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smtClean="0">
                <a:solidFill>
                  <a:srgbClr val="FF0000"/>
                </a:solidFill>
              </a:rPr>
              <a:t>Conexões e Comutação ATM</a:t>
            </a:r>
            <a:endParaRPr lang="pt-PT" b="1" dirty="0">
              <a:solidFill>
                <a:srgbClr val="FF0000"/>
              </a:solidFill>
            </a:endParaRPr>
          </a:p>
        </p:txBody>
      </p:sp>
      <p:pic>
        <p:nvPicPr>
          <p:cNvPr id="8194" name="Picture 2"/>
          <p:cNvPicPr>
            <a:picLocks noGrp="1" noChangeAspect="1" noChangeArrowheads="1"/>
          </p:cNvPicPr>
          <p:nvPr>
            <p:ph sz="quarter" idx="1"/>
          </p:nvPr>
        </p:nvPicPr>
        <p:blipFill>
          <a:blip r:embed="rId2" cstate="print"/>
          <a:srcRect/>
          <a:stretch>
            <a:fillRect/>
          </a:stretch>
        </p:blipFill>
        <p:spPr bwMode="auto">
          <a:xfrm>
            <a:off x="1979712" y="1772816"/>
            <a:ext cx="5184575" cy="4176464"/>
          </a:xfrm>
          <a:prstGeom prst="rect">
            <a:avLst/>
          </a:prstGeom>
          <a:noFill/>
          <a:ln w="9525">
            <a:noFill/>
            <a:miter lim="800000"/>
            <a:headEnd/>
            <a:tailEnd/>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smtClean="0">
                <a:solidFill>
                  <a:srgbClr val="FF0000"/>
                </a:solidFill>
              </a:rPr>
              <a:t>Conexões e Comutação ATM</a:t>
            </a:r>
            <a:endParaRPr lang="pt-PT" b="1" dirty="0">
              <a:solidFill>
                <a:srgbClr val="FF0000"/>
              </a:solidFill>
            </a:endParaRPr>
          </a:p>
        </p:txBody>
      </p:sp>
      <p:sp>
        <p:nvSpPr>
          <p:cNvPr id="3" name="Marcador de Posição de Conteúdo 2"/>
          <p:cNvSpPr>
            <a:spLocks noGrp="1"/>
          </p:cNvSpPr>
          <p:nvPr>
            <p:ph sz="quarter" idx="1"/>
          </p:nvPr>
        </p:nvSpPr>
        <p:spPr>
          <a:xfrm>
            <a:off x="914400" y="1447800"/>
            <a:ext cx="7772400" cy="1693168"/>
          </a:xfrm>
        </p:spPr>
        <p:txBody>
          <a:bodyPr/>
          <a:lstStyle/>
          <a:p>
            <a:pPr>
              <a:buNone/>
            </a:pPr>
            <a:r>
              <a:rPr lang="pt-BR" dirty="0" smtClean="0">
                <a:solidFill>
                  <a:schemeClr val="accent2"/>
                </a:solidFill>
              </a:rPr>
              <a:t>Com o objetivo de se ter rapidez no processo de comutação, a rede ATM é orientada a conexão, ou seja, é estabelecido um circuito virtual através da rede entre os pontos envolvidos.</a:t>
            </a:r>
          </a:p>
          <a:p>
            <a:pPr>
              <a:buNone/>
            </a:pPr>
            <a:endParaRPr lang="pt-PT" dirty="0"/>
          </a:p>
        </p:txBody>
      </p:sp>
      <p:sp>
        <p:nvSpPr>
          <p:cNvPr id="4" name="Rectângulo 3"/>
          <p:cNvSpPr/>
          <p:nvPr/>
        </p:nvSpPr>
        <p:spPr>
          <a:xfrm>
            <a:off x="1259632" y="2852936"/>
            <a:ext cx="7272808" cy="3785652"/>
          </a:xfrm>
          <a:prstGeom prst="rect">
            <a:avLst/>
          </a:prstGeom>
        </p:spPr>
        <p:txBody>
          <a:bodyPr wrap="square">
            <a:spAutoFit/>
          </a:bodyPr>
          <a:lstStyle/>
          <a:p>
            <a:pPr algn="just">
              <a:lnSpc>
                <a:spcPct val="100000"/>
              </a:lnSpc>
              <a:spcBef>
                <a:spcPct val="50000"/>
              </a:spcBef>
              <a:buClrTx/>
              <a:buSzTx/>
              <a:buFontTx/>
              <a:buNone/>
            </a:pPr>
            <a:r>
              <a:rPr lang="pt-BR" sz="2400" dirty="0" smtClean="0">
                <a:solidFill>
                  <a:schemeClr val="accent2"/>
                </a:solidFill>
              </a:rPr>
              <a:t>Há dois tipos de conexões: </a:t>
            </a:r>
          </a:p>
          <a:p>
            <a:pPr algn="just">
              <a:lnSpc>
                <a:spcPct val="100000"/>
              </a:lnSpc>
              <a:spcBef>
                <a:spcPct val="50000"/>
              </a:spcBef>
              <a:buClrTx/>
              <a:buSzTx/>
              <a:buFont typeface="Symbol" pitchFamily="18" charset="2"/>
              <a:buChar char="·"/>
            </a:pPr>
            <a:r>
              <a:rPr lang="pt-BR" sz="2400" b="1" dirty="0" smtClean="0">
                <a:solidFill>
                  <a:srgbClr val="FF0000"/>
                </a:solidFill>
                <a:cs typeface="Times New Roman" pitchFamily="18" charset="0"/>
                <a:sym typeface="Symbol" pitchFamily="18" charset="2"/>
              </a:rPr>
              <a:t> PVC </a:t>
            </a:r>
            <a:r>
              <a:rPr lang="pt-BR" sz="2400" b="1" dirty="0" smtClean="0">
                <a:solidFill>
                  <a:schemeClr val="accent2"/>
                </a:solidFill>
                <a:cs typeface="Times New Roman" pitchFamily="18" charset="0"/>
                <a:sym typeface="Symbol" pitchFamily="18" charset="2"/>
              </a:rPr>
              <a:t>– </a:t>
            </a:r>
            <a:r>
              <a:rPr lang="pt-BR" sz="2400" dirty="0" smtClean="0">
                <a:solidFill>
                  <a:schemeClr val="accent2"/>
                </a:solidFill>
                <a:cs typeface="Times New Roman" pitchFamily="18" charset="0"/>
                <a:sym typeface="Symbol" pitchFamily="18" charset="2"/>
              </a:rPr>
              <a:t>Permant Virtual Circuit – Circuito Virtual Permanente.</a:t>
            </a:r>
          </a:p>
          <a:p>
            <a:pPr lvl="1" algn="just">
              <a:lnSpc>
                <a:spcPct val="100000"/>
              </a:lnSpc>
              <a:spcBef>
                <a:spcPct val="50000"/>
              </a:spcBef>
              <a:buClr>
                <a:schemeClr val="tx1"/>
              </a:buClr>
              <a:buSzTx/>
              <a:buFont typeface="Wingdings" pitchFamily="2" charset="2"/>
              <a:buChar char="Ø"/>
            </a:pPr>
            <a:r>
              <a:rPr lang="en-GB" sz="2400" dirty="0" err="1" smtClean="0">
                <a:solidFill>
                  <a:srgbClr val="003399"/>
                </a:solidFill>
              </a:rPr>
              <a:t>Conexões</a:t>
            </a:r>
            <a:r>
              <a:rPr lang="en-GB" sz="2400" dirty="0" smtClean="0">
                <a:solidFill>
                  <a:srgbClr val="003399"/>
                </a:solidFill>
              </a:rPr>
              <a:t> </a:t>
            </a:r>
            <a:r>
              <a:rPr lang="en-GB" sz="2400" dirty="0" err="1" smtClean="0">
                <a:solidFill>
                  <a:srgbClr val="003399"/>
                </a:solidFill>
              </a:rPr>
              <a:t>estabelecidas</a:t>
            </a:r>
            <a:r>
              <a:rPr lang="en-GB" sz="2400" dirty="0" smtClean="0">
                <a:solidFill>
                  <a:srgbClr val="003399"/>
                </a:solidFill>
              </a:rPr>
              <a:t> de forma </a:t>
            </a:r>
            <a:r>
              <a:rPr lang="en-GB" sz="2400" dirty="0" err="1" smtClean="0">
                <a:solidFill>
                  <a:srgbClr val="003399"/>
                </a:solidFill>
              </a:rPr>
              <a:t>permanente</a:t>
            </a:r>
            <a:r>
              <a:rPr lang="en-GB" sz="2400" dirty="0" smtClean="0">
                <a:solidFill>
                  <a:srgbClr val="003399"/>
                </a:solidFill>
              </a:rPr>
              <a:t>, </a:t>
            </a:r>
            <a:r>
              <a:rPr lang="en-GB" sz="2400" dirty="0" err="1" smtClean="0">
                <a:solidFill>
                  <a:srgbClr val="003399"/>
                </a:solidFill>
              </a:rPr>
              <a:t>por</a:t>
            </a:r>
            <a:r>
              <a:rPr lang="en-GB" sz="2400" dirty="0" smtClean="0">
                <a:solidFill>
                  <a:srgbClr val="003399"/>
                </a:solidFill>
              </a:rPr>
              <a:t> </a:t>
            </a:r>
            <a:r>
              <a:rPr lang="en-GB" sz="2400" dirty="0" err="1" smtClean="0">
                <a:solidFill>
                  <a:srgbClr val="003399"/>
                </a:solidFill>
              </a:rPr>
              <a:t>processos</a:t>
            </a:r>
            <a:r>
              <a:rPr lang="en-GB" sz="2400" dirty="0" smtClean="0">
                <a:solidFill>
                  <a:srgbClr val="003399"/>
                </a:solidFill>
              </a:rPr>
              <a:t> de </a:t>
            </a:r>
            <a:r>
              <a:rPr lang="en-GB" sz="2400" dirty="0" err="1" smtClean="0">
                <a:solidFill>
                  <a:srgbClr val="003399"/>
                </a:solidFill>
              </a:rPr>
              <a:t>gerência</a:t>
            </a:r>
            <a:endParaRPr lang="pt-BR" sz="2400" dirty="0" smtClean="0">
              <a:solidFill>
                <a:schemeClr val="accent2"/>
              </a:solidFill>
              <a:cs typeface="Times New Roman" pitchFamily="18" charset="0"/>
              <a:sym typeface="Symbol" pitchFamily="18" charset="2"/>
            </a:endParaRPr>
          </a:p>
          <a:p>
            <a:pPr algn="just">
              <a:lnSpc>
                <a:spcPct val="100000"/>
              </a:lnSpc>
              <a:spcBef>
                <a:spcPct val="50000"/>
              </a:spcBef>
              <a:buClrTx/>
              <a:buSzTx/>
              <a:buFont typeface="Symbol" pitchFamily="18" charset="2"/>
              <a:buChar char="·"/>
            </a:pPr>
            <a:r>
              <a:rPr lang="pt-BR" sz="2400" b="1" dirty="0" smtClean="0">
                <a:solidFill>
                  <a:srgbClr val="FF0000"/>
                </a:solidFill>
                <a:cs typeface="Times New Roman" pitchFamily="18" charset="0"/>
                <a:sym typeface="Symbol" pitchFamily="18" charset="2"/>
              </a:rPr>
              <a:t> SVC </a:t>
            </a:r>
            <a:r>
              <a:rPr lang="pt-BR" sz="2400" b="1" dirty="0" smtClean="0">
                <a:solidFill>
                  <a:schemeClr val="accent2"/>
                </a:solidFill>
                <a:cs typeface="Times New Roman" pitchFamily="18" charset="0"/>
                <a:sym typeface="Symbol" pitchFamily="18" charset="2"/>
              </a:rPr>
              <a:t>– </a:t>
            </a:r>
            <a:r>
              <a:rPr lang="pt-BR" sz="2400" dirty="0" smtClean="0">
                <a:solidFill>
                  <a:schemeClr val="accent2"/>
                </a:solidFill>
                <a:cs typeface="Times New Roman" pitchFamily="18" charset="0"/>
                <a:sym typeface="Symbol" pitchFamily="18" charset="2"/>
              </a:rPr>
              <a:t>Switched Virtual Circuit – Circuito Virtual Comutado;</a:t>
            </a:r>
          </a:p>
          <a:p>
            <a:pPr lvl="1" algn="just">
              <a:lnSpc>
                <a:spcPct val="100000"/>
              </a:lnSpc>
              <a:spcBef>
                <a:spcPct val="50000"/>
              </a:spcBef>
              <a:buClr>
                <a:schemeClr val="tx1"/>
              </a:buClr>
              <a:buSzTx/>
              <a:buFont typeface="Wingdings" pitchFamily="2" charset="2"/>
              <a:buChar char="Ø"/>
            </a:pPr>
            <a:r>
              <a:rPr lang="en-GB" sz="2400" dirty="0" err="1" smtClean="0">
                <a:solidFill>
                  <a:srgbClr val="003399"/>
                </a:solidFill>
              </a:rPr>
              <a:t>Conexões</a:t>
            </a:r>
            <a:r>
              <a:rPr lang="en-GB" sz="2400" dirty="0" smtClean="0">
                <a:solidFill>
                  <a:srgbClr val="003399"/>
                </a:solidFill>
              </a:rPr>
              <a:t> </a:t>
            </a:r>
            <a:r>
              <a:rPr lang="en-GB" sz="2400" dirty="0" err="1" smtClean="0">
                <a:solidFill>
                  <a:srgbClr val="003399"/>
                </a:solidFill>
              </a:rPr>
              <a:t>estabelecidas</a:t>
            </a:r>
            <a:r>
              <a:rPr lang="en-GB" sz="2400" dirty="0" smtClean="0">
                <a:solidFill>
                  <a:srgbClr val="003399"/>
                </a:solidFill>
              </a:rPr>
              <a:t> sob </a:t>
            </a:r>
            <a:r>
              <a:rPr lang="en-GB" sz="2400" dirty="0" err="1" smtClean="0">
                <a:solidFill>
                  <a:srgbClr val="003399"/>
                </a:solidFill>
              </a:rPr>
              <a:t>demanda</a:t>
            </a:r>
            <a:r>
              <a:rPr lang="en-GB" sz="2400" dirty="0" smtClean="0">
                <a:solidFill>
                  <a:srgbClr val="003399"/>
                </a:solidFill>
              </a:rPr>
              <a:t>, </a:t>
            </a:r>
            <a:r>
              <a:rPr lang="en-GB" sz="2400" dirty="0" err="1" smtClean="0">
                <a:solidFill>
                  <a:srgbClr val="003399"/>
                </a:solidFill>
              </a:rPr>
              <a:t>através</a:t>
            </a:r>
            <a:r>
              <a:rPr lang="en-GB" sz="2400" dirty="0" smtClean="0">
                <a:solidFill>
                  <a:srgbClr val="003399"/>
                </a:solidFill>
              </a:rPr>
              <a:t> de </a:t>
            </a:r>
            <a:r>
              <a:rPr lang="en-GB" sz="2400" dirty="0" err="1" smtClean="0">
                <a:solidFill>
                  <a:srgbClr val="003399"/>
                </a:solidFill>
              </a:rPr>
              <a:t>sinalização</a:t>
            </a:r>
            <a:r>
              <a:rPr lang="pt-BR" sz="2400" dirty="0" smtClean="0">
                <a:solidFill>
                  <a:schemeClr val="accent2"/>
                </a:solidFill>
                <a:cs typeface="Times New Roman" pitchFamily="18" charset="0"/>
                <a:sym typeface="Symbol" pitchFamily="18" charset="2"/>
              </a:rPr>
              <a:t>.</a:t>
            </a:r>
            <a:endParaRPr lang="pt-BR" sz="2400" dirty="0">
              <a:solidFill>
                <a:schemeClr val="accent2"/>
              </a:solidFill>
              <a:cs typeface="Times New Roman" pitchFamily="18" charset="0"/>
              <a:sym typeface="Symbol" pitchFamily="18" charset="2"/>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994122"/>
          </a:xfrm>
        </p:spPr>
        <p:txBody>
          <a:bodyPr/>
          <a:lstStyle/>
          <a:p>
            <a:r>
              <a:rPr lang="pt-BR" b="1" dirty="0" smtClean="0">
                <a:solidFill>
                  <a:srgbClr val="FF0000"/>
                </a:solidFill>
              </a:rPr>
              <a:t>Conexões ATM - SVC</a:t>
            </a:r>
            <a:endParaRPr lang="pt-PT" b="1" dirty="0">
              <a:solidFill>
                <a:srgbClr val="FF0000"/>
              </a:solidFill>
            </a:endParaRPr>
          </a:p>
        </p:txBody>
      </p:sp>
      <p:sp>
        <p:nvSpPr>
          <p:cNvPr id="3" name="Marcador de Posição de Conteúdo 2"/>
          <p:cNvSpPr>
            <a:spLocks noGrp="1"/>
          </p:cNvSpPr>
          <p:nvPr>
            <p:ph sz="quarter" idx="1"/>
          </p:nvPr>
        </p:nvSpPr>
        <p:spPr/>
        <p:txBody>
          <a:bodyPr/>
          <a:lstStyle/>
          <a:p>
            <a:pPr>
              <a:buNone/>
            </a:pPr>
            <a:r>
              <a:rPr lang="pt-BR" dirty="0" smtClean="0"/>
              <a:t>SVC - Switched Virtual Connection - Conexão Virtual Comutada - </a:t>
            </a:r>
            <a:r>
              <a:rPr lang="en-GB" dirty="0" err="1" smtClean="0">
                <a:solidFill>
                  <a:srgbClr val="003399"/>
                </a:solidFill>
              </a:rPr>
              <a:t>Conexões</a:t>
            </a:r>
            <a:r>
              <a:rPr lang="en-GB" dirty="0" smtClean="0">
                <a:solidFill>
                  <a:srgbClr val="003399"/>
                </a:solidFill>
              </a:rPr>
              <a:t> </a:t>
            </a:r>
            <a:r>
              <a:rPr lang="en-GB" dirty="0" err="1" smtClean="0">
                <a:solidFill>
                  <a:srgbClr val="003399"/>
                </a:solidFill>
              </a:rPr>
              <a:t>estabelecidas</a:t>
            </a:r>
            <a:r>
              <a:rPr lang="en-GB" dirty="0" smtClean="0">
                <a:solidFill>
                  <a:srgbClr val="003399"/>
                </a:solidFill>
              </a:rPr>
              <a:t> sob </a:t>
            </a:r>
            <a:r>
              <a:rPr lang="en-GB" dirty="0" err="1" smtClean="0">
                <a:solidFill>
                  <a:srgbClr val="003399"/>
                </a:solidFill>
              </a:rPr>
              <a:t>demanda</a:t>
            </a:r>
            <a:r>
              <a:rPr lang="en-GB" dirty="0" smtClean="0">
                <a:solidFill>
                  <a:srgbClr val="003399"/>
                </a:solidFill>
              </a:rPr>
              <a:t>, </a:t>
            </a:r>
            <a:r>
              <a:rPr lang="en-GB" dirty="0" err="1" smtClean="0">
                <a:solidFill>
                  <a:srgbClr val="003399"/>
                </a:solidFill>
              </a:rPr>
              <a:t>através</a:t>
            </a:r>
            <a:r>
              <a:rPr lang="en-GB" dirty="0" smtClean="0">
                <a:solidFill>
                  <a:srgbClr val="003399"/>
                </a:solidFill>
              </a:rPr>
              <a:t> de </a:t>
            </a:r>
            <a:r>
              <a:rPr lang="en-GB" dirty="0" err="1" smtClean="0">
                <a:solidFill>
                  <a:srgbClr val="003399"/>
                </a:solidFill>
              </a:rPr>
              <a:t>sinalização</a:t>
            </a:r>
            <a:endParaRPr lang="pt-BR" dirty="0" smtClean="0">
              <a:solidFill>
                <a:srgbClr val="003399"/>
              </a:solidFill>
            </a:endParaRPr>
          </a:p>
          <a:p>
            <a:pPr>
              <a:buNone/>
            </a:pPr>
            <a:endParaRPr lang="pt-PT" dirty="0"/>
          </a:p>
        </p:txBody>
      </p:sp>
      <p:pic>
        <p:nvPicPr>
          <p:cNvPr id="9219" name="Picture 3"/>
          <p:cNvPicPr>
            <a:picLocks noChangeAspect="1" noChangeArrowheads="1"/>
          </p:cNvPicPr>
          <p:nvPr/>
        </p:nvPicPr>
        <p:blipFill>
          <a:blip r:embed="rId2" cstate="print"/>
          <a:srcRect/>
          <a:stretch>
            <a:fillRect/>
          </a:stretch>
        </p:blipFill>
        <p:spPr bwMode="auto">
          <a:xfrm>
            <a:off x="2195736" y="2780928"/>
            <a:ext cx="5472608" cy="3600400"/>
          </a:xfrm>
          <a:prstGeom prst="rect">
            <a:avLst/>
          </a:prstGeom>
          <a:noFill/>
          <a:ln w="9525">
            <a:noFill/>
            <a:miter lim="800000"/>
            <a:headEnd/>
            <a:tailEnd/>
          </a:ln>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smtClean="0">
                <a:solidFill>
                  <a:srgbClr val="FF0000"/>
                </a:solidFill>
              </a:rPr>
              <a:t>Conexões ATM- PVC</a:t>
            </a:r>
            <a:endParaRPr lang="pt-PT" b="1" dirty="0">
              <a:solidFill>
                <a:srgbClr val="FF0000"/>
              </a:solidFill>
            </a:endParaRPr>
          </a:p>
        </p:txBody>
      </p:sp>
      <p:sp>
        <p:nvSpPr>
          <p:cNvPr id="3" name="Marcador de Posição de Conteúdo 2"/>
          <p:cNvSpPr>
            <a:spLocks noGrp="1"/>
          </p:cNvSpPr>
          <p:nvPr>
            <p:ph sz="quarter" idx="1"/>
          </p:nvPr>
        </p:nvSpPr>
        <p:spPr/>
        <p:txBody>
          <a:bodyPr/>
          <a:lstStyle/>
          <a:p>
            <a:pPr>
              <a:buNone/>
            </a:pPr>
            <a:r>
              <a:rPr lang="pt-BR" dirty="0" smtClean="0"/>
              <a:t>PVC - Permanent Virtual Connection - Conexão Virtual Permanente</a:t>
            </a:r>
          </a:p>
          <a:p>
            <a:pPr>
              <a:buNone/>
            </a:pPr>
            <a:endParaRPr lang="pt-PT" dirty="0"/>
          </a:p>
        </p:txBody>
      </p:sp>
      <p:pic>
        <p:nvPicPr>
          <p:cNvPr id="10242" name="Picture 2"/>
          <p:cNvPicPr>
            <a:picLocks noChangeAspect="1" noChangeArrowheads="1"/>
          </p:cNvPicPr>
          <p:nvPr/>
        </p:nvPicPr>
        <p:blipFill>
          <a:blip r:embed="rId2" cstate="print"/>
          <a:srcRect/>
          <a:stretch>
            <a:fillRect/>
          </a:stretch>
        </p:blipFill>
        <p:spPr bwMode="auto">
          <a:xfrm>
            <a:off x="1043608" y="2276872"/>
            <a:ext cx="7200800" cy="3960440"/>
          </a:xfrm>
          <a:prstGeom prst="rect">
            <a:avLst/>
          </a:prstGeom>
          <a:noFill/>
          <a:ln w="9525">
            <a:noFill/>
            <a:miter lim="800000"/>
            <a:headEnd/>
            <a:tailEnd/>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850106"/>
          </a:xfrm>
        </p:spPr>
        <p:txBody>
          <a:bodyPr/>
          <a:lstStyle/>
          <a:p>
            <a:r>
              <a:rPr lang="pt-BR" b="1" dirty="0" smtClean="0">
                <a:solidFill>
                  <a:srgbClr val="FF0000"/>
                </a:solidFill>
              </a:rPr>
              <a:t>Conexões  e Comutação ATM</a:t>
            </a:r>
            <a:endParaRPr lang="pt-PT" b="1" dirty="0">
              <a:solidFill>
                <a:srgbClr val="FF0000"/>
              </a:solidFill>
            </a:endParaRPr>
          </a:p>
        </p:txBody>
      </p:sp>
      <p:sp>
        <p:nvSpPr>
          <p:cNvPr id="3" name="Marcador de Posição de Conteúdo 2"/>
          <p:cNvSpPr>
            <a:spLocks noGrp="1"/>
          </p:cNvSpPr>
          <p:nvPr>
            <p:ph sz="quarter" idx="1"/>
          </p:nvPr>
        </p:nvSpPr>
        <p:spPr>
          <a:xfrm>
            <a:off x="914400" y="1447800"/>
            <a:ext cx="7772400" cy="2845296"/>
          </a:xfrm>
        </p:spPr>
        <p:txBody>
          <a:bodyPr/>
          <a:lstStyle/>
          <a:p>
            <a:pPr marL="342900" indent="-342900" defTabSz="762000">
              <a:lnSpc>
                <a:spcPct val="100000"/>
              </a:lnSpc>
              <a:spcBef>
                <a:spcPct val="20000"/>
              </a:spcBef>
              <a:buClr>
                <a:srgbClr val="000000"/>
              </a:buClr>
            </a:pPr>
            <a:r>
              <a:rPr lang="pt-BR" dirty="0" smtClean="0">
                <a:solidFill>
                  <a:srgbClr val="000000"/>
                </a:solidFill>
              </a:rPr>
              <a:t>Para a transferência de informação na rede ATM é estabelecida uma conexão lógica chamada </a:t>
            </a:r>
            <a:r>
              <a:rPr lang="pt-BR" b="1" i="1" dirty="0" smtClean="0">
                <a:solidFill>
                  <a:srgbClr val="000000"/>
                </a:solidFill>
              </a:rPr>
              <a:t>Virtual Chanel Connection - VCC</a:t>
            </a:r>
            <a:r>
              <a:rPr lang="pt-BR" dirty="0" smtClean="0">
                <a:solidFill>
                  <a:srgbClr val="000000"/>
                </a:solidFill>
              </a:rPr>
              <a:t>.</a:t>
            </a:r>
          </a:p>
          <a:p>
            <a:pPr marL="342900" indent="-342900" defTabSz="762000">
              <a:lnSpc>
                <a:spcPct val="100000"/>
              </a:lnSpc>
              <a:spcBef>
                <a:spcPct val="20000"/>
              </a:spcBef>
              <a:buClr>
                <a:srgbClr val="000000"/>
              </a:buClr>
            </a:pPr>
            <a:r>
              <a:rPr lang="pt-BR" dirty="0" smtClean="0">
                <a:solidFill>
                  <a:srgbClr val="000000"/>
                </a:solidFill>
              </a:rPr>
              <a:t>Uma </a:t>
            </a:r>
            <a:r>
              <a:rPr lang="pt-BR" b="1" i="1" dirty="0" smtClean="0">
                <a:solidFill>
                  <a:srgbClr val="000000"/>
                </a:solidFill>
              </a:rPr>
              <a:t>VCC </a:t>
            </a:r>
            <a:r>
              <a:rPr lang="pt-BR" dirty="0" smtClean="0">
                <a:solidFill>
                  <a:srgbClr val="000000"/>
                </a:solidFill>
              </a:rPr>
              <a:t>é formada pela concatenação de conexões virtuais, estabelecidas nos vários enlaces físicos da rede, denominadas de </a:t>
            </a:r>
            <a:r>
              <a:rPr lang="pt-BR" b="1" i="1" dirty="0" smtClean="0">
                <a:solidFill>
                  <a:srgbClr val="000000"/>
                </a:solidFill>
              </a:rPr>
              <a:t>Virtual Chanel Link - VCL</a:t>
            </a:r>
            <a:r>
              <a:rPr lang="pt-BR" dirty="0" smtClean="0">
                <a:solidFill>
                  <a:srgbClr val="000000"/>
                </a:solidFill>
              </a:rPr>
              <a:t>.</a:t>
            </a:r>
          </a:p>
          <a:p>
            <a:pPr>
              <a:buNone/>
            </a:pPr>
            <a:endParaRPr lang="pt-PT" dirty="0"/>
          </a:p>
        </p:txBody>
      </p:sp>
      <p:pic>
        <p:nvPicPr>
          <p:cNvPr id="11266" name="Picture 2"/>
          <p:cNvPicPr>
            <a:picLocks noChangeAspect="1" noChangeArrowheads="1"/>
          </p:cNvPicPr>
          <p:nvPr/>
        </p:nvPicPr>
        <p:blipFill>
          <a:blip r:embed="rId2" cstate="print"/>
          <a:srcRect/>
          <a:stretch>
            <a:fillRect/>
          </a:stretch>
        </p:blipFill>
        <p:spPr bwMode="auto">
          <a:xfrm>
            <a:off x="1403648" y="4077072"/>
            <a:ext cx="5976664" cy="2232248"/>
          </a:xfrm>
          <a:prstGeom prst="rect">
            <a:avLst/>
          </a:prstGeom>
          <a:noFill/>
          <a:ln w="9525">
            <a:noFill/>
            <a:miter lim="800000"/>
            <a:headEnd/>
            <a:tailEnd/>
          </a:ln>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rPr>
              <a:t>Conexões  e Comutação ATM</a:t>
            </a:r>
            <a:endParaRPr lang="pt-PT" dirty="0"/>
          </a:p>
        </p:txBody>
      </p:sp>
      <p:sp>
        <p:nvSpPr>
          <p:cNvPr id="3" name="Marcador de Posição de Conteúdo 2"/>
          <p:cNvSpPr>
            <a:spLocks noGrp="1"/>
          </p:cNvSpPr>
          <p:nvPr>
            <p:ph sz="quarter" idx="1"/>
          </p:nvPr>
        </p:nvSpPr>
        <p:spPr>
          <a:xfrm>
            <a:off x="914400" y="1447800"/>
            <a:ext cx="3081536" cy="4572000"/>
          </a:xfrm>
        </p:spPr>
        <p:txBody>
          <a:bodyPr>
            <a:normAutofit lnSpcReduction="10000"/>
          </a:bodyPr>
          <a:lstStyle/>
          <a:p>
            <a:pPr>
              <a:buNone/>
            </a:pPr>
            <a:r>
              <a:rPr lang="pt-BR" dirty="0" smtClean="0">
                <a:solidFill>
                  <a:srgbClr val="000000"/>
                </a:solidFill>
              </a:rPr>
              <a:t>   Em cada enlace físico da rede podemos ter diversos VCL de diversas VCC. VCLs de VCCs que serão roteadas por um mesmo caminho formarão um </a:t>
            </a:r>
            <a:r>
              <a:rPr lang="pt-BR" b="1" i="1" dirty="0" smtClean="0">
                <a:solidFill>
                  <a:srgbClr val="000000"/>
                </a:solidFill>
              </a:rPr>
              <a:t>Virtual Path Link - VPL</a:t>
            </a:r>
            <a:r>
              <a:rPr lang="pt-BR" dirty="0" smtClean="0">
                <a:solidFill>
                  <a:srgbClr val="000000"/>
                </a:solidFill>
              </a:rPr>
              <a:t> e a concatenação destes uma </a:t>
            </a:r>
            <a:r>
              <a:rPr lang="pt-BR" b="1" i="1" dirty="0" smtClean="0">
                <a:solidFill>
                  <a:srgbClr val="000000"/>
                </a:solidFill>
              </a:rPr>
              <a:t>Virtual Path Connection - VPC. </a:t>
            </a:r>
          </a:p>
          <a:p>
            <a:pPr>
              <a:buNone/>
            </a:pPr>
            <a:endParaRPr lang="pt-PT" dirty="0"/>
          </a:p>
        </p:txBody>
      </p:sp>
      <p:pic>
        <p:nvPicPr>
          <p:cNvPr id="12290" name="Picture 2"/>
          <p:cNvPicPr>
            <a:picLocks noChangeAspect="1" noChangeArrowheads="1"/>
          </p:cNvPicPr>
          <p:nvPr/>
        </p:nvPicPr>
        <p:blipFill>
          <a:blip r:embed="rId2" cstate="print"/>
          <a:srcRect/>
          <a:stretch>
            <a:fillRect/>
          </a:stretch>
        </p:blipFill>
        <p:spPr bwMode="auto">
          <a:xfrm>
            <a:off x="4860032" y="1556792"/>
            <a:ext cx="2638425" cy="3797796"/>
          </a:xfrm>
          <a:prstGeom prst="rect">
            <a:avLst/>
          </a:prstGeom>
          <a:noFill/>
          <a:ln w="9525">
            <a:noFill/>
            <a:miter lim="800000"/>
            <a:headEnd/>
            <a:tailEnd/>
          </a:ln>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922114"/>
          </a:xfrm>
        </p:spPr>
        <p:txBody>
          <a:bodyPr/>
          <a:lstStyle/>
          <a:p>
            <a:r>
              <a:rPr lang="pt-BR" b="1" dirty="0" smtClean="0">
                <a:solidFill>
                  <a:srgbClr val="FF0000"/>
                </a:solidFill>
              </a:rPr>
              <a:t>Conexões ATM</a:t>
            </a:r>
            <a:endParaRPr lang="pt-PT" dirty="0"/>
          </a:p>
        </p:txBody>
      </p:sp>
      <p:pic>
        <p:nvPicPr>
          <p:cNvPr id="13314" name="Picture 2"/>
          <p:cNvPicPr>
            <a:picLocks noGrp="1" noChangeAspect="1" noChangeArrowheads="1"/>
          </p:cNvPicPr>
          <p:nvPr>
            <p:ph sz="quarter" idx="1"/>
          </p:nvPr>
        </p:nvPicPr>
        <p:blipFill>
          <a:blip r:embed="rId2" cstate="print"/>
          <a:srcRect/>
          <a:stretch>
            <a:fillRect/>
          </a:stretch>
        </p:blipFill>
        <p:spPr bwMode="auto">
          <a:xfrm>
            <a:off x="1043608" y="1196752"/>
            <a:ext cx="7488831" cy="4680519"/>
          </a:xfrm>
          <a:prstGeom prst="rect">
            <a:avLst/>
          </a:prstGeom>
          <a:noFill/>
          <a:ln w="9525">
            <a:noFill/>
            <a:miter lim="800000"/>
            <a:headEnd/>
            <a:tailEnd/>
          </a:ln>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850106"/>
          </a:xfrm>
        </p:spPr>
        <p:txBody>
          <a:bodyPr/>
          <a:lstStyle/>
          <a:p>
            <a:r>
              <a:rPr lang="pt-BR" b="1" dirty="0" smtClean="0">
                <a:solidFill>
                  <a:srgbClr val="FF0000"/>
                </a:solidFill>
              </a:rPr>
              <a:t>Conexões  e Comutação ATM</a:t>
            </a:r>
            <a:endParaRPr lang="pt-PT" b="1" dirty="0">
              <a:solidFill>
                <a:srgbClr val="FF0000"/>
              </a:solidFill>
            </a:endParaRPr>
          </a:p>
        </p:txBody>
      </p:sp>
      <p:sp>
        <p:nvSpPr>
          <p:cNvPr id="3" name="Marcador de Posição de Conteúdo 2"/>
          <p:cNvSpPr>
            <a:spLocks noGrp="1"/>
          </p:cNvSpPr>
          <p:nvPr>
            <p:ph sz="quarter" idx="1"/>
          </p:nvPr>
        </p:nvSpPr>
        <p:spPr>
          <a:xfrm>
            <a:off x="914400" y="1447800"/>
            <a:ext cx="3081536" cy="4572000"/>
          </a:xfrm>
        </p:spPr>
        <p:txBody>
          <a:bodyPr/>
          <a:lstStyle/>
          <a:p>
            <a:pPr>
              <a:buNone/>
            </a:pPr>
            <a:r>
              <a:rPr lang="pt-BR" sz="2800" dirty="0" smtClean="0">
                <a:solidFill>
                  <a:srgbClr val="000000"/>
                </a:solidFill>
              </a:rPr>
              <a:t>  A utilização de VPC simplifica a arquitetura de comutação e reduz o tempo de processamento e estabelecimento de novas conexões.</a:t>
            </a:r>
          </a:p>
          <a:p>
            <a:pPr>
              <a:buNone/>
            </a:pPr>
            <a:endParaRPr lang="pt-PT" dirty="0"/>
          </a:p>
        </p:txBody>
      </p:sp>
      <p:pic>
        <p:nvPicPr>
          <p:cNvPr id="14338" name="Picture 2"/>
          <p:cNvPicPr>
            <a:picLocks noChangeAspect="1" noChangeArrowheads="1"/>
          </p:cNvPicPr>
          <p:nvPr/>
        </p:nvPicPr>
        <p:blipFill>
          <a:blip r:embed="rId2" cstate="print"/>
          <a:srcRect/>
          <a:stretch>
            <a:fillRect/>
          </a:stretch>
        </p:blipFill>
        <p:spPr bwMode="auto">
          <a:xfrm>
            <a:off x="4932040" y="1484784"/>
            <a:ext cx="2743200" cy="3384376"/>
          </a:xfrm>
          <a:prstGeom prst="rect">
            <a:avLst/>
          </a:prstGeom>
          <a:noFill/>
          <a:ln w="9525">
            <a:noFill/>
            <a:miter lim="800000"/>
            <a:headEnd/>
            <a:tailEnd/>
          </a:ln>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rPr>
              <a:t>Caminho Virtual - Aplicação</a:t>
            </a:r>
            <a:endParaRPr lang="pt-PT" b="1" dirty="0">
              <a:solidFill>
                <a:srgbClr val="FF0000"/>
              </a:solidFill>
            </a:endParaRPr>
          </a:p>
        </p:txBody>
      </p:sp>
      <p:sp>
        <p:nvSpPr>
          <p:cNvPr id="3" name="Marcador de Posição de Conteúdo 2"/>
          <p:cNvSpPr>
            <a:spLocks noGrp="1"/>
          </p:cNvSpPr>
          <p:nvPr>
            <p:ph sz="quarter" idx="1"/>
          </p:nvPr>
        </p:nvSpPr>
        <p:spPr>
          <a:xfrm>
            <a:off x="914400" y="1447800"/>
            <a:ext cx="3369568" cy="4572000"/>
          </a:xfrm>
        </p:spPr>
        <p:txBody>
          <a:bodyPr>
            <a:normAutofit fontScale="92500" lnSpcReduction="10000"/>
          </a:bodyPr>
          <a:lstStyle/>
          <a:p>
            <a:pPr>
              <a:buClrTx/>
              <a:buSzTx/>
              <a:buNone/>
            </a:pPr>
            <a:r>
              <a:rPr lang="pt-BR" sz="2800" dirty="0" smtClean="0">
                <a:solidFill>
                  <a:schemeClr val="accent2"/>
                </a:solidFill>
              </a:rPr>
              <a:t>Múltiplo canais destinados </a:t>
            </a:r>
          </a:p>
          <a:p>
            <a:pPr>
              <a:buClrTx/>
              <a:buSzTx/>
              <a:buNone/>
            </a:pPr>
            <a:r>
              <a:rPr lang="pt-BR" sz="2800" dirty="0" smtClean="0">
                <a:solidFill>
                  <a:schemeClr val="accent2"/>
                </a:solidFill>
              </a:rPr>
              <a:t>a uma localização comum,</a:t>
            </a:r>
          </a:p>
          <a:p>
            <a:pPr>
              <a:buClrTx/>
              <a:buSzTx/>
              <a:buNone/>
            </a:pPr>
            <a:r>
              <a:rPr lang="pt-BR" sz="2800" dirty="0" smtClean="0">
                <a:solidFill>
                  <a:schemeClr val="accent2"/>
                </a:solidFill>
              </a:rPr>
              <a:t>podem ser facilmente e</a:t>
            </a:r>
          </a:p>
          <a:p>
            <a:pPr>
              <a:buClrTx/>
              <a:buSzTx/>
              <a:buNone/>
            </a:pPr>
            <a:r>
              <a:rPr lang="pt-BR" sz="2800" dirty="0" smtClean="0">
                <a:solidFill>
                  <a:schemeClr val="accent2"/>
                </a:solidFill>
              </a:rPr>
              <a:t>rapidamente comutados </a:t>
            </a:r>
          </a:p>
          <a:p>
            <a:pPr>
              <a:buClrTx/>
              <a:buSzTx/>
              <a:buNone/>
            </a:pPr>
            <a:r>
              <a:rPr lang="pt-BR" sz="2800" dirty="0" smtClean="0">
                <a:solidFill>
                  <a:schemeClr val="accent2"/>
                </a:solidFill>
              </a:rPr>
              <a:t>pela rede se eles</a:t>
            </a:r>
          </a:p>
          <a:p>
            <a:pPr>
              <a:buClrTx/>
              <a:buSzTx/>
              <a:buNone/>
            </a:pPr>
            <a:r>
              <a:rPr lang="pt-BR" sz="2800" dirty="0" smtClean="0">
                <a:solidFill>
                  <a:schemeClr val="accent2"/>
                </a:solidFill>
              </a:rPr>
              <a:t>compartilham um VPI</a:t>
            </a:r>
          </a:p>
          <a:p>
            <a:pPr>
              <a:buClrTx/>
              <a:buSzTx/>
              <a:buNone/>
            </a:pPr>
            <a:r>
              <a:rPr lang="pt-BR" sz="2800" dirty="0" smtClean="0">
                <a:solidFill>
                  <a:schemeClr val="accent2"/>
                </a:solidFill>
              </a:rPr>
              <a:t>comum. Neste caso os</a:t>
            </a:r>
          </a:p>
          <a:p>
            <a:pPr>
              <a:buClrTx/>
              <a:buSzTx/>
              <a:buNone/>
            </a:pPr>
            <a:r>
              <a:rPr lang="pt-BR" sz="2800" dirty="0" smtClean="0">
                <a:solidFill>
                  <a:schemeClr val="accent2"/>
                </a:solidFill>
              </a:rPr>
              <a:t>comutadores efetuam</a:t>
            </a:r>
          </a:p>
          <a:p>
            <a:pPr>
              <a:buClrTx/>
              <a:buSzTx/>
              <a:buNone/>
            </a:pPr>
            <a:r>
              <a:rPr lang="pt-BR" sz="2800" dirty="0" smtClean="0">
                <a:solidFill>
                  <a:schemeClr val="accent2"/>
                </a:solidFill>
              </a:rPr>
              <a:t>apenas comutação de VP</a:t>
            </a:r>
          </a:p>
          <a:p>
            <a:pPr>
              <a:buClrTx/>
              <a:buSzTx/>
              <a:buNone/>
            </a:pPr>
            <a:r>
              <a:rPr lang="pt-BR" sz="2800" dirty="0" smtClean="0">
                <a:solidFill>
                  <a:schemeClr val="accent2"/>
                </a:solidFill>
              </a:rPr>
              <a:t>(VP crossconnect)</a:t>
            </a:r>
          </a:p>
          <a:p>
            <a:pPr>
              <a:buNone/>
            </a:pPr>
            <a:endParaRPr lang="pt-PT" dirty="0"/>
          </a:p>
        </p:txBody>
      </p:sp>
      <p:pic>
        <p:nvPicPr>
          <p:cNvPr id="15362" name="Picture 2"/>
          <p:cNvPicPr>
            <a:picLocks noChangeAspect="1" noChangeArrowheads="1"/>
          </p:cNvPicPr>
          <p:nvPr/>
        </p:nvPicPr>
        <p:blipFill>
          <a:blip r:embed="rId3" cstate="print"/>
          <a:srcRect/>
          <a:stretch>
            <a:fillRect/>
          </a:stretch>
        </p:blipFill>
        <p:spPr bwMode="auto">
          <a:xfrm>
            <a:off x="4211960" y="1772816"/>
            <a:ext cx="4562475" cy="3619500"/>
          </a:xfrm>
          <a:prstGeom prst="rect">
            <a:avLst/>
          </a:prstGeom>
          <a:noFill/>
          <a:ln w="9525">
            <a:noFill/>
            <a:miter lim="800000"/>
            <a:headEnd/>
            <a:tailEnd/>
          </a:ln>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850106"/>
          </a:xfrm>
        </p:spPr>
        <p:txBody>
          <a:bodyPr/>
          <a:lstStyle/>
          <a:p>
            <a:r>
              <a:rPr lang="pt-BR" b="1" dirty="0" smtClean="0">
                <a:solidFill>
                  <a:srgbClr val="FF0000"/>
                </a:solidFill>
              </a:rPr>
              <a:t>Conexões  e Comutação ATM</a:t>
            </a:r>
            <a:endParaRPr lang="pt-PT" b="1" dirty="0">
              <a:solidFill>
                <a:srgbClr val="FF0000"/>
              </a:solidFill>
            </a:endParaRPr>
          </a:p>
        </p:txBody>
      </p:sp>
      <p:pic>
        <p:nvPicPr>
          <p:cNvPr id="16386" name="Picture 2"/>
          <p:cNvPicPr>
            <a:picLocks noGrp="1" noChangeAspect="1" noChangeArrowheads="1"/>
          </p:cNvPicPr>
          <p:nvPr>
            <p:ph sz="quarter" idx="1"/>
          </p:nvPr>
        </p:nvPicPr>
        <p:blipFill>
          <a:blip r:embed="rId2" cstate="print"/>
          <a:srcRect/>
          <a:stretch>
            <a:fillRect/>
          </a:stretch>
        </p:blipFill>
        <p:spPr bwMode="auto">
          <a:xfrm>
            <a:off x="611560" y="1484784"/>
            <a:ext cx="7848872" cy="4608512"/>
          </a:xfrm>
          <a:prstGeom prst="rect">
            <a:avLst/>
          </a:prstGeom>
          <a:noFill/>
          <a:ln w="9525">
            <a:noFill/>
            <a:miter lim="800000"/>
            <a:headEnd/>
            <a:tailEnd/>
          </a:ln>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rPr>
              <a:t>Conexões ATM</a:t>
            </a:r>
            <a:endParaRPr lang="pt-PT" dirty="0"/>
          </a:p>
        </p:txBody>
      </p:sp>
      <p:pic>
        <p:nvPicPr>
          <p:cNvPr id="17410" name="Picture 2"/>
          <p:cNvPicPr>
            <a:picLocks noGrp="1" noChangeAspect="1" noChangeArrowheads="1"/>
          </p:cNvPicPr>
          <p:nvPr>
            <p:ph sz="quarter" idx="1"/>
          </p:nvPr>
        </p:nvPicPr>
        <p:blipFill>
          <a:blip r:embed="rId2" cstate="print"/>
          <a:srcRect/>
          <a:stretch>
            <a:fillRect/>
          </a:stretch>
        </p:blipFill>
        <p:spPr bwMode="auto">
          <a:xfrm>
            <a:off x="899592" y="1628800"/>
            <a:ext cx="7344816" cy="4176463"/>
          </a:xfrm>
          <a:prstGeom prst="rect">
            <a:avLst/>
          </a:prstGeom>
          <a:noFill/>
          <a:ln w="9525">
            <a:noFill/>
            <a:miter lim="800000"/>
            <a:headEnd/>
            <a:tailEnd/>
          </a:ln>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GB" b="1" dirty="0" smtClean="0">
                <a:solidFill>
                  <a:srgbClr val="FF0000"/>
                </a:solidFill>
              </a:rPr>
              <a:t>Comutador ATM</a:t>
            </a:r>
            <a:endParaRPr lang="pt-PT" b="1" dirty="0">
              <a:solidFill>
                <a:srgbClr val="FF0000"/>
              </a:solidFill>
            </a:endParaRPr>
          </a:p>
        </p:txBody>
      </p:sp>
      <p:sp>
        <p:nvSpPr>
          <p:cNvPr id="3" name="Marcador de Posição de Conteúdo 2"/>
          <p:cNvSpPr>
            <a:spLocks noGrp="1"/>
          </p:cNvSpPr>
          <p:nvPr>
            <p:ph sz="quarter" idx="1"/>
          </p:nvPr>
        </p:nvSpPr>
        <p:spPr/>
        <p:txBody>
          <a:bodyPr>
            <a:normAutofit/>
          </a:bodyPr>
          <a:lstStyle/>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3600" dirty="0" smtClean="0"/>
              <a:t>Comutador de </a:t>
            </a:r>
            <a:r>
              <a:rPr lang="en-GB" sz="3600" dirty="0" err="1" smtClean="0"/>
              <a:t>alta</a:t>
            </a:r>
            <a:r>
              <a:rPr lang="en-GB" sz="3600" dirty="0" smtClean="0"/>
              <a:t> </a:t>
            </a:r>
            <a:r>
              <a:rPr lang="en-GB" sz="3600" dirty="0" err="1" smtClean="0"/>
              <a:t>velocidade</a:t>
            </a:r>
            <a:r>
              <a:rPr lang="en-GB" sz="3600" dirty="0" smtClean="0"/>
              <a:t>.</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3600" dirty="0" err="1" smtClean="0"/>
              <a:t>Comutação</a:t>
            </a:r>
            <a:r>
              <a:rPr lang="en-GB" sz="3600" dirty="0" smtClean="0"/>
              <a:t> </a:t>
            </a:r>
            <a:r>
              <a:rPr lang="en-GB" sz="3600" dirty="0" err="1" smtClean="0"/>
              <a:t>por</a:t>
            </a:r>
            <a:r>
              <a:rPr lang="en-GB" sz="3600" dirty="0" smtClean="0"/>
              <a:t> hardware.</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3600" dirty="0" err="1" smtClean="0"/>
              <a:t>Utiliza</a:t>
            </a:r>
            <a:r>
              <a:rPr lang="en-GB" sz="3600" dirty="0" smtClean="0"/>
              <a:t> VPI e VCI </a:t>
            </a:r>
            <a:r>
              <a:rPr lang="en-GB" sz="3600" dirty="0" err="1" smtClean="0"/>
              <a:t>para</a:t>
            </a:r>
            <a:r>
              <a:rPr lang="en-GB" sz="3600" dirty="0" smtClean="0"/>
              <a:t> </a:t>
            </a:r>
            <a:r>
              <a:rPr lang="en-GB" sz="3600" dirty="0" err="1" smtClean="0"/>
              <a:t>tomar</a:t>
            </a:r>
            <a:r>
              <a:rPr lang="en-GB" sz="3600" dirty="0" smtClean="0"/>
              <a:t> </a:t>
            </a:r>
            <a:r>
              <a:rPr lang="en-GB" sz="3600" dirty="0" err="1" smtClean="0"/>
              <a:t>decisões</a:t>
            </a:r>
            <a:r>
              <a:rPr lang="en-GB" sz="3600" dirty="0" smtClean="0"/>
              <a:t> de rotas.</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3600" dirty="0" err="1" smtClean="0"/>
              <a:t>Várias</a:t>
            </a:r>
            <a:r>
              <a:rPr lang="en-GB" sz="3600" dirty="0" smtClean="0"/>
              <a:t> </a:t>
            </a:r>
            <a:r>
              <a:rPr lang="en-GB" sz="3600" dirty="0" err="1" smtClean="0"/>
              <a:t>arquiteturas</a:t>
            </a:r>
            <a:r>
              <a:rPr lang="en-GB" sz="3600" dirty="0" smtClean="0"/>
              <a:t> </a:t>
            </a:r>
            <a:r>
              <a:rPr lang="en-GB" sz="3600" dirty="0" err="1" smtClean="0"/>
              <a:t>possíveis</a:t>
            </a:r>
            <a:r>
              <a:rPr lang="en-GB" sz="3600" dirty="0" smtClean="0"/>
              <a:t>.</a:t>
            </a:r>
          </a:p>
          <a:p>
            <a:pPr>
              <a:buNone/>
            </a:pPr>
            <a:endParaRPr lang="pt-PT" sz="36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2800" b="1" dirty="0" smtClean="0">
                <a:solidFill>
                  <a:srgbClr val="FF0000"/>
                </a:solidFill>
                <a:latin typeface="Arial" pitchFamily="34" charset="0"/>
                <a:cs typeface="Arial" pitchFamily="34" charset="0"/>
              </a:rPr>
              <a:t>ARQUITETURA DE COMUTADORES ATM</a:t>
            </a:r>
            <a:endParaRPr lang="pt-PT" sz="2800"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a:xfrm>
            <a:off x="914400" y="1447800"/>
            <a:ext cx="7772400" cy="2485256"/>
          </a:xfrm>
        </p:spPr>
        <p:txBody>
          <a:bodyPr>
            <a:normAutofit fontScale="92500" lnSpcReduction="20000"/>
          </a:bodyPr>
          <a:lstStyle/>
          <a:p>
            <a:pPr algn="just">
              <a:spcBef>
                <a:spcPct val="30000"/>
              </a:spcBef>
            </a:pPr>
            <a:r>
              <a:rPr lang="pt-BR" dirty="0" smtClean="0"/>
              <a:t>Probabilidade de Bloqueio;</a:t>
            </a:r>
          </a:p>
          <a:p>
            <a:pPr algn="just">
              <a:spcBef>
                <a:spcPct val="30000"/>
              </a:spcBef>
            </a:pPr>
            <a:r>
              <a:rPr lang="pt-BR" dirty="0" smtClean="0"/>
              <a:t>Capacidade dos Buffers;</a:t>
            </a:r>
          </a:p>
          <a:p>
            <a:pPr algn="just">
              <a:spcBef>
                <a:spcPct val="30000"/>
              </a:spcBef>
            </a:pPr>
            <a:r>
              <a:rPr lang="pt-BR" dirty="0" smtClean="0"/>
              <a:t>Número e tipos de Portas;</a:t>
            </a:r>
          </a:p>
          <a:p>
            <a:pPr algn="just">
              <a:spcBef>
                <a:spcPct val="30000"/>
              </a:spcBef>
            </a:pPr>
            <a:r>
              <a:rPr lang="pt-BR" dirty="0" smtClean="0"/>
              <a:t>Capacidade de Tráfego;</a:t>
            </a:r>
          </a:p>
          <a:p>
            <a:pPr algn="just">
              <a:spcBef>
                <a:spcPct val="30000"/>
              </a:spcBef>
            </a:pPr>
            <a:r>
              <a:rPr lang="pt-BR" dirty="0" smtClean="0"/>
              <a:t>Suporte à LAN virtual, Conexões ponto-multiponto, a AALs, a PVC e SVC.</a:t>
            </a:r>
          </a:p>
          <a:p>
            <a:endParaRPr lang="pt-PT" dirty="0"/>
          </a:p>
        </p:txBody>
      </p:sp>
      <p:pic>
        <p:nvPicPr>
          <p:cNvPr id="18434" name="Picture 2"/>
          <p:cNvPicPr>
            <a:picLocks noChangeAspect="1" noChangeArrowheads="1"/>
          </p:cNvPicPr>
          <p:nvPr/>
        </p:nvPicPr>
        <p:blipFill>
          <a:blip r:embed="rId3" cstate="print"/>
          <a:srcRect/>
          <a:stretch>
            <a:fillRect/>
          </a:stretch>
        </p:blipFill>
        <p:spPr bwMode="auto">
          <a:xfrm>
            <a:off x="2051720" y="3933056"/>
            <a:ext cx="3848100" cy="2376264"/>
          </a:xfrm>
          <a:prstGeom prst="rect">
            <a:avLst/>
          </a:prstGeom>
          <a:noFill/>
          <a:ln w="9525">
            <a:noFill/>
            <a:miter lim="800000"/>
            <a:headEnd/>
            <a:tailEnd/>
          </a:ln>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922114"/>
          </a:xfrm>
        </p:spPr>
        <p:txBody>
          <a:bodyPr/>
          <a:lstStyle/>
          <a:p>
            <a:r>
              <a:rPr lang="pt-BR" b="1" dirty="0" smtClean="0">
                <a:solidFill>
                  <a:srgbClr val="FF0000"/>
                </a:solidFill>
                <a:latin typeface="Arial" pitchFamily="34" charset="0"/>
                <a:cs typeface="Arial" pitchFamily="34" charset="0"/>
              </a:rPr>
              <a:t>MALHA DE COMUTAÇÃO</a:t>
            </a:r>
            <a:endParaRPr lang="pt-PT" b="1" dirty="0">
              <a:solidFill>
                <a:srgbClr val="FF0000"/>
              </a:solidFill>
              <a:latin typeface="Arial" pitchFamily="34" charset="0"/>
              <a:cs typeface="Arial" pitchFamily="34" charset="0"/>
            </a:endParaRPr>
          </a:p>
        </p:txBody>
      </p:sp>
      <p:pic>
        <p:nvPicPr>
          <p:cNvPr id="19458" name="Picture 2"/>
          <p:cNvPicPr>
            <a:picLocks noGrp="1" noChangeAspect="1" noChangeArrowheads="1"/>
          </p:cNvPicPr>
          <p:nvPr>
            <p:ph sz="quarter" idx="1"/>
          </p:nvPr>
        </p:nvPicPr>
        <p:blipFill>
          <a:blip r:embed="rId3" cstate="print"/>
          <a:srcRect/>
          <a:stretch>
            <a:fillRect/>
          </a:stretch>
        </p:blipFill>
        <p:spPr bwMode="auto">
          <a:xfrm>
            <a:off x="1259632" y="1556792"/>
            <a:ext cx="6840760" cy="3329533"/>
          </a:xfrm>
          <a:prstGeom prst="rect">
            <a:avLst/>
          </a:prstGeom>
          <a:noFill/>
          <a:ln w="9525">
            <a:noFill/>
            <a:miter lim="800000"/>
            <a:headEnd/>
            <a:tailEnd/>
          </a:ln>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200" b="1" dirty="0" smtClean="0">
                <a:solidFill>
                  <a:srgbClr val="FF0000"/>
                </a:solidFill>
                <a:latin typeface="Arial" pitchFamily="34" charset="0"/>
                <a:cs typeface="Arial" pitchFamily="34" charset="0"/>
              </a:rPr>
              <a:t>Malha Banyan Delta - auto roteamento</a:t>
            </a:r>
            <a:endParaRPr lang="pt-PT" sz="3200" b="1" dirty="0">
              <a:solidFill>
                <a:srgbClr val="FF0000"/>
              </a:solidFill>
              <a:latin typeface="Arial" pitchFamily="34" charset="0"/>
              <a:cs typeface="Arial" pitchFamily="34" charset="0"/>
            </a:endParaRPr>
          </a:p>
        </p:txBody>
      </p:sp>
      <p:pic>
        <p:nvPicPr>
          <p:cNvPr id="20482" name="Picture 2"/>
          <p:cNvPicPr>
            <a:picLocks noGrp="1" noChangeAspect="1" noChangeArrowheads="1"/>
          </p:cNvPicPr>
          <p:nvPr>
            <p:ph sz="quarter" idx="1"/>
          </p:nvPr>
        </p:nvPicPr>
        <p:blipFill>
          <a:blip r:embed="rId3" cstate="print"/>
          <a:srcRect/>
          <a:stretch>
            <a:fillRect/>
          </a:stretch>
        </p:blipFill>
        <p:spPr bwMode="auto">
          <a:xfrm>
            <a:off x="1043608" y="1484784"/>
            <a:ext cx="7344816" cy="4608512"/>
          </a:xfrm>
          <a:prstGeom prst="rect">
            <a:avLst/>
          </a:prstGeom>
          <a:noFill/>
          <a:ln w="9525">
            <a:noFill/>
            <a:miter lim="800000"/>
            <a:headEnd/>
            <a:tailEnd/>
          </a:ln>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smtClean="0">
                <a:solidFill>
                  <a:srgbClr val="FF0000"/>
                </a:solidFill>
                <a:latin typeface="Arial" pitchFamily="34" charset="0"/>
                <a:cs typeface="Arial" pitchFamily="34" charset="0"/>
              </a:rPr>
              <a:t>CONTENÇÃO EM REDE BANYAN </a:t>
            </a:r>
            <a:endParaRPr lang="pt-PT" b="1" dirty="0">
              <a:solidFill>
                <a:srgbClr val="FF0000"/>
              </a:solidFill>
              <a:latin typeface="Arial" pitchFamily="34" charset="0"/>
              <a:cs typeface="Arial" pitchFamily="34" charset="0"/>
            </a:endParaRPr>
          </a:p>
        </p:txBody>
      </p:sp>
      <p:pic>
        <p:nvPicPr>
          <p:cNvPr id="21506" name="Picture 2"/>
          <p:cNvPicPr>
            <a:picLocks noGrp="1" noChangeAspect="1" noChangeArrowheads="1"/>
          </p:cNvPicPr>
          <p:nvPr>
            <p:ph sz="quarter" idx="1"/>
          </p:nvPr>
        </p:nvPicPr>
        <p:blipFill>
          <a:blip r:embed="rId3" cstate="print"/>
          <a:srcRect/>
          <a:stretch>
            <a:fillRect/>
          </a:stretch>
        </p:blipFill>
        <p:spPr bwMode="auto">
          <a:xfrm>
            <a:off x="899592" y="1700808"/>
            <a:ext cx="7632848" cy="4320480"/>
          </a:xfrm>
          <a:prstGeom prst="rect">
            <a:avLst/>
          </a:prstGeom>
          <a:noFill/>
          <a:ln w="9525">
            <a:noFill/>
            <a:miter lim="800000"/>
            <a:headEnd/>
            <a:tailEnd/>
          </a:ln>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Rede Batcher-Banyan</a:t>
            </a:r>
            <a:endParaRPr lang="pt-PT" b="1" dirty="0">
              <a:solidFill>
                <a:srgbClr val="FF0000"/>
              </a:solidFill>
              <a:latin typeface="Arial" pitchFamily="34" charset="0"/>
              <a:cs typeface="Arial" pitchFamily="34" charset="0"/>
            </a:endParaRPr>
          </a:p>
        </p:txBody>
      </p:sp>
      <p:pic>
        <p:nvPicPr>
          <p:cNvPr id="22530" name="Picture 2"/>
          <p:cNvPicPr>
            <a:picLocks noGrp="1" noChangeAspect="1" noChangeArrowheads="1"/>
          </p:cNvPicPr>
          <p:nvPr>
            <p:ph sz="quarter" idx="1"/>
          </p:nvPr>
        </p:nvPicPr>
        <p:blipFill>
          <a:blip r:embed="rId3" cstate="print"/>
          <a:srcRect/>
          <a:stretch>
            <a:fillRect/>
          </a:stretch>
        </p:blipFill>
        <p:spPr bwMode="auto">
          <a:xfrm>
            <a:off x="1043608" y="1484784"/>
            <a:ext cx="7272807" cy="4032448"/>
          </a:xfrm>
          <a:prstGeom prst="rect">
            <a:avLst/>
          </a:prstGeom>
          <a:noFill/>
          <a:ln w="9525">
            <a:noFill/>
            <a:miter lim="800000"/>
            <a:headEnd/>
            <a:tailEnd/>
          </a:ln>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smtClean="0">
                <a:solidFill>
                  <a:srgbClr val="FF0000"/>
                </a:solidFill>
                <a:latin typeface="Arial" pitchFamily="34" charset="0"/>
                <a:cs typeface="Arial" pitchFamily="34" charset="0"/>
              </a:rPr>
              <a:t>Campo HEC - Header Erro Check</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a:xfrm>
            <a:off x="914400" y="1447800"/>
            <a:ext cx="7772400" cy="3565376"/>
          </a:xfrm>
        </p:spPr>
        <p:txBody>
          <a:bodyPr>
            <a:normAutofit fontScale="92500" lnSpcReduction="10000"/>
          </a:bodyPr>
          <a:lstStyle/>
          <a:p>
            <a:r>
              <a:rPr lang="pt-BR" dirty="0" smtClean="0"/>
              <a:t>O controle de erro na rede ATM é feito apenas no cabeçalho da célula</a:t>
            </a:r>
          </a:p>
          <a:p>
            <a:pPr lvl="1"/>
            <a:r>
              <a:rPr lang="pt-BR" dirty="0" smtClean="0"/>
              <a:t>Suporta correção de erros em um único bit</a:t>
            </a:r>
          </a:p>
          <a:p>
            <a:pPr lvl="1"/>
            <a:r>
              <a:rPr lang="pt-BR" dirty="0" smtClean="0"/>
              <a:t>Suporta detecção de erros em múltiplos bits</a:t>
            </a:r>
          </a:p>
          <a:p>
            <a:pPr lvl="2"/>
            <a:r>
              <a:rPr lang="pt-BR" dirty="0" smtClean="0"/>
              <a:t>Neste caso a célula é descartada</a:t>
            </a:r>
          </a:p>
          <a:p>
            <a:r>
              <a:rPr lang="pt-BR" dirty="0" smtClean="0"/>
              <a:t>Na UNI</a:t>
            </a:r>
          </a:p>
          <a:p>
            <a:pPr lvl="1"/>
            <a:r>
              <a:rPr lang="pt-BR" dirty="0" smtClean="0"/>
              <a:t>Detecção de erro é mandatório</a:t>
            </a:r>
          </a:p>
          <a:p>
            <a:pPr lvl="1"/>
            <a:r>
              <a:rPr lang="pt-BR" dirty="0" smtClean="0"/>
              <a:t>Correção de erro é opcional</a:t>
            </a:r>
          </a:p>
          <a:p>
            <a:r>
              <a:rPr lang="pt-BR" dirty="0" smtClean="0"/>
              <a:t>O HEC é gerado/verificado na </a:t>
            </a:r>
            <a:r>
              <a:rPr lang="pt-BR" sz="2800" dirty="0" smtClean="0"/>
              <a:t>sub camada TC</a:t>
            </a:r>
            <a:endParaRPr lang="pt-BR" dirty="0" smtClean="0"/>
          </a:p>
          <a:p>
            <a:pPr>
              <a:buNone/>
            </a:pPr>
            <a:endParaRPr lang="pt-PT" dirty="0"/>
          </a:p>
        </p:txBody>
      </p:sp>
      <p:pic>
        <p:nvPicPr>
          <p:cNvPr id="23555" name="Picture 3"/>
          <p:cNvPicPr>
            <a:picLocks noChangeAspect="1" noChangeArrowheads="1"/>
          </p:cNvPicPr>
          <p:nvPr/>
        </p:nvPicPr>
        <p:blipFill>
          <a:blip r:embed="rId3" cstate="print"/>
          <a:srcRect/>
          <a:stretch>
            <a:fillRect/>
          </a:stretch>
        </p:blipFill>
        <p:spPr bwMode="auto">
          <a:xfrm>
            <a:off x="6948264" y="4653136"/>
            <a:ext cx="1656184" cy="1608956"/>
          </a:xfrm>
          <a:prstGeom prst="rect">
            <a:avLst/>
          </a:prstGeom>
          <a:noFill/>
          <a:ln w="9525">
            <a:noFill/>
            <a:miter lim="800000"/>
            <a:headEnd/>
            <a:tailEnd/>
          </a:ln>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Campo HEC - Operação</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a:xfrm>
            <a:off x="914400" y="1447800"/>
            <a:ext cx="7772400" cy="2629272"/>
          </a:xfrm>
        </p:spPr>
        <p:txBody>
          <a:bodyPr>
            <a:normAutofit fontScale="92500" lnSpcReduction="10000"/>
          </a:bodyPr>
          <a:lstStyle/>
          <a:p>
            <a:pPr marL="342900" indent="-342900">
              <a:lnSpc>
                <a:spcPct val="100000"/>
              </a:lnSpc>
              <a:spcBef>
                <a:spcPct val="20000"/>
              </a:spcBef>
              <a:buClr>
                <a:srgbClr val="000000"/>
              </a:buClr>
            </a:pPr>
            <a:r>
              <a:rPr lang="pt-BR" dirty="0" smtClean="0">
                <a:solidFill>
                  <a:srgbClr val="000000"/>
                </a:solidFill>
              </a:rPr>
              <a:t>O HEC é calculado sobre os quatro primeiros bytes do cabeçalho</a:t>
            </a:r>
          </a:p>
          <a:p>
            <a:pPr marL="342900" indent="-342900">
              <a:lnSpc>
                <a:spcPct val="100000"/>
              </a:lnSpc>
              <a:spcBef>
                <a:spcPct val="20000"/>
              </a:spcBef>
              <a:buClr>
                <a:srgbClr val="000000"/>
              </a:buClr>
            </a:pPr>
            <a:r>
              <a:rPr lang="pt-BR" dirty="0" smtClean="0">
                <a:solidFill>
                  <a:srgbClr val="000000"/>
                </a:solidFill>
              </a:rPr>
              <a:t>Na transmissão, o HEC é calculado :</a:t>
            </a:r>
          </a:p>
          <a:p>
            <a:pPr marL="742950" lvl="1" indent="-285750">
              <a:lnSpc>
                <a:spcPct val="100000"/>
              </a:lnSpc>
              <a:spcBef>
                <a:spcPct val="20000"/>
              </a:spcBef>
              <a:buClr>
                <a:srgbClr val="000000"/>
              </a:buClr>
            </a:pPr>
            <a:r>
              <a:rPr lang="pt-BR" dirty="0" smtClean="0">
                <a:solidFill>
                  <a:srgbClr val="000000"/>
                </a:solidFill>
              </a:rPr>
              <a:t>HEC = Resto de [ P(X)*X</a:t>
            </a:r>
            <a:r>
              <a:rPr lang="pt-BR" baseline="30000" dirty="0" smtClean="0">
                <a:solidFill>
                  <a:srgbClr val="000000"/>
                </a:solidFill>
              </a:rPr>
              <a:t>8</a:t>
            </a:r>
            <a:r>
              <a:rPr lang="pt-BR" dirty="0" smtClean="0">
                <a:solidFill>
                  <a:srgbClr val="000000"/>
                </a:solidFill>
              </a:rPr>
              <a:t> / (X</a:t>
            </a:r>
            <a:r>
              <a:rPr lang="pt-BR" baseline="30000" dirty="0" smtClean="0">
                <a:solidFill>
                  <a:srgbClr val="000000"/>
                </a:solidFill>
              </a:rPr>
              <a:t>8</a:t>
            </a:r>
            <a:r>
              <a:rPr lang="pt-BR" dirty="0" smtClean="0">
                <a:solidFill>
                  <a:srgbClr val="000000"/>
                </a:solidFill>
              </a:rPr>
              <a:t>+X</a:t>
            </a:r>
            <a:r>
              <a:rPr lang="pt-BR" baseline="30000" dirty="0" smtClean="0">
                <a:solidFill>
                  <a:srgbClr val="000000"/>
                </a:solidFill>
              </a:rPr>
              <a:t>2</a:t>
            </a:r>
            <a:r>
              <a:rPr lang="pt-BR" dirty="0" smtClean="0">
                <a:solidFill>
                  <a:srgbClr val="000000"/>
                </a:solidFill>
              </a:rPr>
              <a:t>+X+1)] + 01010101</a:t>
            </a:r>
          </a:p>
          <a:p>
            <a:pPr marL="342900" indent="-342900">
              <a:lnSpc>
                <a:spcPct val="100000"/>
              </a:lnSpc>
              <a:spcBef>
                <a:spcPct val="20000"/>
              </a:spcBef>
              <a:buClr>
                <a:srgbClr val="000000"/>
              </a:buClr>
            </a:pPr>
            <a:r>
              <a:rPr lang="pt-BR" dirty="0" smtClean="0">
                <a:solidFill>
                  <a:srgbClr val="000000"/>
                </a:solidFill>
              </a:rPr>
              <a:t>Na recepção, o HEC é verificado :</a:t>
            </a:r>
          </a:p>
          <a:p>
            <a:pPr lvl="3">
              <a:lnSpc>
                <a:spcPct val="100000"/>
              </a:lnSpc>
              <a:spcBef>
                <a:spcPct val="20000"/>
              </a:spcBef>
              <a:buClr>
                <a:srgbClr val="000000"/>
              </a:buClr>
            </a:pPr>
            <a:r>
              <a:rPr lang="pt-BR" dirty="0" smtClean="0">
                <a:solidFill>
                  <a:srgbClr val="000000"/>
                </a:solidFill>
              </a:rPr>
              <a:t>S(X) = Resto de P(X)*X</a:t>
            </a:r>
            <a:r>
              <a:rPr lang="pt-BR" baseline="30000" dirty="0" smtClean="0">
                <a:solidFill>
                  <a:srgbClr val="000000"/>
                </a:solidFill>
              </a:rPr>
              <a:t>8 </a:t>
            </a:r>
            <a:r>
              <a:rPr lang="pt-BR" dirty="0" smtClean="0">
                <a:solidFill>
                  <a:srgbClr val="000000"/>
                </a:solidFill>
              </a:rPr>
              <a:t>+ (HEC+01010101) / (X</a:t>
            </a:r>
            <a:r>
              <a:rPr lang="pt-BR" baseline="30000" dirty="0" smtClean="0">
                <a:solidFill>
                  <a:srgbClr val="000000"/>
                </a:solidFill>
              </a:rPr>
              <a:t>8</a:t>
            </a:r>
            <a:r>
              <a:rPr lang="pt-BR" dirty="0" smtClean="0">
                <a:solidFill>
                  <a:srgbClr val="000000"/>
                </a:solidFill>
              </a:rPr>
              <a:t>+X</a:t>
            </a:r>
            <a:r>
              <a:rPr lang="pt-BR" baseline="30000" dirty="0" smtClean="0">
                <a:solidFill>
                  <a:srgbClr val="000000"/>
                </a:solidFill>
              </a:rPr>
              <a:t>2</a:t>
            </a:r>
            <a:r>
              <a:rPr lang="pt-BR" dirty="0" smtClean="0">
                <a:solidFill>
                  <a:srgbClr val="000000"/>
                </a:solidFill>
              </a:rPr>
              <a:t>+X+1)</a:t>
            </a:r>
          </a:p>
          <a:p>
            <a:pPr lvl="3">
              <a:lnSpc>
                <a:spcPct val="100000"/>
              </a:lnSpc>
              <a:spcBef>
                <a:spcPct val="20000"/>
              </a:spcBef>
              <a:buClr>
                <a:srgbClr val="000000"/>
              </a:buClr>
            </a:pPr>
            <a:r>
              <a:rPr lang="pt-BR" dirty="0" smtClean="0">
                <a:solidFill>
                  <a:srgbClr val="000000"/>
                </a:solidFill>
              </a:rPr>
              <a:t>S(X) = 0 - não há erros</a:t>
            </a:r>
          </a:p>
          <a:p>
            <a:pPr lvl="3">
              <a:lnSpc>
                <a:spcPct val="100000"/>
              </a:lnSpc>
              <a:spcBef>
                <a:spcPct val="20000"/>
              </a:spcBef>
              <a:buClr>
                <a:srgbClr val="000000"/>
              </a:buClr>
            </a:pPr>
            <a:r>
              <a:rPr lang="pt-BR" dirty="0" smtClean="0">
                <a:solidFill>
                  <a:srgbClr val="000000"/>
                </a:solidFill>
              </a:rPr>
              <a:t>S(X) &gt; 0 - ocorreu erro simples ou múltiplos</a:t>
            </a:r>
          </a:p>
          <a:p>
            <a:pPr>
              <a:buNone/>
            </a:pPr>
            <a:endParaRPr lang="pt-PT" dirty="0"/>
          </a:p>
        </p:txBody>
      </p:sp>
      <p:pic>
        <p:nvPicPr>
          <p:cNvPr id="24578" name="Picture 2"/>
          <p:cNvPicPr>
            <a:picLocks noChangeAspect="1" noChangeArrowheads="1"/>
          </p:cNvPicPr>
          <p:nvPr/>
        </p:nvPicPr>
        <p:blipFill>
          <a:blip r:embed="rId3" cstate="print"/>
          <a:srcRect/>
          <a:stretch>
            <a:fillRect/>
          </a:stretch>
        </p:blipFill>
        <p:spPr bwMode="auto">
          <a:xfrm>
            <a:off x="899592" y="4221088"/>
            <a:ext cx="6984776" cy="1944216"/>
          </a:xfrm>
          <a:prstGeom prst="rect">
            <a:avLst/>
          </a:prstGeom>
          <a:noFill/>
          <a:ln w="9525">
            <a:noFill/>
            <a:miter lim="800000"/>
            <a:headEnd/>
            <a:tailEnd/>
          </a:ln>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 Camada de Adaptação - AAL</a:t>
            </a:r>
            <a:endParaRPr lang="pt-PT" b="1" dirty="0">
              <a:solidFill>
                <a:srgbClr val="FF0000"/>
              </a:solidFill>
              <a:latin typeface="Arial" pitchFamily="34" charset="0"/>
              <a:cs typeface="Arial" pitchFamily="34" charset="0"/>
            </a:endParaRPr>
          </a:p>
        </p:txBody>
      </p:sp>
      <p:pic>
        <p:nvPicPr>
          <p:cNvPr id="1026" name="Picture 2"/>
          <p:cNvPicPr>
            <a:picLocks noGrp="1" noChangeAspect="1" noChangeArrowheads="1"/>
          </p:cNvPicPr>
          <p:nvPr>
            <p:ph sz="quarter" idx="1"/>
          </p:nvPr>
        </p:nvPicPr>
        <p:blipFill>
          <a:blip r:embed="rId3" cstate="print"/>
          <a:srcRect/>
          <a:stretch>
            <a:fillRect/>
          </a:stretch>
        </p:blipFill>
        <p:spPr bwMode="auto">
          <a:xfrm>
            <a:off x="1763688" y="1772816"/>
            <a:ext cx="5210175" cy="2232248"/>
          </a:xfrm>
          <a:prstGeom prst="rect">
            <a:avLst/>
          </a:prstGeom>
          <a:noFill/>
          <a:ln w="9525">
            <a:noFill/>
            <a:miter lim="800000"/>
            <a:headEnd/>
            <a:tailEnd/>
          </a:ln>
        </p:spPr>
      </p:pic>
      <p:sp>
        <p:nvSpPr>
          <p:cNvPr id="5" name="Rectângulo 4"/>
          <p:cNvSpPr/>
          <p:nvPr/>
        </p:nvSpPr>
        <p:spPr>
          <a:xfrm>
            <a:off x="755576" y="4437112"/>
            <a:ext cx="7056784" cy="1311128"/>
          </a:xfrm>
          <a:prstGeom prst="rect">
            <a:avLst/>
          </a:prstGeom>
        </p:spPr>
        <p:txBody>
          <a:bodyPr wrap="square">
            <a:spAutoFit/>
          </a:bodyPr>
          <a:lstStyle/>
          <a:p>
            <a:pPr marL="342900" indent="-342900">
              <a:lnSpc>
                <a:spcPct val="100000"/>
              </a:lnSpc>
              <a:spcBef>
                <a:spcPct val="20000"/>
              </a:spcBef>
              <a:buClr>
                <a:srgbClr val="000000"/>
              </a:buClr>
              <a:buFont typeface="Wingdings" pitchFamily="2" charset="2"/>
              <a:buChar char="q"/>
            </a:pPr>
            <a:r>
              <a:rPr lang="pt-BR" dirty="0" smtClean="0">
                <a:solidFill>
                  <a:srgbClr val="000000"/>
                </a:solidFill>
              </a:rPr>
              <a:t>É a primeira camada fim-a-fim do protocolo ATM</a:t>
            </a:r>
          </a:p>
          <a:p>
            <a:pPr marL="342900" indent="-342900">
              <a:lnSpc>
                <a:spcPct val="100000"/>
              </a:lnSpc>
              <a:spcBef>
                <a:spcPct val="20000"/>
              </a:spcBef>
              <a:buClr>
                <a:srgbClr val="000000"/>
              </a:buClr>
              <a:buFont typeface="Wingdings" pitchFamily="2" charset="2"/>
              <a:buChar char="q"/>
            </a:pPr>
            <a:r>
              <a:rPr lang="pt-BR" dirty="0" smtClean="0">
                <a:solidFill>
                  <a:srgbClr val="000000"/>
                </a:solidFill>
              </a:rPr>
              <a:t>Responsável pela adaptação do tráfego do usuário em formato de células, ou seja, mapear a aplicação do usuário na campo payload de 48 bytes da célula</a:t>
            </a:r>
          </a:p>
          <a:p>
            <a:pPr marL="342900" indent="-342900">
              <a:lnSpc>
                <a:spcPct val="100000"/>
              </a:lnSpc>
              <a:spcBef>
                <a:spcPct val="20000"/>
              </a:spcBef>
              <a:buClr>
                <a:srgbClr val="000000"/>
              </a:buClr>
              <a:buFont typeface="Wingdings" pitchFamily="2" charset="2"/>
              <a:buChar char="q"/>
            </a:pPr>
            <a:r>
              <a:rPr lang="pt-BR" dirty="0" smtClean="0">
                <a:solidFill>
                  <a:srgbClr val="000000"/>
                </a:solidFill>
              </a:rPr>
              <a:t>É dividida em duas sub camadas: TC e SAR</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GB" b="1" dirty="0" err="1" smtClean="0">
                <a:solidFill>
                  <a:srgbClr val="FF0000"/>
                </a:solidFill>
                <a:latin typeface="Arial" pitchFamily="34" charset="0"/>
                <a:cs typeface="Arial" pitchFamily="34" charset="0"/>
              </a:rPr>
              <a:t>Camada</a:t>
            </a:r>
            <a:r>
              <a:rPr lang="en-GB" b="1" dirty="0" smtClean="0">
                <a:solidFill>
                  <a:srgbClr val="FF0000"/>
                </a:solidFill>
                <a:latin typeface="Arial" pitchFamily="34" charset="0"/>
                <a:cs typeface="Arial" pitchFamily="34" charset="0"/>
              </a:rPr>
              <a:t>  de </a:t>
            </a:r>
            <a:r>
              <a:rPr lang="en-GB" b="1" dirty="0" err="1" smtClean="0">
                <a:solidFill>
                  <a:srgbClr val="FF0000"/>
                </a:solidFill>
                <a:latin typeface="Arial" pitchFamily="34" charset="0"/>
                <a:cs typeface="Arial" pitchFamily="34" charset="0"/>
              </a:rPr>
              <a:t>Adaptação</a:t>
            </a:r>
            <a:r>
              <a:rPr lang="en-GB" b="1" dirty="0" smtClean="0">
                <a:solidFill>
                  <a:srgbClr val="FF0000"/>
                </a:solidFill>
                <a:latin typeface="Arial" pitchFamily="34" charset="0"/>
                <a:cs typeface="Arial" pitchFamily="34" charset="0"/>
              </a:rPr>
              <a:t> ATM</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US" sz="2400" dirty="0" err="1" smtClean="0"/>
              <a:t>Realiza</a:t>
            </a:r>
            <a:r>
              <a:rPr lang="en-US" sz="2400" dirty="0" smtClean="0"/>
              <a:t> a </a:t>
            </a:r>
            <a:r>
              <a:rPr lang="en-US" sz="2400" dirty="0" err="1" smtClean="0"/>
              <a:t>adaptação</a:t>
            </a:r>
            <a:r>
              <a:rPr lang="en-US" sz="2400" dirty="0" smtClean="0"/>
              <a:t> dos dados </a:t>
            </a:r>
            <a:r>
              <a:rPr lang="en-US" sz="2400" dirty="0" err="1" smtClean="0"/>
              <a:t>gerados</a:t>
            </a:r>
            <a:r>
              <a:rPr lang="en-US" sz="2400" dirty="0" smtClean="0"/>
              <a:t> </a:t>
            </a:r>
            <a:r>
              <a:rPr lang="en-US" sz="2400" dirty="0" err="1" smtClean="0"/>
              <a:t>pelo</a:t>
            </a:r>
            <a:r>
              <a:rPr lang="en-US" sz="2400" dirty="0" smtClean="0"/>
              <a:t> </a:t>
            </a:r>
            <a:r>
              <a:rPr lang="en-US" sz="2400" dirty="0" err="1" smtClean="0"/>
              <a:t>serviço</a:t>
            </a:r>
            <a:r>
              <a:rPr lang="en-US" sz="2400" dirty="0" smtClean="0"/>
              <a:t> do </a:t>
            </a:r>
            <a:r>
              <a:rPr lang="en-US" sz="2400" dirty="0" err="1" smtClean="0"/>
              <a:t>usuário</a:t>
            </a:r>
            <a:r>
              <a:rPr lang="en-US" sz="2400" dirty="0" smtClean="0"/>
              <a:t> </a:t>
            </a:r>
            <a:r>
              <a:rPr lang="en-US" sz="2400" dirty="0" err="1" smtClean="0"/>
              <a:t>ao</a:t>
            </a:r>
            <a:r>
              <a:rPr lang="en-US" sz="2400" dirty="0" smtClean="0"/>
              <a:t> </a:t>
            </a:r>
            <a:r>
              <a:rPr lang="en-US" sz="2400" dirty="0" err="1" smtClean="0"/>
              <a:t>modo</a:t>
            </a:r>
            <a:r>
              <a:rPr lang="en-US" sz="2400" dirty="0" smtClean="0"/>
              <a:t> de </a:t>
            </a:r>
            <a:r>
              <a:rPr lang="en-US" sz="2400" dirty="0" err="1" smtClean="0"/>
              <a:t>transporte</a:t>
            </a:r>
            <a:r>
              <a:rPr lang="en-US" sz="2400" dirty="0" smtClean="0"/>
              <a:t> ATM (</a:t>
            </a:r>
            <a:r>
              <a:rPr lang="en-US" sz="2400" dirty="0" err="1" smtClean="0"/>
              <a:t>que</a:t>
            </a:r>
            <a:r>
              <a:rPr lang="en-US" sz="2400" dirty="0" smtClean="0"/>
              <a:t> é </a:t>
            </a:r>
            <a:r>
              <a:rPr lang="en-US" sz="2400" dirty="0" err="1" smtClean="0"/>
              <a:t>baseado</a:t>
            </a:r>
            <a:r>
              <a:rPr lang="en-US" sz="2400" dirty="0" smtClean="0"/>
              <a:t> </a:t>
            </a:r>
            <a:r>
              <a:rPr lang="en-US" sz="2400" dirty="0" err="1" smtClean="0"/>
              <a:t>em</a:t>
            </a:r>
            <a:r>
              <a:rPr lang="en-US" sz="2400" dirty="0" smtClean="0"/>
              <a:t> </a:t>
            </a:r>
            <a:r>
              <a:rPr lang="en-US" sz="2400" dirty="0" err="1" smtClean="0"/>
              <a:t>células</a:t>
            </a:r>
            <a:r>
              <a:rPr lang="en-US" sz="2400" dirty="0" smtClean="0"/>
              <a:t>).</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err="1" smtClean="0"/>
              <a:t>Implementada</a:t>
            </a:r>
            <a:r>
              <a:rPr lang="en-GB" sz="2400" dirty="0" smtClean="0"/>
              <a:t> </a:t>
            </a:r>
            <a:r>
              <a:rPr lang="en-GB" sz="2400" dirty="0" err="1" smtClean="0"/>
              <a:t>nos</a:t>
            </a:r>
            <a:r>
              <a:rPr lang="en-GB" sz="2400" dirty="0" smtClean="0"/>
              <a:t> </a:t>
            </a:r>
            <a:r>
              <a:rPr lang="en-GB" sz="2400" dirty="0" err="1" smtClean="0"/>
              <a:t>dispositivos</a:t>
            </a:r>
            <a:r>
              <a:rPr lang="en-GB" sz="2400" dirty="0" smtClean="0"/>
              <a:t> de </a:t>
            </a:r>
            <a:r>
              <a:rPr lang="en-GB" sz="2400" dirty="0" err="1" smtClean="0"/>
              <a:t>acesso</a:t>
            </a:r>
            <a:r>
              <a:rPr lang="en-GB" sz="2400" dirty="0" smtClean="0"/>
              <a:t>.</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err="1" smtClean="0"/>
              <a:t>Possui</a:t>
            </a:r>
            <a:r>
              <a:rPr lang="en-GB" sz="2400" dirty="0" smtClean="0"/>
              <a:t> </a:t>
            </a:r>
            <a:r>
              <a:rPr lang="en-GB" sz="2400" dirty="0" err="1" smtClean="0"/>
              <a:t>duas</a:t>
            </a:r>
            <a:r>
              <a:rPr lang="en-GB" sz="2400" dirty="0" smtClean="0"/>
              <a:t> sub-</a:t>
            </a:r>
            <a:r>
              <a:rPr lang="en-GB" sz="2400" dirty="0" err="1" smtClean="0"/>
              <a:t>camadas</a:t>
            </a:r>
            <a:r>
              <a:rPr lang="en-GB" sz="2400" dirty="0" smtClean="0"/>
              <a:t>.</a:t>
            </a:r>
          </a:p>
          <a:p>
            <a:pPr marL="738188" lvl="1" indent="-280988">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smtClean="0"/>
              <a:t>Sub-</a:t>
            </a:r>
            <a:r>
              <a:rPr lang="en-GB" sz="2000" dirty="0" err="1" smtClean="0"/>
              <a:t>camada</a:t>
            </a:r>
            <a:r>
              <a:rPr lang="en-GB" sz="2000" dirty="0" smtClean="0"/>
              <a:t> de </a:t>
            </a:r>
            <a:r>
              <a:rPr lang="en-GB" sz="2000" dirty="0" err="1" smtClean="0"/>
              <a:t>convergência</a:t>
            </a:r>
            <a:r>
              <a:rPr lang="en-GB" sz="2000" dirty="0" smtClean="0"/>
              <a:t>(CS).</a:t>
            </a:r>
          </a:p>
          <a:p>
            <a:pPr marL="738188" lvl="1" indent="-280988">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smtClean="0"/>
              <a:t>Sub-</a:t>
            </a:r>
            <a:r>
              <a:rPr lang="en-GB" sz="2000" dirty="0" err="1" smtClean="0"/>
              <a:t>camada</a:t>
            </a:r>
            <a:r>
              <a:rPr lang="en-GB" sz="2000" dirty="0" smtClean="0"/>
              <a:t> de </a:t>
            </a:r>
            <a:r>
              <a:rPr lang="en-GB" sz="2000" dirty="0" err="1" smtClean="0"/>
              <a:t>segmentação</a:t>
            </a:r>
            <a:r>
              <a:rPr lang="en-GB" sz="2000" dirty="0" smtClean="0"/>
              <a:t> e </a:t>
            </a:r>
            <a:r>
              <a:rPr lang="en-GB" sz="2000" dirty="0" err="1" smtClean="0"/>
              <a:t>montagem</a:t>
            </a:r>
            <a:r>
              <a:rPr lang="en-GB" sz="2000" dirty="0" smtClean="0"/>
              <a:t>(SAR).</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smtClean="0"/>
              <a:t>Para </a:t>
            </a:r>
            <a:r>
              <a:rPr lang="en-GB" sz="2400" dirty="0" err="1" smtClean="0"/>
              <a:t>cada</a:t>
            </a:r>
            <a:r>
              <a:rPr lang="en-GB" sz="2400" dirty="0" smtClean="0"/>
              <a:t> </a:t>
            </a:r>
            <a:r>
              <a:rPr lang="en-GB" sz="2400" dirty="0" err="1" smtClean="0"/>
              <a:t>tipo</a:t>
            </a:r>
            <a:r>
              <a:rPr lang="en-GB" sz="2400" dirty="0" smtClean="0"/>
              <a:t> de </a:t>
            </a:r>
            <a:r>
              <a:rPr lang="en-GB" sz="2400" dirty="0" err="1" smtClean="0"/>
              <a:t>tráfego</a:t>
            </a:r>
            <a:r>
              <a:rPr lang="en-GB" sz="2400" dirty="0" smtClean="0"/>
              <a:t> e </a:t>
            </a:r>
            <a:r>
              <a:rPr lang="en-GB" sz="2400" dirty="0" err="1" smtClean="0"/>
              <a:t>dependendo</a:t>
            </a:r>
            <a:r>
              <a:rPr lang="en-GB" sz="2400" dirty="0" smtClean="0"/>
              <a:t> de </a:t>
            </a:r>
            <a:r>
              <a:rPr lang="en-GB" sz="2400" dirty="0" err="1" smtClean="0"/>
              <a:t>suas</a:t>
            </a:r>
            <a:r>
              <a:rPr lang="en-GB" sz="2400" dirty="0" smtClean="0"/>
              <a:t> </a:t>
            </a:r>
            <a:r>
              <a:rPr lang="en-GB" sz="2400" dirty="0" err="1" smtClean="0"/>
              <a:t>exigências</a:t>
            </a:r>
            <a:r>
              <a:rPr lang="en-GB" sz="2400" dirty="0" smtClean="0"/>
              <a:t>, </a:t>
            </a:r>
            <a:r>
              <a:rPr lang="en-GB" sz="2400" dirty="0" err="1" smtClean="0"/>
              <a:t>existem</a:t>
            </a:r>
            <a:r>
              <a:rPr lang="en-GB" sz="2400" dirty="0" smtClean="0"/>
              <a:t> </a:t>
            </a:r>
            <a:r>
              <a:rPr lang="en-GB" sz="2400" dirty="0" err="1" smtClean="0"/>
              <a:t>várias</a:t>
            </a:r>
            <a:r>
              <a:rPr lang="en-GB" sz="2400" dirty="0" smtClean="0"/>
              <a:t> </a:t>
            </a:r>
            <a:r>
              <a:rPr lang="en-GB" sz="2400" dirty="0" err="1" smtClean="0"/>
              <a:t>possibilidades</a:t>
            </a:r>
            <a:r>
              <a:rPr lang="en-GB" sz="2400" dirty="0" smtClean="0"/>
              <a:t> de </a:t>
            </a:r>
            <a:r>
              <a:rPr lang="en-GB" sz="2400" dirty="0" err="1" smtClean="0"/>
              <a:t>implementação</a:t>
            </a:r>
            <a:r>
              <a:rPr lang="en-GB" sz="2400" dirty="0" smtClean="0"/>
              <a:t> de AAL.</a:t>
            </a:r>
          </a:p>
          <a:p>
            <a:pPr>
              <a:buNone/>
            </a:pPr>
            <a:endParaRPr lang="pt-PT"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Classes de Serviços ATM</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a:xfrm>
            <a:off x="914400" y="1447800"/>
            <a:ext cx="7772400" cy="685056"/>
          </a:xfrm>
        </p:spPr>
        <p:txBody>
          <a:bodyPr/>
          <a:lstStyle/>
          <a:p>
            <a:pPr>
              <a:buNone/>
            </a:pPr>
            <a:r>
              <a:rPr lang="pt-BR" dirty="0" smtClean="0">
                <a:solidFill>
                  <a:srgbClr val="000000"/>
                </a:solidFill>
              </a:rPr>
              <a:t>Classes definidas pelo ITU-T na recomendação I.362</a:t>
            </a:r>
          </a:p>
          <a:p>
            <a:pPr>
              <a:buNone/>
            </a:pPr>
            <a:endParaRPr lang="pt-PT" dirty="0"/>
          </a:p>
        </p:txBody>
      </p:sp>
      <p:pic>
        <p:nvPicPr>
          <p:cNvPr id="2050" name="Picture 2"/>
          <p:cNvPicPr>
            <a:picLocks noChangeAspect="1" noChangeArrowheads="1"/>
          </p:cNvPicPr>
          <p:nvPr/>
        </p:nvPicPr>
        <p:blipFill>
          <a:blip r:embed="rId3" cstate="print"/>
          <a:srcRect/>
          <a:stretch>
            <a:fillRect/>
          </a:stretch>
        </p:blipFill>
        <p:spPr bwMode="auto">
          <a:xfrm>
            <a:off x="1043608" y="2060848"/>
            <a:ext cx="6840760" cy="3960440"/>
          </a:xfrm>
          <a:prstGeom prst="rect">
            <a:avLst/>
          </a:prstGeom>
          <a:noFill/>
          <a:ln w="9525">
            <a:noFill/>
            <a:miter lim="800000"/>
            <a:headEnd/>
            <a:tailEnd/>
          </a:ln>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b="1" dirty="0" err="1" smtClean="0">
                <a:solidFill>
                  <a:srgbClr val="FF0000"/>
                </a:solidFill>
                <a:latin typeface="Arial" pitchFamily="34" charset="0"/>
                <a:cs typeface="Arial" pitchFamily="34" charset="0"/>
              </a:rPr>
              <a:t>Camada</a:t>
            </a:r>
            <a:r>
              <a:rPr lang="en-GB" b="1" dirty="0" smtClean="0">
                <a:solidFill>
                  <a:srgbClr val="FF0000"/>
                </a:solidFill>
                <a:latin typeface="Arial" pitchFamily="34" charset="0"/>
                <a:cs typeface="Arial" pitchFamily="34" charset="0"/>
              </a:rPr>
              <a:t>  de </a:t>
            </a:r>
            <a:r>
              <a:rPr lang="en-GB" b="1" dirty="0" err="1" smtClean="0">
                <a:solidFill>
                  <a:srgbClr val="FF0000"/>
                </a:solidFill>
                <a:latin typeface="Arial" pitchFamily="34" charset="0"/>
                <a:cs typeface="Arial" pitchFamily="34" charset="0"/>
              </a:rPr>
              <a:t>Adaptação</a:t>
            </a:r>
            <a:r>
              <a:rPr lang="en-GB" b="1" dirty="0" smtClean="0">
                <a:solidFill>
                  <a:srgbClr val="FF0000"/>
                </a:solidFill>
                <a:latin typeface="Arial" pitchFamily="34" charset="0"/>
                <a:cs typeface="Arial" pitchFamily="34" charset="0"/>
              </a:rPr>
              <a:t> ATM</a:t>
            </a:r>
            <a:endParaRPr lang="pt-PT" dirty="0"/>
          </a:p>
        </p:txBody>
      </p:sp>
      <p:sp>
        <p:nvSpPr>
          <p:cNvPr id="3" name="Marcador de Posição de Conteúdo 2"/>
          <p:cNvSpPr>
            <a:spLocks noGrp="1"/>
          </p:cNvSpPr>
          <p:nvPr>
            <p:ph sz="quarter" idx="1"/>
          </p:nvPr>
        </p:nvSpPr>
        <p:spPr/>
        <p:txBody>
          <a:bodyPr>
            <a:normAutofit lnSpcReduction="10000"/>
          </a:bodyPr>
          <a:lstStyle/>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smtClean="0"/>
              <a:t>Classes de </a:t>
            </a:r>
            <a:r>
              <a:rPr lang="en-GB" sz="2400" dirty="0" err="1" smtClean="0"/>
              <a:t>Serviços</a:t>
            </a:r>
            <a:r>
              <a:rPr lang="en-GB" sz="2400" dirty="0" smtClean="0"/>
              <a:t> – </a:t>
            </a:r>
            <a:r>
              <a:rPr lang="en-GB" sz="2400" dirty="0" err="1" smtClean="0"/>
              <a:t>QoS</a:t>
            </a:r>
            <a:r>
              <a:rPr lang="en-GB" sz="2400" dirty="0" smtClean="0"/>
              <a:t>.</a:t>
            </a:r>
          </a:p>
          <a:p>
            <a:pPr marL="738188" lvl="1" indent="-280988">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smtClean="0"/>
              <a:t>CBR (Constant Bit Rate): </a:t>
            </a:r>
            <a:r>
              <a:rPr lang="en-GB" sz="2000" dirty="0" err="1" smtClean="0"/>
              <a:t>definido</a:t>
            </a:r>
            <a:r>
              <a:rPr lang="en-GB" sz="2000" dirty="0" smtClean="0"/>
              <a:t> </a:t>
            </a:r>
            <a:r>
              <a:rPr lang="en-GB" sz="2000" dirty="0" err="1" smtClean="0"/>
              <a:t>para</a:t>
            </a:r>
            <a:r>
              <a:rPr lang="en-GB" sz="2000" dirty="0" smtClean="0"/>
              <a:t> </a:t>
            </a:r>
            <a:r>
              <a:rPr lang="en-GB" sz="2000" dirty="0" err="1" smtClean="0"/>
              <a:t>suportar</a:t>
            </a:r>
            <a:r>
              <a:rPr lang="en-GB" sz="2000" dirty="0" smtClean="0"/>
              <a:t> </a:t>
            </a:r>
            <a:r>
              <a:rPr lang="en-GB" sz="2000" dirty="0" err="1" smtClean="0"/>
              <a:t>tráfego</a:t>
            </a:r>
            <a:r>
              <a:rPr lang="en-GB" sz="2000" dirty="0" smtClean="0"/>
              <a:t> com </a:t>
            </a:r>
            <a:r>
              <a:rPr lang="en-GB" sz="2000" dirty="0" err="1" smtClean="0"/>
              <a:t>taxa</a:t>
            </a:r>
            <a:r>
              <a:rPr lang="en-GB" sz="2000" dirty="0" smtClean="0"/>
              <a:t> de bit </a:t>
            </a:r>
            <a:r>
              <a:rPr lang="en-GB" sz="2000" dirty="0" err="1" smtClean="0"/>
              <a:t>constante</a:t>
            </a:r>
            <a:r>
              <a:rPr lang="en-GB" sz="2000" dirty="0" smtClean="0"/>
              <a:t> (</a:t>
            </a:r>
            <a:r>
              <a:rPr lang="en-GB" sz="2000" dirty="0" err="1" smtClean="0"/>
              <a:t>quantidade</a:t>
            </a:r>
            <a:r>
              <a:rPr lang="en-GB" sz="2000" dirty="0" smtClean="0"/>
              <a:t> </a:t>
            </a:r>
            <a:r>
              <a:rPr lang="en-GB" sz="2000" dirty="0" err="1" smtClean="0"/>
              <a:t>fixa</a:t>
            </a:r>
            <a:r>
              <a:rPr lang="en-GB" sz="2000" dirty="0" smtClean="0"/>
              <a:t> de </a:t>
            </a:r>
            <a:r>
              <a:rPr lang="en-GB" sz="2000" dirty="0" err="1" smtClean="0"/>
              <a:t>banda</a:t>
            </a:r>
            <a:r>
              <a:rPr lang="en-GB" sz="2000" dirty="0" smtClean="0"/>
              <a:t>) e </a:t>
            </a:r>
            <a:r>
              <a:rPr lang="en-GB" sz="2000" dirty="0" err="1" smtClean="0"/>
              <a:t>orientado</a:t>
            </a:r>
            <a:r>
              <a:rPr lang="en-GB" sz="2000" dirty="0" smtClean="0"/>
              <a:t> à </a:t>
            </a:r>
            <a:r>
              <a:rPr lang="en-GB" sz="2000" dirty="0" err="1" smtClean="0"/>
              <a:t>conexão</a:t>
            </a:r>
            <a:r>
              <a:rPr lang="en-GB" sz="2000" dirty="0" smtClean="0"/>
              <a:t> (</a:t>
            </a:r>
            <a:r>
              <a:rPr lang="en-GB" sz="2000" dirty="0" err="1" smtClean="0"/>
              <a:t>Classe</a:t>
            </a:r>
            <a:r>
              <a:rPr lang="en-GB" sz="2000" dirty="0" smtClean="0"/>
              <a:t> A). </a:t>
            </a:r>
            <a:r>
              <a:rPr lang="en-GB" sz="2000" dirty="0" err="1" smtClean="0"/>
              <a:t>Exemplo</a:t>
            </a:r>
            <a:r>
              <a:rPr lang="en-GB" sz="2000" dirty="0" smtClean="0"/>
              <a:t>: </a:t>
            </a:r>
            <a:r>
              <a:rPr lang="en-GB" sz="2000" dirty="0" err="1" smtClean="0"/>
              <a:t>emulação</a:t>
            </a:r>
            <a:r>
              <a:rPr lang="en-GB" sz="2000" dirty="0" smtClean="0"/>
              <a:t> de </a:t>
            </a:r>
            <a:r>
              <a:rPr lang="en-GB" sz="2000" dirty="0" err="1" smtClean="0"/>
              <a:t>circuito</a:t>
            </a:r>
            <a:r>
              <a:rPr lang="en-GB" sz="2000" dirty="0" smtClean="0"/>
              <a:t> E1.</a:t>
            </a:r>
          </a:p>
          <a:p>
            <a:pPr marL="738188" lvl="1" indent="-280988">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smtClean="0"/>
              <a:t>VBR – RT (Variable Bit Rate – Real Time): </a:t>
            </a:r>
            <a:r>
              <a:rPr lang="en-GB" sz="2000" dirty="0" err="1" smtClean="0"/>
              <a:t>definido</a:t>
            </a:r>
            <a:r>
              <a:rPr lang="en-GB" sz="2000" dirty="0" smtClean="0"/>
              <a:t> </a:t>
            </a:r>
            <a:r>
              <a:rPr lang="en-GB" sz="2000" dirty="0" err="1" smtClean="0"/>
              <a:t>para</a:t>
            </a:r>
            <a:r>
              <a:rPr lang="en-GB" sz="2000" dirty="0" smtClean="0"/>
              <a:t> a</a:t>
            </a:r>
            <a:r>
              <a:rPr lang="pt-BR" sz="2000" dirty="0" smtClean="0"/>
              <a:t>plicações com taxa de bit variável que requerem limites de atraso e variação de atraso (Classe B).</a:t>
            </a:r>
            <a:r>
              <a:rPr lang="en-GB" sz="2000" dirty="0" smtClean="0"/>
              <a:t> </a:t>
            </a:r>
            <a:r>
              <a:rPr lang="en-GB" sz="2000" dirty="0" err="1" smtClean="0"/>
              <a:t>Exemplo</a:t>
            </a:r>
            <a:r>
              <a:rPr lang="en-GB" sz="2000" dirty="0" smtClean="0"/>
              <a:t>: </a:t>
            </a:r>
            <a:r>
              <a:rPr lang="en-GB" sz="2000" dirty="0" err="1" smtClean="0"/>
              <a:t>tráfego</a:t>
            </a:r>
            <a:r>
              <a:rPr lang="en-GB" sz="2000" dirty="0" smtClean="0"/>
              <a:t> de </a:t>
            </a:r>
            <a:r>
              <a:rPr lang="en-GB" sz="2000" dirty="0" err="1" smtClean="0"/>
              <a:t>voz</a:t>
            </a:r>
            <a:r>
              <a:rPr lang="en-GB" sz="2000" dirty="0" smtClean="0"/>
              <a:t> e video.</a:t>
            </a:r>
          </a:p>
          <a:p>
            <a:pPr marL="738188" lvl="1" indent="-280988">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smtClean="0"/>
              <a:t>VBR - NRT (Variable Bit Rate – Non Real Time) </a:t>
            </a:r>
            <a:r>
              <a:rPr lang="en-GB" sz="2000" dirty="0" err="1" smtClean="0"/>
              <a:t>Definido</a:t>
            </a:r>
            <a:r>
              <a:rPr lang="en-GB" sz="2000" dirty="0" smtClean="0"/>
              <a:t> </a:t>
            </a:r>
            <a:r>
              <a:rPr lang="en-GB" sz="2000" dirty="0" err="1" smtClean="0"/>
              <a:t>para</a:t>
            </a:r>
            <a:r>
              <a:rPr lang="en-GB" sz="2000" dirty="0" smtClean="0"/>
              <a:t> </a:t>
            </a:r>
            <a:r>
              <a:rPr lang="en-GB" sz="2000" dirty="0" err="1" smtClean="0"/>
              <a:t>suportar</a:t>
            </a:r>
            <a:r>
              <a:rPr lang="en-GB" sz="2000" dirty="0" smtClean="0"/>
              <a:t> </a:t>
            </a:r>
            <a:r>
              <a:rPr lang="en-GB" sz="2000" dirty="0" err="1" smtClean="0"/>
              <a:t>tráfego</a:t>
            </a:r>
            <a:r>
              <a:rPr lang="en-GB" sz="2000" dirty="0" smtClean="0"/>
              <a:t> com </a:t>
            </a:r>
            <a:r>
              <a:rPr lang="en-GB" sz="2000" dirty="0" err="1" smtClean="0"/>
              <a:t>taxa</a:t>
            </a:r>
            <a:r>
              <a:rPr lang="en-GB" sz="2000" dirty="0" smtClean="0"/>
              <a:t> de bit </a:t>
            </a:r>
            <a:r>
              <a:rPr lang="en-GB" sz="2000" dirty="0" err="1" smtClean="0"/>
              <a:t>variável</a:t>
            </a:r>
            <a:r>
              <a:rPr lang="en-GB" sz="2000" dirty="0" smtClean="0"/>
              <a:t> </a:t>
            </a:r>
            <a:r>
              <a:rPr lang="en-GB" sz="2000" dirty="0" err="1" smtClean="0"/>
              <a:t>mas</a:t>
            </a:r>
            <a:r>
              <a:rPr lang="en-GB" sz="2000" dirty="0" smtClean="0"/>
              <a:t> </a:t>
            </a:r>
            <a:r>
              <a:rPr lang="en-GB" sz="2000" dirty="0" err="1" smtClean="0"/>
              <a:t>não</a:t>
            </a:r>
            <a:r>
              <a:rPr lang="en-GB" sz="2000" dirty="0" smtClean="0"/>
              <a:t> </a:t>
            </a:r>
            <a:r>
              <a:rPr lang="en-GB" sz="2000" dirty="0" err="1" smtClean="0"/>
              <a:t>muito</a:t>
            </a:r>
            <a:r>
              <a:rPr lang="en-GB" sz="2000" dirty="0" smtClean="0"/>
              <a:t> </a:t>
            </a:r>
            <a:r>
              <a:rPr lang="en-GB" sz="2000" dirty="0" err="1" smtClean="0"/>
              <a:t>sensível</a:t>
            </a:r>
            <a:r>
              <a:rPr lang="en-GB" sz="2000" dirty="0" smtClean="0"/>
              <a:t> </a:t>
            </a:r>
            <a:r>
              <a:rPr lang="en-GB" sz="2000" dirty="0" err="1" smtClean="0"/>
              <a:t>ao</a:t>
            </a:r>
            <a:r>
              <a:rPr lang="en-GB" sz="2000" dirty="0" smtClean="0"/>
              <a:t> jitter. </a:t>
            </a:r>
            <a:r>
              <a:rPr lang="en-GB" sz="2000" dirty="0" err="1" smtClean="0"/>
              <a:t>Exemplo</a:t>
            </a:r>
            <a:r>
              <a:rPr lang="en-GB" sz="2000" dirty="0" smtClean="0"/>
              <a:t>: </a:t>
            </a:r>
            <a:r>
              <a:rPr lang="en-GB" sz="2000" dirty="0" err="1" smtClean="0"/>
              <a:t>interconexão</a:t>
            </a:r>
            <a:r>
              <a:rPr lang="en-GB" sz="2000" dirty="0" smtClean="0"/>
              <a:t> de LANs.</a:t>
            </a:r>
          </a:p>
          <a:p>
            <a:pPr marL="738188" lvl="1" indent="-280988">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smtClean="0"/>
              <a:t>ABR (Available Bit Rate) </a:t>
            </a:r>
            <a:r>
              <a:rPr lang="en-GB" sz="2000" dirty="0" err="1" smtClean="0"/>
              <a:t>Definido</a:t>
            </a:r>
            <a:r>
              <a:rPr lang="en-GB" sz="2000" dirty="0" smtClean="0"/>
              <a:t> </a:t>
            </a:r>
            <a:r>
              <a:rPr lang="en-GB" sz="2000" dirty="0" err="1" smtClean="0"/>
              <a:t>para</a:t>
            </a:r>
            <a:r>
              <a:rPr lang="en-GB" sz="2000" dirty="0" smtClean="0"/>
              <a:t> </a:t>
            </a:r>
            <a:r>
              <a:rPr lang="en-GB" sz="2000" dirty="0" err="1" smtClean="0"/>
              <a:t>tráfego</a:t>
            </a:r>
            <a:r>
              <a:rPr lang="en-GB" sz="2000" dirty="0" smtClean="0"/>
              <a:t> </a:t>
            </a:r>
            <a:r>
              <a:rPr lang="en-GB" sz="2000" dirty="0" err="1" smtClean="0"/>
              <a:t>não</a:t>
            </a:r>
            <a:r>
              <a:rPr lang="en-GB" sz="2000" dirty="0" smtClean="0"/>
              <a:t> </a:t>
            </a:r>
            <a:r>
              <a:rPr lang="en-GB" sz="2000" dirty="0" err="1" smtClean="0"/>
              <a:t>sensível</a:t>
            </a:r>
            <a:r>
              <a:rPr lang="en-GB" sz="2000" dirty="0" smtClean="0"/>
              <a:t> </a:t>
            </a:r>
            <a:r>
              <a:rPr lang="en-GB" sz="2000" dirty="0" err="1" smtClean="0"/>
              <a:t>ao</a:t>
            </a:r>
            <a:r>
              <a:rPr lang="en-GB" sz="2000" dirty="0" smtClean="0"/>
              <a:t> </a:t>
            </a:r>
            <a:r>
              <a:rPr lang="en-GB" sz="2000" dirty="0" err="1" smtClean="0"/>
              <a:t>atraso</a:t>
            </a:r>
            <a:r>
              <a:rPr lang="en-GB" sz="2000" dirty="0" smtClean="0"/>
              <a:t>, </a:t>
            </a:r>
            <a:r>
              <a:rPr lang="en-GB" sz="2000" dirty="0" err="1" smtClean="0"/>
              <a:t>ao</a:t>
            </a:r>
            <a:r>
              <a:rPr lang="en-GB" sz="2000" dirty="0" smtClean="0"/>
              <a:t> jitter e a </a:t>
            </a:r>
            <a:r>
              <a:rPr lang="en-GB" sz="2000" dirty="0" err="1" smtClean="0"/>
              <a:t>banda</a:t>
            </a:r>
            <a:r>
              <a:rPr lang="en-GB" sz="2000" dirty="0" smtClean="0"/>
              <a:t> </a:t>
            </a:r>
            <a:r>
              <a:rPr lang="en-GB" sz="2000" dirty="0" err="1" smtClean="0"/>
              <a:t>disponível</a:t>
            </a:r>
            <a:r>
              <a:rPr lang="en-GB" sz="2000" dirty="0" smtClean="0"/>
              <a:t>. </a:t>
            </a:r>
            <a:r>
              <a:rPr lang="en-GB" sz="2000" dirty="0" err="1" smtClean="0"/>
              <a:t>Ele</a:t>
            </a:r>
            <a:r>
              <a:rPr lang="en-GB" sz="2000" dirty="0" smtClean="0"/>
              <a:t> se </a:t>
            </a:r>
            <a:r>
              <a:rPr lang="en-GB" sz="2000" dirty="0" err="1" smtClean="0"/>
              <a:t>adapta</a:t>
            </a:r>
            <a:r>
              <a:rPr lang="en-GB" sz="2000" dirty="0" smtClean="0"/>
              <a:t> </a:t>
            </a:r>
            <a:r>
              <a:rPr lang="en-GB" sz="2000" dirty="0" err="1" smtClean="0"/>
              <a:t>aos</a:t>
            </a:r>
            <a:r>
              <a:rPr lang="en-GB" sz="2000" dirty="0" smtClean="0"/>
              <a:t> </a:t>
            </a:r>
            <a:r>
              <a:rPr lang="en-GB" sz="2000" dirty="0" err="1" smtClean="0"/>
              <a:t>recursos</a:t>
            </a:r>
            <a:r>
              <a:rPr lang="en-GB" sz="2000" dirty="0" smtClean="0"/>
              <a:t> </a:t>
            </a:r>
            <a:r>
              <a:rPr lang="en-GB" sz="2000" dirty="0" err="1" smtClean="0"/>
              <a:t>disponíveis</a:t>
            </a:r>
            <a:r>
              <a:rPr lang="en-GB" sz="2000" dirty="0" smtClean="0"/>
              <a:t>.</a:t>
            </a:r>
          </a:p>
          <a:p>
            <a:pPr marL="738188" lvl="1" indent="-280988">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smtClean="0"/>
              <a:t>UBR (Unspecified Bit Rate) </a:t>
            </a:r>
            <a:r>
              <a:rPr lang="en-GB" sz="2000" dirty="0" err="1" smtClean="0"/>
              <a:t>Definido</a:t>
            </a:r>
            <a:r>
              <a:rPr lang="en-GB" sz="2000" dirty="0" smtClean="0"/>
              <a:t> </a:t>
            </a:r>
            <a:r>
              <a:rPr lang="en-GB" sz="2000" dirty="0" err="1" smtClean="0"/>
              <a:t>para</a:t>
            </a:r>
            <a:r>
              <a:rPr lang="en-GB" sz="2000" dirty="0" smtClean="0"/>
              <a:t> </a:t>
            </a:r>
            <a:r>
              <a:rPr lang="en-GB" sz="2000" dirty="0" err="1" smtClean="0"/>
              <a:t>tráfego</a:t>
            </a:r>
            <a:r>
              <a:rPr lang="en-GB" sz="2000" dirty="0" smtClean="0"/>
              <a:t> de </a:t>
            </a:r>
            <a:r>
              <a:rPr lang="en-GB" sz="2000" dirty="0" err="1" smtClean="0"/>
              <a:t>melhor</a:t>
            </a:r>
            <a:r>
              <a:rPr lang="en-GB" sz="2000" dirty="0" smtClean="0"/>
              <a:t> </a:t>
            </a:r>
            <a:r>
              <a:rPr lang="en-GB" sz="2000" dirty="0" err="1" smtClean="0"/>
              <a:t>esforço</a:t>
            </a:r>
            <a:r>
              <a:rPr lang="en-GB" sz="2000" dirty="0" smtClean="0"/>
              <a:t>, </a:t>
            </a:r>
            <a:r>
              <a:rPr lang="en-GB" sz="2000" dirty="0" err="1" smtClean="0"/>
              <a:t>ou</a:t>
            </a:r>
            <a:r>
              <a:rPr lang="en-GB" sz="2000" dirty="0" smtClean="0"/>
              <a:t> </a:t>
            </a:r>
            <a:r>
              <a:rPr lang="en-GB" sz="2000" dirty="0" err="1" smtClean="0"/>
              <a:t>seja</a:t>
            </a:r>
            <a:r>
              <a:rPr lang="en-GB" sz="2000" dirty="0" smtClean="0"/>
              <a:t>, </a:t>
            </a:r>
            <a:r>
              <a:rPr lang="en-GB" sz="2000" dirty="0" err="1" smtClean="0"/>
              <a:t>não</a:t>
            </a:r>
            <a:r>
              <a:rPr lang="en-GB" sz="2000" dirty="0" smtClean="0"/>
              <a:t> </a:t>
            </a:r>
            <a:r>
              <a:rPr lang="en-GB" sz="2000" dirty="0" err="1" smtClean="0"/>
              <a:t>possui</a:t>
            </a:r>
            <a:r>
              <a:rPr lang="en-GB" sz="2000" dirty="0" smtClean="0"/>
              <a:t> </a:t>
            </a:r>
            <a:r>
              <a:rPr lang="en-GB" sz="2000" dirty="0" err="1" smtClean="0"/>
              <a:t>requisitos</a:t>
            </a:r>
            <a:r>
              <a:rPr lang="en-GB" sz="2000" dirty="0" smtClean="0"/>
              <a:t> de </a:t>
            </a:r>
            <a:r>
              <a:rPr lang="en-GB" sz="2000" dirty="0" err="1" smtClean="0"/>
              <a:t>qualidade</a:t>
            </a:r>
            <a:r>
              <a:rPr lang="en-GB" sz="2000" dirty="0" smtClean="0"/>
              <a:t> (</a:t>
            </a:r>
            <a:r>
              <a:rPr lang="en-GB" sz="2000" dirty="0" err="1" smtClean="0"/>
              <a:t>não</a:t>
            </a:r>
            <a:r>
              <a:rPr lang="en-GB" sz="2000" dirty="0" smtClean="0"/>
              <a:t> </a:t>
            </a:r>
            <a:r>
              <a:rPr lang="en-GB" sz="2000" dirty="0" err="1" smtClean="0"/>
              <a:t>garante</a:t>
            </a:r>
            <a:r>
              <a:rPr lang="en-GB" sz="2000" dirty="0" smtClean="0"/>
              <a:t> </a:t>
            </a:r>
            <a:r>
              <a:rPr lang="en-GB" sz="2000" dirty="0" err="1" smtClean="0"/>
              <a:t>banda</a:t>
            </a:r>
            <a:r>
              <a:rPr lang="en-GB" sz="2000" dirty="0" smtClean="0"/>
              <a:t> e </a:t>
            </a:r>
            <a:r>
              <a:rPr lang="en-GB" sz="2000" dirty="0" err="1" smtClean="0"/>
              <a:t>atraso</a:t>
            </a:r>
            <a:r>
              <a:rPr lang="en-GB" sz="2000" dirty="0" smtClean="0"/>
              <a:t>).</a:t>
            </a:r>
          </a:p>
          <a:p>
            <a:pPr>
              <a:buNone/>
            </a:pPr>
            <a:endParaRPr lang="pt-PT"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b="1" dirty="0" err="1" smtClean="0">
                <a:solidFill>
                  <a:srgbClr val="FF0000"/>
                </a:solidFill>
                <a:latin typeface="Arial" pitchFamily="34" charset="0"/>
                <a:cs typeface="Arial" pitchFamily="34" charset="0"/>
              </a:rPr>
              <a:t>Camada</a:t>
            </a:r>
            <a:r>
              <a:rPr lang="en-GB" b="1" dirty="0" smtClean="0">
                <a:solidFill>
                  <a:srgbClr val="FF0000"/>
                </a:solidFill>
                <a:latin typeface="Arial" pitchFamily="34" charset="0"/>
                <a:cs typeface="Arial" pitchFamily="34" charset="0"/>
              </a:rPr>
              <a:t>  de </a:t>
            </a:r>
            <a:r>
              <a:rPr lang="en-GB" b="1" dirty="0" err="1" smtClean="0">
                <a:solidFill>
                  <a:srgbClr val="FF0000"/>
                </a:solidFill>
                <a:latin typeface="Arial" pitchFamily="34" charset="0"/>
                <a:cs typeface="Arial" pitchFamily="34" charset="0"/>
              </a:rPr>
              <a:t>Adaptação</a:t>
            </a:r>
            <a:r>
              <a:rPr lang="en-GB" b="1" dirty="0" smtClean="0">
                <a:solidFill>
                  <a:srgbClr val="FF0000"/>
                </a:solidFill>
                <a:latin typeface="Arial" pitchFamily="34" charset="0"/>
                <a:cs typeface="Arial" pitchFamily="34" charset="0"/>
              </a:rPr>
              <a:t> ATM</a:t>
            </a:r>
            <a:endParaRPr lang="pt-PT" dirty="0"/>
          </a:p>
        </p:txBody>
      </p:sp>
      <p:sp>
        <p:nvSpPr>
          <p:cNvPr id="3" name="Marcador de Posição de Conteúdo 2"/>
          <p:cNvSpPr>
            <a:spLocks noGrp="1"/>
          </p:cNvSpPr>
          <p:nvPr>
            <p:ph sz="quarter" idx="1"/>
          </p:nvPr>
        </p:nvSpPr>
        <p:spPr/>
        <p:txBody>
          <a:bodyPr/>
          <a:lstStyle/>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3200" dirty="0" smtClean="0"/>
              <a:t>Classes de </a:t>
            </a:r>
            <a:r>
              <a:rPr lang="en-GB" sz="3200" dirty="0" err="1" smtClean="0"/>
              <a:t>Serviços</a:t>
            </a:r>
            <a:r>
              <a:rPr lang="en-GB" sz="3200" dirty="0" smtClean="0"/>
              <a:t> – </a:t>
            </a:r>
            <a:r>
              <a:rPr lang="en-GB" sz="3200" dirty="0" err="1" smtClean="0"/>
              <a:t>QoS</a:t>
            </a:r>
            <a:r>
              <a:rPr lang="en-GB" sz="3200" dirty="0" smtClean="0"/>
              <a:t>.</a:t>
            </a:r>
          </a:p>
          <a:p>
            <a:pPr marL="338138" indent="-338138">
              <a:spcBef>
                <a:spcPts val="6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endParaRPr lang="en-GB" dirty="0" smtClean="0"/>
          </a:p>
          <a:p>
            <a:pPr marL="738188" lvl="1" indent="-280988">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pt-BR" sz="2800" dirty="0" smtClean="0"/>
              <a:t>GFR – Guaranteed Frame Rate</a:t>
            </a:r>
          </a:p>
          <a:p>
            <a:pPr marL="1143000" lvl="2">
              <a:spcBef>
                <a:spcPts val="45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pt-BR" sz="2400" dirty="0" smtClean="0"/>
              <a:t>Provê mecanismo para entrega de quadros.</a:t>
            </a:r>
          </a:p>
          <a:p>
            <a:pPr marL="1600200" lvl="3">
              <a:spcBef>
                <a:spcPts val="4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pt-BR" dirty="0" smtClean="0"/>
              <a:t>Se uma célula de um quadro é perdida, todas a são.</a:t>
            </a:r>
          </a:p>
          <a:p>
            <a:pPr marL="1600200" lvl="3">
              <a:spcBef>
                <a:spcPts val="4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pt-BR" dirty="0" smtClean="0"/>
              <a:t>O serviço aceita (ou rejeita) quadros, garantindo uma taxa de entrega de quadros (e não de células).</a:t>
            </a:r>
          </a:p>
          <a:p>
            <a:pPr marL="1143000" lvl="2">
              <a:spcBef>
                <a:spcPts val="45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pt-BR" sz="2400" dirty="0" smtClean="0"/>
              <a:t>Utilizado por aplicações (não tempo real) que não podem especificar parâmetros de tráfego ATM, e que eram obrigados a utilizar a categoria UBR (sem qualquer garantia de QoS)</a:t>
            </a:r>
            <a:endParaRPr lang="en-GB" sz="2400" dirty="0" smtClean="0"/>
          </a:p>
          <a:p>
            <a:pPr>
              <a:buNone/>
            </a:pPr>
            <a:endParaRPr lang="pt-PT"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smtClean="0">
                <a:solidFill>
                  <a:srgbClr val="FF0000"/>
                </a:solidFill>
              </a:rPr>
              <a:t>Classes de Serviços e Tipos de AALs</a:t>
            </a:r>
            <a:endParaRPr lang="pt-PT" b="1" dirty="0">
              <a:solidFill>
                <a:srgbClr val="FF0000"/>
              </a:solidFill>
            </a:endParaRPr>
          </a:p>
        </p:txBody>
      </p:sp>
      <p:pic>
        <p:nvPicPr>
          <p:cNvPr id="3074" name="Picture 2"/>
          <p:cNvPicPr>
            <a:picLocks noGrp="1" noChangeAspect="1" noChangeArrowheads="1"/>
          </p:cNvPicPr>
          <p:nvPr>
            <p:ph sz="quarter" idx="1"/>
          </p:nvPr>
        </p:nvPicPr>
        <p:blipFill>
          <a:blip r:embed="rId3" cstate="print"/>
          <a:srcRect/>
          <a:stretch>
            <a:fillRect/>
          </a:stretch>
        </p:blipFill>
        <p:spPr bwMode="auto">
          <a:xfrm>
            <a:off x="683568" y="1556792"/>
            <a:ext cx="7848872" cy="4752528"/>
          </a:xfrm>
          <a:prstGeom prst="rect">
            <a:avLst/>
          </a:prstGeom>
          <a:noFill/>
          <a:ln w="9525">
            <a:noFill/>
            <a:miter lim="800000"/>
            <a:headEnd/>
            <a:tailEnd/>
          </a:ln>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smtClean="0">
                <a:solidFill>
                  <a:srgbClr val="FF0000"/>
                </a:solidFill>
                <a:latin typeface="Arial" pitchFamily="34" charset="0"/>
                <a:cs typeface="Arial" pitchFamily="34" charset="0"/>
              </a:rPr>
              <a:t>Estrutura</a:t>
            </a:r>
            <a:r>
              <a:rPr lang="en-US" b="1" dirty="0" smtClean="0">
                <a:solidFill>
                  <a:srgbClr val="FF0000"/>
                </a:solidFill>
                <a:latin typeface="Arial" pitchFamily="34" charset="0"/>
                <a:cs typeface="Arial" pitchFamily="34" charset="0"/>
              </a:rPr>
              <a:t> </a:t>
            </a:r>
            <a:r>
              <a:rPr lang="en-US" b="1" dirty="0" err="1" smtClean="0">
                <a:solidFill>
                  <a:srgbClr val="FF0000"/>
                </a:solidFill>
                <a:latin typeface="Arial" pitchFamily="34" charset="0"/>
                <a:cs typeface="Arial" pitchFamily="34" charset="0"/>
              </a:rPr>
              <a:t>da</a:t>
            </a:r>
            <a:r>
              <a:rPr lang="en-US" b="1" dirty="0" smtClean="0">
                <a:solidFill>
                  <a:srgbClr val="FF0000"/>
                </a:solidFill>
                <a:latin typeface="Arial" pitchFamily="34" charset="0"/>
                <a:cs typeface="Arial" pitchFamily="34" charset="0"/>
              </a:rPr>
              <a:t> </a:t>
            </a:r>
            <a:r>
              <a:rPr lang="en-US" b="1" dirty="0" err="1" smtClean="0">
                <a:solidFill>
                  <a:srgbClr val="FF0000"/>
                </a:solidFill>
                <a:latin typeface="Arial" pitchFamily="34" charset="0"/>
                <a:cs typeface="Arial" pitchFamily="34" charset="0"/>
              </a:rPr>
              <a:t>camada</a:t>
            </a:r>
            <a:r>
              <a:rPr lang="en-US" b="1" dirty="0" smtClean="0">
                <a:solidFill>
                  <a:srgbClr val="FF0000"/>
                </a:solidFill>
                <a:latin typeface="Arial" pitchFamily="34" charset="0"/>
                <a:cs typeface="Arial" pitchFamily="34" charset="0"/>
              </a:rPr>
              <a:t>  AAL</a:t>
            </a:r>
            <a:endParaRPr lang="pt-PT" b="1" dirty="0">
              <a:solidFill>
                <a:srgbClr val="FF0000"/>
              </a:solidFill>
              <a:latin typeface="Arial" pitchFamily="34" charset="0"/>
              <a:cs typeface="Arial" pitchFamily="34" charset="0"/>
            </a:endParaRPr>
          </a:p>
        </p:txBody>
      </p:sp>
      <p:pic>
        <p:nvPicPr>
          <p:cNvPr id="4098" name="Picture 2"/>
          <p:cNvPicPr>
            <a:picLocks noGrp="1" noChangeAspect="1" noChangeArrowheads="1"/>
          </p:cNvPicPr>
          <p:nvPr>
            <p:ph sz="quarter" idx="1"/>
          </p:nvPr>
        </p:nvPicPr>
        <p:blipFill>
          <a:blip r:embed="rId2" cstate="print"/>
          <a:srcRect/>
          <a:stretch>
            <a:fillRect/>
          </a:stretch>
        </p:blipFill>
        <p:spPr bwMode="auto">
          <a:xfrm>
            <a:off x="683568" y="1340768"/>
            <a:ext cx="7632848" cy="5040560"/>
          </a:xfrm>
          <a:prstGeom prst="rect">
            <a:avLst/>
          </a:prstGeom>
          <a:noFill/>
          <a:ln w="9525">
            <a:noFill/>
            <a:miter lim="800000"/>
            <a:headEnd/>
            <a:tailEnd/>
          </a:ln>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Princípio Geral da Adaptação</a:t>
            </a:r>
            <a:endParaRPr lang="pt-PT" b="1" dirty="0">
              <a:solidFill>
                <a:srgbClr val="FF0000"/>
              </a:solidFill>
              <a:latin typeface="Arial" pitchFamily="34" charset="0"/>
              <a:cs typeface="Arial" pitchFamily="34" charset="0"/>
            </a:endParaRPr>
          </a:p>
        </p:txBody>
      </p:sp>
      <p:pic>
        <p:nvPicPr>
          <p:cNvPr id="5122" name="Picture 2"/>
          <p:cNvPicPr>
            <a:picLocks noGrp="1" noChangeAspect="1" noChangeArrowheads="1"/>
          </p:cNvPicPr>
          <p:nvPr>
            <p:ph sz="quarter" idx="1"/>
          </p:nvPr>
        </p:nvPicPr>
        <p:blipFill>
          <a:blip r:embed="rId3" cstate="print"/>
          <a:srcRect/>
          <a:stretch>
            <a:fillRect/>
          </a:stretch>
        </p:blipFill>
        <p:spPr bwMode="auto">
          <a:xfrm>
            <a:off x="755576" y="1484784"/>
            <a:ext cx="7848872" cy="4608512"/>
          </a:xfrm>
          <a:prstGeom prst="rect">
            <a:avLst/>
          </a:prstGeom>
          <a:noFill/>
          <a:ln w="9525">
            <a:noFill/>
            <a:miter lim="800000"/>
            <a:headEnd/>
            <a:tailEnd/>
          </a:ln>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Unidades de dados</a:t>
            </a:r>
            <a:endParaRPr lang="pt-PT" b="1" dirty="0">
              <a:solidFill>
                <a:srgbClr val="FF0000"/>
              </a:solidFill>
              <a:latin typeface="Arial" pitchFamily="34" charset="0"/>
              <a:cs typeface="Arial" pitchFamily="34" charset="0"/>
            </a:endParaRPr>
          </a:p>
        </p:txBody>
      </p:sp>
      <p:pic>
        <p:nvPicPr>
          <p:cNvPr id="6146" name="Picture 2"/>
          <p:cNvPicPr>
            <a:picLocks noGrp="1" noChangeAspect="1" noChangeArrowheads="1"/>
          </p:cNvPicPr>
          <p:nvPr>
            <p:ph sz="quarter" idx="1"/>
          </p:nvPr>
        </p:nvPicPr>
        <p:blipFill>
          <a:blip r:embed="rId2" cstate="print"/>
          <a:srcRect/>
          <a:stretch>
            <a:fillRect/>
          </a:stretch>
        </p:blipFill>
        <p:spPr bwMode="auto">
          <a:xfrm>
            <a:off x="683568" y="1556793"/>
            <a:ext cx="8136904" cy="4752528"/>
          </a:xfrm>
          <a:prstGeom prst="rect">
            <a:avLst/>
          </a:prstGeom>
          <a:noFill/>
          <a:ln w="9525">
            <a:noFill/>
            <a:miter lim="800000"/>
            <a:headEnd/>
            <a:tailEnd/>
          </a:ln>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AAL 1 </a:t>
            </a:r>
            <a:endParaRPr lang="pt-PT" b="1" dirty="0">
              <a:solidFill>
                <a:srgbClr val="FF0000"/>
              </a:solidFill>
              <a:latin typeface="Arial" pitchFamily="34" charset="0"/>
              <a:cs typeface="Arial" pitchFamily="34" charset="0"/>
            </a:endParaRPr>
          </a:p>
        </p:txBody>
      </p:sp>
      <p:pic>
        <p:nvPicPr>
          <p:cNvPr id="7170" name="Picture 2"/>
          <p:cNvPicPr>
            <a:picLocks noGrp="1" noChangeAspect="1" noChangeArrowheads="1"/>
          </p:cNvPicPr>
          <p:nvPr>
            <p:ph sz="quarter" idx="1"/>
          </p:nvPr>
        </p:nvPicPr>
        <p:blipFill>
          <a:blip r:embed="rId3" cstate="print"/>
          <a:srcRect/>
          <a:stretch>
            <a:fillRect/>
          </a:stretch>
        </p:blipFill>
        <p:spPr bwMode="auto">
          <a:xfrm>
            <a:off x="827584" y="1340768"/>
            <a:ext cx="7632848" cy="5184576"/>
          </a:xfrm>
          <a:prstGeom prst="rect">
            <a:avLst/>
          </a:prstGeom>
          <a:noFill/>
          <a:ln w="9525">
            <a:noFill/>
            <a:miter lim="800000"/>
            <a:headEnd/>
            <a:tailEnd/>
          </a:ln>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AAL 1 </a:t>
            </a:r>
            <a:endParaRPr lang="pt-PT" dirty="0"/>
          </a:p>
        </p:txBody>
      </p:sp>
      <p:sp>
        <p:nvSpPr>
          <p:cNvPr id="3" name="Marcador de Posição de Conteúdo 2"/>
          <p:cNvSpPr>
            <a:spLocks noGrp="1"/>
          </p:cNvSpPr>
          <p:nvPr>
            <p:ph sz="quarter" idx="1"/>
          </p:nvPr>
        </p:nvSpPr>
        <p:spPr/>
        <p:txBody>
          <a:bodyPr/>
          <a:lstStyle/>
          <a:p>
            <a:pPr marL="342900" indent="-342900" defTabSz="762000">
              <a:lnSpc>
                <a:spcPct val="100000"/>
              </a:lnSpc>
              <a:tabLst>
                <a:tab pos="1714500" algn="l"/>
              </a:tabLst>
            </a:pPr>
            <a:r>
              <a:rPr lang="en-US" dirty="0" smtClean="0"/>
              <a:t>Sub </a:t>
            </a:r>
            <a:r>
              <a:rPr lang="en-US" dirty="0" err="1" smtClean="0"/>
              <a:t>Camada</a:t>
            </a:r>
            <a:r>
              <a:rPr lang="en-US" dirty="0" smtClean="0"/>
              <a:t> de </a:t>
            </a:r>
            <a:r>
              <a:rPr lang="en-US" dirty="0" err="1" smtClean="0"/>
              <a:t>Convergência</a:t>
            </a:r>
            <a:r>
              <a:rPr lang="en-US" dirty="0" smtClean="0"/>
              <a:t> – CS:</a:t>
            </a:r>
          </a:p>
          <a:p>
            <a:pPr marL="742950" lvl="1" indent="-285750" defTabSz="762000">
              <a:lnSpc>
                <a:spcPct val="100000"/>
              </a:lnSpc>
              <a:tabLst>
                <a:tab pos="1714500" algn="l"/>
              </a:tabLst>
            </a:pPr>
            <a:r>
              <a:rPr lang="en-US" dirty="0" err="1" smtClean="0"/>
              <a:t>Realiza</a:t>
            </a:r>
            <a:r>
              <a:rPr lang="en-US" dirty="0" smtClean="0"/>
              <a:t> o </a:t>
            </a:r>
            <a:r>
              <a:rPr lang="en-US" dirty="0" err="1" smtClean="0"/>
              <a:t>empacotamento</a:t>
            </a:r>
            <a:r>
              <a:rPr lang="en-US" dirty="0" smtClean="0"/>
              <a:t> (</a:t>
            </a:r>
            <a:r>
              <a:rPr lang="en-US" dirty="0" err="1" smtClean="0"/>
              <a:t>desempacotamento</a:t>
            </a:r>
            <a:r>
              <a:rPr lang="en-US" dirty="0" smtClean="0"/>
              <a:t>) de </a:t>
            </a:r>
            <a:r>
              <a:rPr lang="en-US" dirty="0" err="1" smtClean="0"/>
              <a:t>amostras</a:t>
            </a:r>
            <a:r>
              <a:rPr lang="en-US" dirty="0" smtClean="0"/>
              <a:t> (AAL-SDUs) , </a:t>
            </a:r>
            <a:r>
              <a:rPr lang="en-US" dirty="0" err="1" smtClean="0"/>
              <a:t>podendo</a:t>
            </a:r>
            <a:r>
              <a:rPr lang="en-US" dirty="0" smtClean="0"/>
              <a:t> </a:t>
            </a:r>
            <a:r>
              <a:rPr lang="en-US" dirty="0" err="1" smtClean="0"/>
              <a:t>adicionar</a:t>
            </a:r>
            <a:r>
              <a:rPr lang="en-US" dirty="0" smtClean="0"/>
              <a:t> (</a:t>
            </a:r>
            <a:r>
              <a:rPr lang="en-US" dirty="0" err="1" smtClean="0"/>
              <a:t>ou</a:t>
            </a:r>
            <a:r>
              <a:rPr lang="en-US" dirty="0" smtClean="0"/>
              <a:t> </a:t>
            </a:r>
            <a:r>
              <a:rPr lang="en-US" dirty="0" err="1" smtClean="0"/>
              <a:t>extrair</a:t>
            </a:r>
            <a:r>
              <a:rPr lang="en-US" dirty="0" smtClean="0"/>
              <a:t>) um byte de </a:t>
            </a:r>
            <a:r>
              <a:rPr lang="en-US" dirty="0" err="1" smtClean="0"/>
              <a:t>cabeçalho</a:t>
            </a:r>
            <a:r>
              <a:rPr lang="en-US" dirty="0" smtClean="0"/>
              <a:t> </a:t>
            </a:r>
            <a:r>
              <a:rPr lang="en-US" dirty="0" err="1" smtClean="0"/>
              <a:t>para</a:t>
            </a:r>
            <a:r>
              <a:rPr lang="en-US" dirty="0" smtClean="0"/>
              <a:t> </a:t>
            </a:r>
            <a:r>
              <a:rPr lang="en-US" dirty="0" err="1" smtClean="0"/>
              <a:t>emulação</a:t>
            </a:r>
            <a:r>
              <a:rPr lang="en-US" dirty="0" smtClean="0"/>
              <a:t> de </a:t>
            </a:r>
            <a:r>
              <a:rPr lang="en-US" dirty="0" err="1" smtClean="0"/>
              <a:t>circuitos</a:t>
            </a:r>
            <a:r>
              <a:rPr lang="en-US" dirty="0" smtClean="0"/>
              <a:t> </a:t>
            </a:r>
            <a:r>
              <a:rPr lang="en-US" dirty="0" err="1" smtClean="0"/>
              <a:t>estruturados</a:t>
            </a:r>
            <a:r>
              <a:rPr lang="en-US" dirty="0" smtClean="0"/>
              <a:t> . A </a:t>
            </a:r>
            <a:r>
              <a:rPr lang="en-US" dirty="0" err="1" smtClean="0"/>
              <a:t>estrutura</a:t>
            </a:r>
            <a:r>
              <a:rPr lang="en-US" dirty="0" smtClean="0"/>
              <a:t> </a:t>
            </a:r>
            <a:r>
              <a:rPr lang="en-US" dirty="0" err="1" smtClean="0"/>
              <a:t>resultante</a:t>
            </a:r>
            <a:r>
              <a:rPr lang="en-US" dirty="0" smtClean="0"/>
              <a:t> é </a:t>
            </a:r>
            <a:r>
              <a:rPr lang="en-US" dirty="0" err="1" smtClean="0"/>
              <a:t>denominada</a:t>
            </a:r>
            <a:r>
              <a:rPr lang="en-US" dirty="0" smtClean="0"/>
              <a:t> CS-PDU .</a:t>
            </a:r>
          </a:p>
          <a:p>
            <a:pPr marL="342900" indent="-342900" defTabSz="762000">
              <a:lnSpc>
                <a:spcPct val="100000"/>
              </a:lnSpc>
              <a:tabLst>
                <a:tab pos="1714500" algn="l"/>
              </a:tabLst>
            </a:pPr>
            <a:r>
              <a:rPr lang="en-US" dirty="0" smtClean="0"/>
              <a:t>Sub </a:t>
            </a:r>
            <a:r>
              <a:rPr lang="en-US" dirty="0" err="1" smtClean="0"/>
              <a:t>Camada</a:t>
            </a:r>
            <a:r>
              <a:rPr lang="en-US" dirty="0" smtClean="0"/>
              <a:t> de </a:t>
            </a:r>
            <a:r>
              <a:rPr lang="en-US" dirty="0" err="1" smtClean="0"/>
              <a:t>Segmentação</a:t>
            </a:r>
            <a:r>
              <a:rPr lang="en-US" dirty="0" smtClean="0"/>
              <a:t> e </a:t>
            </a:r>
            <a:r>
              <a:rPr lang="en-US" dirty="0" err="1" smtClean="0"/>
              <a:t>Remontagem</a:t>
            </a:r>
            <a:r>
              <a:rPr lang="en-US" dirty="0" smtClean="0"/>
              <a:t> – SAR: </a:t>
            </a:r>
          </a:p>
          <a:p>
            <a:pPr marL="742950" lvl="1" indent="-285750" defTabSz="762000">
              <a:lnSpc>
                <a:spcPct val="100000"/>
              </a:lnSpc>
              <a:tabLst>
                <a:tab pos="1714500" algn="l"/>
              </a:tabLst>
            </a:pPr>
            <a:r>
              <a:rPr lang="en-US" dirty="0" err="1" smtClean="0"/>
              <a:t>Adiciona</a:t>
            </a:r>
            <a:r>
              <a:rPr lang="en-US" dirty="0" smtClean="0"/>
              <a:t>, </a:t>
            </a:r>
            <a:r>
              <a:rPr lang="en-US" dirty="0" err="1" smtClean="0"/>
              <a:t>aos</a:t>
            </a:r>
            <a:r>
              <a:rPr lang="en-US" dirty="0" smtClean="0"/>
              <a:t> dados </a:t>
            </a:r>
            <a:r>
              <a:rPr lang="en-US" dirty="0" err="1" smtClean="0"/>
              <a:t>recebidos</a:t>
            </a:r>
            <a:r>
              <a:rPr lang="en-US" dirty="0" smtClean="0"/>
              <a:t> </a:t>
            </a:r>
            <a:r>
              <a:rPr lang="en-US" dirty="0" err="1" smtClean="0"/>
              <a:t>da</a:t>
            </a:r>
            <a:r>
              <a:rPr lang="en-US" dirty="0" smtClean="0"/>
              <a:t> sub-</a:t>
            </a:r>
            <a:r>
              <a:rPr lang="en-US" dirty="0" err="1" smtClean="0"/>
              <a:t>camada</a:t>
            </a:r>
            <a:r>
              <a:rPr lang="en-US" dirty="0" smtClean="0"/>
              <a:t> CS, um byte de </a:t>
            </a:r>
            <a:r>
              <a:rPr lang="en-US" dirty="0" err="1" smtClean="0"/>
              <a:t>cabeçalho</a:t>
            </a:r>
            <a:r>
              <a:rPr lang="en-US" dirty="0" smtClean="0"/>
              <a:t> </a:t>
            </a:r>
            <a:r>
              <a:rPr lang="en-US" dirty="0" err="1" smtClean="0"/>
              <a:t>para</a:t>
            </a:r>
            <a:r>
              <a:rPr lang="en-US" dirty="0" smtClean="0"/>
              <a:t> </a:t>
            </a:r>
            <a:r>
              <a:rPr lang="en-US" dirty="0" err="1" smtClean="0"/>
              <a:t>deteção</a:t>
            </a:r>
            <a:r>
              <a:rPr lang="en-US" dirty="0" smtClean="0"/>
              <a:t> de </a:t>
            </a:r>
            <a:r>
              <a:rPr lang="en-US" dirty="0" err="1" smtClean="0"/>
              <a:t>erros</a:t>
            </a:r>
            <a:r>
              <a:rPr lang="en-US" dirty="0" smtClean="0"/>
              <a:t> e de </a:t>
            </a:r>
            <a:r>
              <a:rPr lang="en-US" dirty="0" err="1" smtClean="0"/>
              <a:t>perdas</a:t>
            </a:r>
            <a:r>
              <a:rPr lang="en-US" dirty="0" smtClean="0"/>
              <a:t>/</a:t>
            </a:r>
            <a:r>
              <a:rPr lang="en-US" dirty="0" err="1" smtClean="0"/>
              <a:t>inserção</a:t>
            </a:r>
            <a:r>
              <a:rPr lang="en-US" dirty="0" smtClean="0"/>
              <a:t> de dados. O SAR-PDU </a:t>
            </a:r>
            <a:r>
              <a:rPr lang="en-US" dirty="0" err="1" smtClean="0"/>
              <a:t>têm</a:t>
            </a:r>
            <a:r>
              <a:rPr lang="en-US" dirty="0" smtClean="0"/>
              <a:t> 48 </a:t>
            </a:r>
            <a:r>
              <a:rPr lang="en-US" dirty="0" err="1" smtClean="0"/>
              <a:t>octetos</a:t>
            </a:r>
            <a:r>
              <a:rPr lang="en-US" dirty="0" smtClean="0"/>
              <a:t> </a:t>
            </a:r>
            <a:r>
              <a:rPr lang="en-US" dirty="0" err="1" smtClean="0"/>
              <a:t>cada</a:t>
            </a:r>
            <a:r>
              <a:rPr lang="en-US" dirty="0" smtClean="0"/>
              <a:t>, </a:t>
            </a:r>
            <a:r>
              <a:rPr lang="en-US" dirty="0" err="1" smtClean="0"/>
              <a:t>consistindo</a:t>
            </a:r>
            <a:r>
              <a:rPr lang="en-US" dirty="0" smtClean="0"/>
              <a:t> </a:t>
            </a:r>
            <a:r>
              <a:rPr lang="en-US" dirty="0" err="1" smtClean="0"/>
              <a:t>na</a:t>
            </a:r>
            <a:r>
              <a:rPr lang="en-US" dirty="0" smtClean="0"/>
              <a:t> </a:t>
            </a:r>
            <a:r>
              <a:rPr lang="en-US" dirty="0" err="1" smtClean="0"/>
              <a:t>carga</a:t>
            </a:r>
            <a:r>
              <a:rPr lang="en-US" dirty="0" smtClean="0"/>
              <a:t> </a:t>
            </a:r>
            <a:r>
              <a:rPr lang="en-US" dirty="0" err="1" smtClean="0"/>
              <a:t>útil</a:t>
            </a:r>
            <a:r>
              <a:rPr lang="en-US" dirty="0" smtClean="0"/>
              <a:t> </a:t>
            </a:r>
            <a:r>
              <a:rPr lang="en-US" dirty="0" err="1" smtClean="0"/>
              <a:t>da</a:t>
            </a:r>
            <a:r>
              <a:rPr lang="en-US" dirty="0" smtClean="0"/>
              <a:t> </a:t>
            </a:r>
            <a:r>
              <a:rPr lang="en-US" dirty="0" err="1" smtClean="0"/>
              <a:t>célula</a:t>
            </a:r>
            <a:r>
              <a:rPr lang="en-US" dirty="0" smtClean="0"/>
              <a:t> ATM.</a:t>
            </a:r>
          </a:p>
          <a:p>
            <a:pPr>
              <a:buNone/>
            </a:pPr>
            <a:endParaRPr lang="pt-PT" dirty="0"/>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AAL1:  Sub-camada  SAR</a:t>
            </a:r>
            <a:endParaRPr lang="pt-PT" b="1" dirty="0">
              <a:solidFill>
                <a:srgbClr val="FF0000"/>
              </a:solidFill>
              <a:latin typeface="Arial" pitchFamily="34" charset="0"/>
              <a:cs typeface="Arial" pitchFamily="34" charset="0"/>
            </a:endParaRPr>
          </a:p>
        </p:txBody>
      </p:sp>
      <p:pic>
        <p:nvPicPr>
          <p:cNvPr id="8194" name="Picture 2"/>
          <p:cNvPicPr>
            <a:picLocks noGrp="1" noChangeAspect="1" noChangeArrowheads="1"/>
          </p:cNvPicPr>
          <p:nvPr>
            <p:ph sz="quarter" idx="1"/>
          </p:nvPr>
        </p:nvPicPr>
        <p:blipFill>
          <a:blip r:embed="rId3" cstate="print"/>
          <a:srcRect/>
          <a:stretch>
            <a:fillRect/>
          </a:stretch>
        </p:blipFill>
        <p:spPr bwMode="auto">
          <a:xfrm>
            <a:off x="755576" y="1484785"/>
            <a:ext cx="7848872" cy="46085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smtClean="0">
                <a:solidFill>
                  <a:srgbClr val="FF0000"/>
                </a:solidFill>
                <a:latin typeface="Arial" pitchFamily="34" charset="0"/>
                <a:cs typeface="Arial" pitchFamily="34" charset="0"/>
              </a:rPr>
              <a:t>AAL1:  Sub-camada  SAR</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a:xfrm>
            <a:off x="914400" y="1447800"/>
            <a:ext cx="7772400" cy="1477144"/>
          </a:xfrm>
        </p:spPr>
        <p:txBody>
          <a:bodyPr>
            <a:normAutofit fontScale="70000" lnSpcReduction="20000"/>
          </a:bodyPr>
          <a:lstStyle/>
          <a:p>
            <a:pPr>
              <a:buFont typeface="Times New Roman" pitchFamily="18" charset="0"/>
              <a:buChar char="•"/>
            </a:pPr>
            <a:r>
              <a:rPr lang="pt-BR" sz="2800" dirty="0" smtClean="0">
                <a:solidFill>
                  <a:srgbClr val="003399"/>
                </a:solidFill>
              </a:rPr>
              <a:t>O campo SN (Sequence Number) contém 3 bits que operam como um contador do número de sequência e 1 bit de indicação da sub-camada de convergência.</a:t>
            </a:r>
          </a:p>
          <a:p>
            <a:pPr>
              <a:buFont typeface="Times New Roman" pitchFamily="18" charset="0"/>
              <a:buChar char="•"/>
            </a:pPr>
            <a:r>
              <a:rPr lang="pt-BR" sz="2800" dirty="0" smtClean="0">
                <a:solidFill>
                  <a:srgbClr val="003399"/>
                </a:solidFill>
              </a:rPr>
              <a:t>O campo SNP é utilizado para detectar erros no SN, e consiste de um CRC de 3 bits e 1 bit de paridade par</a:t>
            </a:r>
            <a:endParaRPr lang="pt-PT" dirty="0"/>
          </a:p>
        </p:txBody>
      </p:sp>
      <p:pic>
        <p:nvPicPr>
          <p:cNvPr id="9218" name="Picture 2"/>
          <p:cNvPicPr>
            <a:picLocks noChangeAspect="1" noChangeArrowheads="1"/>
          </p:cNvPicPr>
          <p:nvPr/>
        </p:nvPicPr>
        <p:blipFill>
          <a:blip r:embed="rId2" cstate="print"/>
          <a:srcRect/>
          <a:stretch>
            <a:fillRect/>
          </a:stretch>
        </p:blipFill>
        <p:spPr bwMode="auto">
          <a:xfrm>
            <a:off x="755576" y="2852936"/>
            <a:ext cx="7992888" cy="3384376"/>
          </a:xfrm>
          <a:prstGeom prst="rect">
            <a:avLst/>
          </a:prstGeom>
          <a:noFill/>
          <a:ln w="9525">
            <a:noFill/>
            <a:miter lim="800000"/>
            <a:headEnd/>
            <a:tailEnd/>
          </a:ln>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 Camada AAL2</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r>
              <a:rPr lang="pt-BR" dirty="0" smtClean="0"/>
              <a:t>Transporte de tráfego de taxa de bit variável sensível ao atraso, tal como VBR de áudio e vídeo (VBR - RT).</a:t>
            </a:r>
          </a:p>
          <a:p>
            <a:r>
              <a:rPr lang="pt-BR" dirty="0" smtClean="0"/>
              <a:t>Recebe vários tráfegos de fontes diferentes e multiplexa tudo junto.</a:t>
            </a:r>
          </a:p>
          <a:p>
            <a:pPr>
              <a:buNone/>
            </a:pPr>
            <a:endParaRPr lang="pt-PT"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 Camada AAL2</a:t>
            </a:r>
            <a:endParaRPr lang="pt-PT" dirty="0"/>
          </a:p>
        </p:txBody>
      </p:sp>
      <p:pic>
        <p:nvPicPr>
          <p:cNvPr id="10242" name="Picture 2"/>
          <p:cNvPicPr>
            <a:picLocks noGrp="1" noChangeAspect="1" noChangeArrowheads="1"/>
          </p:cNvPicPr>
          <p:nvPr>
            <p:ph sz="quarter" idx="1"/>
          </p:nvPr>
        </p:nvPicPr>
        <p:blipFill>
          <a:blip r:embed="rId3" cstate="print"/>
          <a:srcRect/>
          <a:stretch>
            <a:fillRect/>
          </a:stretch>
        </p:blipFill>
        <p:spPr bwMode="auto">
          <a:xfrm>
            <a:off x="827584" y="1556792"/>
            <a:ext cx="7920879" cy="4320480"/>
          </a:xfrm>
          <a:prstGeom prst="rect">
            <a:avLst/>
          </a:prstGeom>
          <a:noFill/>
          <a:ln w="9525">
            <a:noFill/>
            <a:miter lim="800000"/>
            <a:headEnd/>
            <a:tailEnd/>
          </a:ln>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Cabeçalhos da AAL2</a:t>
            </a:r>
            <a:endParaRPr lang="pt-PT" b="1" dirty="0">
              <a:solidFill>
                <a:srgbClr val="FF0000"/>
              </a:solidFill>
              <a:latin typeface="Arial" pitchFamily="34" charset="0"/>
              <a:cs typeface="Arial" pitchFamily="34" charset="0"/>
            </a:endParaRPr>
          </a:p>
        </p:txBody>
      </p:sp>
      <p:pic>
        <p:nvPicPr>
          <p:cNvPr id="11266" name="Picture 2"/>
          <p:cNvPicPr>
            <a:picLocks noGrp="1" noChangeAspect="1" noChangeArrowheads="1"/>
          </p:cNvPicPr>
          <p:nvPr>
            <p:ph sz="quarter" idx="1"/>
          </p:nvPr>
        </p:nvPicPr>
        <p:blipFill>
          <a:blip r:embed="rId3" cstate="print"/>
          <a:srcRect/>
          <a:stretch>
            <a:fillRect/>
          </a:stretch>
        </p:blipFill>
        <p:spPr bwMode="auto">
          <a:xfrm>
            <a:off x="755576" y="1484784"/>
            <a:ext cx="7992888" cy="4752528"/>
          </a:xfrm>
          <a:prstGeom prst="rect">
            <a:avLst/>
          </a:prstGeom>
          <a:noFill/>
          <a:ln w="9525">
            <a:noFill/>
            <a:miter lim="800000"/>
            <a:headEnd/>
            <a:tailEnd/>
          </a:ln>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smtClean="0">
                <a:solidFill>
                  <a:srgbClr val="FF0000"/>
                </a:solidFill>
                <a:latin typeface="Arial" pitchFamily="34" charset="0"/>
                <a:cs typeface="Arial" pitchFamily="34" charset="0"/>
              </a:rPr>
              <a:t>AAL 3/4</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a:xfrm>
            <a:off x="899592" y="2276872"/>
            <a:ext cx="7772400" cy="3310880"/>
          </a:xfrm>
        </p:spPr>
        <p:txBody>
          <a:bodyPr/>
          <a:lstStyle/>
          <a:p>
            <a:r>
              <a:rPr lang="pt-BR" dirty="0" smtClean="0"/>
              <a:t>Inicialmente eram separadas. Viram que implementavam funções muito parecidas e acabaram agrupando as duas.</a:t>
            </a:r>
          </a:p>
          <a:p>
            <a:r>
              <a:rPr lang="pt-BR" dirty="0" smtClean="0"/>
              <a:t>Recomendado para tráfego sensível a perda mas não ao atraso. Tráfego VBR – NRT.</a:t>
            </a:r>
          </a:p>
          <a:p>
            <a:r>
              <a:rPr lang="pt-BR" dirty="0" smtClean="0"/>
              <a:t>Serviços modo fluxo e modo mensagem.</a:t>
            </a:r>
          </a:p>
          <a:p>
            <a:endParaRPr lang="pt-BR" dirty="0" smtClean="0"/>
          </a:p>
          <a:p>
            <a:pPr>
              <a:buNone/>
            </a:pPr>
            <a:endParaRPr lang="pt-PT" dirty="0" smtClean="0"/>
          </a:p>
          <a:p>
            <a:pPr>
              <a:buNone/>
            </a:pPr>
            <a:endParaRPr lang="pt-PT"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A Camada AAL 3/4</a:t>
            </a:r>
            <a:endParaRPr lang="pt-PT" b="1" dirty="0">
              <a:solidFill>
                <a:srgbClr val="FF0000"/>
              </a:solidFill>
              <a:latin typeface="Arial" pitchFamily="34" charset="0"/>
              <a:cs typeface="Arial" pitchFamily="34" charset="0"/>
            </a:endParaRPr>
          </a:p>
        </p:txBody>
      </p:sp>
      <p:pic>
        <p:nvPicPr>
          <p:cNvPr id="12290" name="Picture 2"/>
          <p:cNvPicPr>
            <a:picLocks noGrp="1" noChangeAspect="1" noChangeArrowheads="1"/>
          </p:cNvPicPr>
          <p:nvPr>
            <p:ph sz="quarter" idx="1"/>
          </p:nvPr>
        </p:nvPicPr>
        <p:blipFill>
          <a:blip r:embed="rId3" cstate="print"/>
          <a:srcRect/>
          <a:stretch>
            <a:fillRect/>
          </a:stretch>
        </p:blipFill>
        <p:spPr bwMode="auto">
          <a:xfrm>
            <a:off x="827584" y="1412776"/>
            <a:ext cx="7632848" cy="5112568"/>
          </a:xfrm>
          <a:prstGeom prst="rect">
            <a:avLst/>
          </a:prstGeom>
          <a:noFill/>
          <a:ln w="9525">
            <a:noFill/>
            <a:miter lim="800000"/>
            <a:headEnd/>
            <a:tailEnd/>
          </a:ln>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Os Cabeçalhos da AAL 3/4</a:t>
            </a:r>
            <a:endParaRPr lang="pt-PT" b="1" dirty="0">
              <a:solidFill>
                <a:srgbClr val="FF0000"/>
              </a:solidFill>
              <a:latin typeface="Arial" pitchFamily="34" charset="0"/>
              <a:cs typeface="Arial" pitchFamily="34" charset="0"/>
            </a:endParaRPr>
          </a:p>
        </p:txBody>
      </p:sp>
      <p:pic>
        <p:nvPicPr>
          <p:cNvPr id="13314" name="Picture 2"/>
          <p:cNvPicPr>
            <a:picLocks noGrp="1" noChangeAspect="1" noChangeArrowheads="1"/>
          </p:cNvPicPr>
          <p:nvPr>
            <p:ph sz="quarter" idx="1"/>
          </p:nvPr>
        </p:nvPicPr>
        <p:blipFill>
          <a:blip r:embed="rId3" cstate="print"/>
          <a:srcRect/>
          <a:stretch>
            <a:fillRect/>
          </a:stretch>
        </p:blipFill>
        <p:spPr bwMode="auto">
          <a:xfrm>
            <a:off x="827584" y="1484784"/>
            <a:ext cx="7920880" cy="5040560"/>
          </a:xfrm>
          <a:prstGeom prst="rect">
            <a:avLst/>
          </a:prstGeom>
          <a:noFill/>
          <a:ln w="9525">
            <a:noFill/>
            <a:miter lim="800000"/>
            <a:headEnd/>
            <a:tailEnd/>
          </a:ln>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smtClean="0">
                <a:solidFill>
                  <a:srgbClr val="FF0000"/>
                </a:solidFill>
                <a:latin typeface="Arial" pitchFamily="34" charset="0"/>
                <a:cs typeface="Arial" pitchFamily="34" charset="0"/>
              </a:rPr>
              <a:t>Camada</a:t>
            </a:r>
            <a:r>
              <a:rPr lang="en-US" b="1" dirty="0" smtClean="0">
                <a:solidFill>
                  <a:srgbClr val="FF0000"/>
                </a:solidFill>
                <a:latin typeface="Arial" pitchFamily="34" charset="0"/>
                <a:cs typeface="Arial" pitchFamily="34" charset="0"/>
              </a:rPr>
              <a:t>  AAL 3/4</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a:xfrm>
            <a:off x="914400" y="1447800"/>
            <a:ext cx="7772400" cy="4933528"/>
          </a:xfrm>
        </p:spPr>
        <p:txBody>
          <a:bodyPr>
            <a:normAutofit fontScale="55000" lnSpcReduction="20000"/>
          </a:bodyPr>
          <a:lstStyle/>
          <a:p>
            <a:r>
              <a:rPr lang="pt-BR" sz="2800" dirty="0" smtClean="0"/>
              <a:t>CPI - Commom part indicator: Indica a unidade (bits ou bytes) para os campo BASize e Lenght</a:t>
            </a:r>
          </a:p>
          <a:p>
            <a:r>
              <a:rPr lang="pt-BR" sz="2800" dirty="0" smtClean="0"/>
              <a:t>Btag (Beginning Tag) e Etag (Ending Tag): o mesmo valor é atribuído aos dois. Ao efetuar a remontagem  deve-se ter Btag = Etag. A cada  PDU construída este valor é incrementado.</a:t>
            </a:r>
          </a:p>
          <a:p>
            <a:r>
              <a:rPr lang="pt-BR" sz="2800" dirty="0" smtClean="0"/>
              <a:t>BASize - Buffer allocation size: utilizado para informar ao receptor quanto espaço de armazenamento temporário é necessário ser alocado para a remontagem da CPCS-PDU.</a:t>
            </a:r>
          </a:p>
          <a:p>
            <a:r>
              <a:rPr lang="pt-BR" sz="2800" dirty="0" smtClean="0"/>
              <a:t>PAD - Campo variável (zero a 3 octetos):  adicionado para garantir que o tamanho da CPCS-PDU seja um múltiplo de 32 bits (4 bytes), para tornar o processamento final mais eficiente.</a:t>
            </a:r>
          </a:p>
          <a:p>
            <a:r>
              <a:rPr lang="pt-BR" sz="2800" dirty="0" smtClean="0"/>
              <a:t>AL - Alignment field: utilizado apenas para se ter o Trailer com 32 bits, simplificando o receptor.</a:t>
            </a:r>
          </a:p>
          <a:p>
            <a:r>
              <a:rPr lang="pt-BR" sz="2800" dirty="0" smtClean="0"/>
              <a:t>Lenght: especifica o tamanho real (em bytes, se CPI = 0) do payload do CPCS-PDU.</a:t>
            </a:r>
          </a:p>
          <a:p>
            <a:r>
              <a:rPr lang="pt-BR" sz="2800" dirty="0" smtClean="0"/>
              <a:t>Campos da SAR-PDU</a:t>
            </a:r>
          </a:p>
          <a:p>
            <a:r>
              <a:rPr lang="pt-BR" sz="2800" dirty="0" smtClean="0"/>
              <a:t>ST - Segmentation Type: indica se a SAR-PDU é o início, fim, continuação ou segmento único de mensagem</a:t>
            </a:r>
          </a:p>
          <a:p>
            <a:pPr>
              <a:lnSpc>
                <a:spcPct val="90000"/>
              </a:lnSpc>
            </a:pPr>
            <a:r>
              <a:rPr lang="pt-BR" sz="2800" dirty="0" smtClean="0"/>
              <a:t>SN - Sequence Number: 04 bits para numerar as SAR-PDU em seqüência (módulo 16). Utilizado para a verificação da sequência correta no momento da remontagem da SAR-SDU</a:t>
            </a:r>
          </a:p>
          <a:p>
            <a:pPr>
              <a:lnSpc>
                <a:spcPct val="90000"/>
              </a:lnSpc>
            </a:pPr>
            <a:r>
              <a:rPr lang="pt-BR" sz="2800" dirty="0" smtClean="0"/>
              <a:t>MID - Multiplexing Identifier: permite multiplexar até  1024 diferentes CPCS-PDU sobre um único VCC.</a:t>
            </a:r>
          </a:p>
          <a:p>
            <a:pPr>
              <a:lnSpc>
                <a:spcPct val="90000"/>
              </a:lnSpc>
            </a:pPr>
            <a:r>
              <a:rPr lang="pt-BR" sz="2800" dirty="0" smtClean="0"/>
              <a:t>LI - Lenght Indicator: especifica quantos octetos de informação existem no payload da SAR-PDU. Deve ser igual a 44 para todas as SAR-PDUs, com exceção da última, onde pode assumir qualquer valor entre 4 e 44.</a:t>
            </a:r>
          </a:p>
          <a:p>
            <a:pPr>
              <a:lnSpc>
                <a:spcPct val="90000"/>
              </a:lnSpc>
            </a:pPr>
            <a:r>
              <a:rPr lang="pt-BR" sz="2800" dirty="0" smtClean="0"/>
              <a:t>CRC - Cyclic Redundancy Check: calculado sobre toda a SAR-PDU, excetuando-se o próprio CRC.</a:t>
            </a:r>
          </a:p>
          <a:p>
            <a:pPr>
              <a:buNone/>
            </a:pPr>
            <a:endParaRPr lang="pt-PT"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2800" b="1" dirty="0" smtClean="0">
                <a:solidFill>
                  <a:srgbClr val="FF0000"/>
                </a:solidFill>
              </a:rPr>
              <a:t>Multiplexação de Aplicações em uma conexão</a:t>
            </a:r>
            <a:endParaRPr lang="pt-PT" sz="2800" b="1" dirty="0">
              <a:solidFill>
                <a:srgbClr val="FF0000"/>
              </a:solidFill>
            </a:endParaRPr>
          </a:p>
        </p:txBody>
      </p:sp>
      <p:pic>
        <p:nvPicPr>
          <p:cNvPr id="14338" name="Picture 2"/>
          <p:cNvPicPr>
            <a:picLocks noGrp="1" noChangeAspect="1" noChangeArrowheads="1"/>
          </p:cNvPicPr>
          <p:nvPr>
            <p:ph sz="quarter" idx="1"/>
          </p:nvPr>
        </p:nvPicPr>
        <p:blipFill>
          <a:blip r:embed="rId3" cstate="print"/>
          <a:srcRect/>
          <a:stretch>
            <a:fillRect/>
          </a:stretch>
        </p:blipFill>
        <p:spPr bwMode="auto">
          <a:xfrm>
            <a:off x="683568" y="1484784"/>
            <a:ext cx="7848872" cy="4680520"/>
          </a:xfrm>
          <a:prstGeom prst="rect">
            <a:avLst/>
          </a:prstGeom>
          <a:noFill/>
          <a:ln w="9525">
            <a:noFill/>
            <a:miter lim="800000"/>
            <a:headEnd/>
            <a:tailEnd/>
          </a:ln>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smtClean="0">
                <a:solidFill>
                  <a:srgbClr val="FF0000"/>
                </a:solidFill>
                <a:latin typeface="Arial" pitchFamily="34" charset="0"/>
                <a:cs typeface="Arial" pitchFamily="34" charset="0"/>
              </a:rPr>
              <a:t>Camada</a:t>
            </a:r>
            <a:r>
              <a:rPr lang="en-US" b="1" dirty="0" smtClean="0">
                <a:solidFill>
                  <a:srgbClr val="FF0000"/>
                </a:solidFill>
                <a:latin typeface="Arial" pitchFamily="34" charset="0"/>
                <a:cs typeface="Arial" pitchFamily="34" charset="0"/>
              </a:rPr>
              <a:t>  AAL 5</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r>
              <a:rPr lang="en-US" dirty="0" err="1" smtClean="0"/>
              <a:t>Mais</a:t>
            </a:r>
            <a:r>
              <a:rPr lang="en-US" dirty="0" smtClean="0"/>
              <a:t> </a:t>
            </a:r>
            <a:r>
              <a:rPr lang="en-US" dirty="0" err="1" smtClean="0"/>
              <a:t>eficiente</a:t>
            </a:r>
            <a:r>
              <a:rPr lang="en-US" dirty="0" smtClean="0"/>
              <a:t> </a:t>
            </a:r>
            <a:r>
              <a:rPr lang="en-US" dirty="0" err="1" smtClean="0"/>
              <a:t>que</a:t>
            </a:r>
            <a:r>
              <a:rPr lang="en-US" dirty="0" smtClean="0"/>
              <a:t> a AAL 3/4.</a:t>
            </a:r>
          </a:p>
          <a:p>
            <a:r>
              <a:rPr lang="en-US" dirty="0" smtClean="0"/>
              <a:t>À </a:t>
            </a:r>
            <a:r>
              <a:rPr lang="en-US" dirty="0" err="1" smtClean="0"/>
              <a:t>exceção</a:t>
            </a:r>
            <a:r>
              <a:rPr lang="en-US" dirty="0" smtClean="0"/>
              <a:t> </a:t>
            </a:r>
            <a:r>
              <a:rPr lang="en-US" dirty="0" err="1" smtClean="0"/>
              <a:t>da</a:t>
            </a:r>
            <a:r>
              <a:rPr lang="en-US" dirty="0" smtClean="0"/>
              <a:t> </a:t>
            </a:r>
            <a:r>
              <a:rPr lang="en-US" dirty="0" err="1" smtClean="0"/>
              <a:t>multiplexação</a:t>
            </a:r>
            <a:r>
              <a:rPr lang="en-US" dirty="0" smtClean="0"/>
              <a:t>, </a:t>
            </a:r>
            <a:r>
              <a:rPr lang="en-US" dirty="0" err="1" smtClean="0"/>
              <a:t>apresenta</a:t>
            </a:r>
            <a:r>
              <a:rPr lang="en-US" dirty="0" smtClean="0"/>
              <a:t> as </a:t>
            </a:r>
            <a:r>
              <a:rPr lang="en-US" dirty="0" err="1" smtClean="0"/>
              <a:t>mesmas</a:t>
            </a:r>
            <a:r>
              <a:rPr lang="en-US" dirty="0" smtClean="0"/>
              <a:t> </a:t>
            </a:r>
            <a:r>
              <a:rPr lang="en-US" dirty="0" err="1" smtClean="0"/>
              <a:t>funções</a:t>
            </a:r>
            <a:r>
              <a:rPr lang="en-US" dirty="0" smtClean="0"/>
              <a:t> </a:t>
            </a:r>
            <a:r>
              <a:rPr lang="en-US" dirty="0" err="1" smtClean="0"/>
              <a:t>da</a:t>
            </a:r>
            <a:r>
              <a:rPr lang="en-US" dirty="0" smtClean="0"/>
              <a:t> AAL 3/4.</a:t>
            </a:r>
          </a:p>
          <a:p>
            <a:r>
              <a:rPr lang="en-US" dirty="0" smtClean="0"/>
              <a:t>A sub-</a:t>
            </a:r>
            <a:r>
              <a:rPr lang="en-US" dirty="0" err="1" smtClean="0"/>
              <a:t>camada</a:t>
            </a:r>
            <a:r>
              <a:rPr lang="en-US" dirty="0" smtClean="0"/>
              <a:t> CS é </a:t>
            </a:r>
            <a:r>
              <a:rPr lang="en-US" dirty="0" err="1" smtClean="0"/>
              <a:t>subdividida</a:t>
            </a:r>
            <a:r>
              <a:rPr lang="en-US" dirty="0" smtClean="0"/>
              <a:t> </a:t>
            </a:r>
            <a:r>
              <a:rPr lang="en-US" dirty="0" err="1" smtClean="0"/>
              <a:t>em</a:t>
            </a:r>
            <a:r>
              <a:rPr lang="en-US" dirty="0" smtClean="0"/>
              <a:t>:  </a:t>
            </a:r>
          </a:p>
          <a:p>
            <a:pPr lvl="1"/>
            <a:r>
              <a:rPr lang="en-US" dirty="0" smtClean="0"/>
              <a:t>SSCS- Sub-</a:t>
            </a:r>
            <a:r>
              <a:rPr lang="en-US" dirty="0" err="1" smtClean="0"/>
              <a:t>camada</a:t>
            </a:r>
            <a:r>
              <a:rPr lang="en-US" dirty="0" smtClean="0"/>
              <a:t> de </a:t>
            </a:r>
            <a:r>
              <a:rPr lang="en-US" dirty="0" err="1" smtClean="0"/>
              <a:t>convergência</a:t>
            </a:r>
            <a:r>
              <a:rPr lang="en-US" dirty="0" smtClean="0"/>
              <a:t> </a:t>
            </a:r>
            <a:r>
              <a:rPr lang="en-US" dirty="0" err="1" smtClean="0"/>
              <a:t>específica</a:t>
            </a:r>
            <a:r>
              <a:rPr lang="en-US" dirty="0" smtClean="0"/>
              <a:t> do </a:t>
            </a:r>
            <a:r>
              <a:rPr lang="en-US" dirty="0" err="1" smtClean="0"/>
              <a:t>serviço</a:t>
            </a:r>
            <a:endParaRPr lang="en-US" dirty="0" smtClean="0"/>
          </a:p>
          <a:p>
            <a:pPr lvl="1"/>
            <a:r>
              <a:rPr lang="en-US" dirty="0" smtClean="0"/>
              <a:t>CPCS-Sub-</a:t>
            </a:r>
            <a:r>
              <a:rPr lang="en-US" dirty="0" err="1" smtClean="0"/>
              <a:t>camada</a:t>
            </a:r>
            <a:r>
              <a:rPr lang="en-US" dirty="0" smtClean="0"/>
              <a:t> de </a:t>
            </a:r>
            <a:r>
              <a:rPr lang="en-US" dirty="0" err="1" smtClean="0"/>
              <a:t>convergência</a:t>
            </a:r>
            <a:r>
              <a:rPr lang="en-US" dirty="0" smtClean="0"/>
              <a:t> de parte </a:t>
            </a:r>
            <a:r>
              <a:rPr lang="en-US" dirty="0" err="1" smtClean="0"/>
              <a:t>comum</a:t>
            </a:r>
            <a:endParaRPr lang="en-US" dirty="0" smtClean="0"/>
          </a:p>
          <a:p>
            <a:endParaRPr lang="pt-PT"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smtClean="0">
                <a:solidFill>
                  <a:srgbClr val="FF0000"/>
                </a:solidFill>
                <a:latin typeface="Arial" pitchFamily="34" charset="0"/>
                <a:cs typeface="Arial" pitchFamily="34" charset="0"/>
              </a:rPr>
              <a:t>Sub-</a:t>
            </a:r>
            <a:r>
              <a:rPr lang="en-US" b="1" dirty="0" err="1" smtClean="0">
                <a:solidFill>
                  <a:srgbClr val="FF0000"/>
                </a:solidFill>
                <a:latin typeface="Arial" pitchFamily="34" charset="0"/>
                <a:cs typeface="Arial" pitchFamily="34" charset="0"/>
              </a:rPr>
              <a:t>camadas</a:t>
            </a:r>
            <a:r>
              <a:rPr lang="en-US" b="1" dirty="0" smtClean="0">
                <a:solidFill>
                  <a:srgbClr val="FF0000"/>
                </a:solidFill>
                <a:latin typeface="Arial" pitchFamily="34" charset="0"/>
                <a:cs typeface="Arial" pitchFamily="34" charset="0"/>
              </a:rPr>
              <a:t> </a:t>
            </a:r>
            <a:r>
              <a:rPr lang="en-US" b="1" dirty="0" err="1" smtClean="0">
                <a:solidFill>
                  <a:srgbClr val="FF0000"/>
                </a:solidFill>
                <a:latin typeface="Arial" pitchFamily="34" charset="0"/>
                <a:cs typeface="Arial" pitchFamily="34" charset="0"/>
              </a:rPr>
              <a:t>da</a:t>
            </a:r>
            <a:r>
              <a:rPr lang="en-US" b="1" dirty="0" smtClean="0">
                <a:solidFill>
                  <a:srgbClr val="FF0000"/>
                </a:solidFill>
                <a:latin typeface="Arial" pitchFamily="34" charset="0"/>
                <a:cs typeface="Arial" pitchFamily="34" charset="0"/>
              </a:rPr>
              <a:t>  AAL 5</a:t>
            </a:r>
            <a:endParaRPr lang="pt-PT" b="1" dirty="0">
              <a:solidFill>
                <a:srgbClr val="FF0000"/>
              </a:solidFill>
              <a:latin typeface="Arial" pitchFamily="34" charset="0"/>
              <a:cs typeface="Arial" pitchFamily="34" charset="0"/>
            </a:endParaRPr>
          </a:p>
        </p:txBody>
      </p:sp>
      <p:pic>
        <p:nvPicPr>
          <p:cNvPr id="15362" name="Picture 2"/>
          <p:cNvPicPr>
            <a:picLocks noGrp="1" noChangeAspect="1" noChangeArrowheads="1"/>
          </p:cNvPicPr>
          <p:nvPr>
            <p:ph sz="quarter" idx="1"/>
          </p:nvPr>
        </p:nvPicPr>
        <p:blipFill>
          <a:blip r:embed="rId2" cstate="print"/>
          <a:srcRect/>
          <a:stretch>
            <a:fillRect/>
          </a:stretch>
        </p:blipFill>
        <p:spPr bwMode="auto">
          <a:xfrm>
            <a:off x="971600" y="1628800"/>
            <a:ext cx="7488832" cy="4608512"/>
          </a:xfrm>
          <a:prstGeom prst="rect">
            <a:avLst/>
          </a:prstGeom>
          <a:noFill/>
          <a:ln w="9525">
            <a:noFill/>
            <a:miter lim="800000"/>
            <a:headEnd/>
            <a:tailEnd/>
          </a:ln>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smtClean="0">
                <a:solidFill>
                  <a:srgbClr val="FF0000"/>
                </a:solidFill>
                <a:latin typeface="Arial" pitchFamily="34" charset="0"/>
                <a:cs typeface="Arial" pitchFamily="34" charset="0"/>
              </a:rPr>
              <a:t>Formato</a:t>
            </a:r>
            <a:r>
              <a:rPr lang="en-US" b="1" dirty="0" smtClean="0">
                <a:solidFill>
                  <a:srgbClr val="FF0000"/>
                </a:solidFill>
                <a:latin typeface="Arial" pitchFamily="34" charset="0"/>
                <a:cs typeface="Arial" pitchFamily="34" charset="0"/>
              </a:rPr>
              <a:t> do CPCS-PDU</a:t>
            </a:r>
            <a:endParaRPr lang="pt-PT" b="1" dirty="0">
              <a:solidFill>
                <a:srgbClr val="FF0000"/>
              </a:solidFill>
              <a:latin typeface="Arial" pitchFamily="34" charset="0"/>
              <a:cs typeface="Arial" pitchFamily="34" charset="0"/>
            </a:endParaRPr>
          </a:p>
        </p:txBody>
      </p:sp>
      <p:pic>
        <p:nvPicPr>
          <p:cNvPr id="16386" name="Picture 2"/>
          <p:cNvPicPr>
            <a:picLocks noGrp="1" noChangeAspect="1" noChangeArrowheads="1"/>
          </p:cNvPicPr>
          <p:nvPr>
            <p:ph sz="quarter" idx="1"/>
          </p:nvPr>
        </p:nvPicPr>
        <p:blipFill>
          <a:blip r:embed="rId2" cstate="print"/>
          <a:srcRect/>
          <a:stretch>
            <a:fillRect/>
          </a:stretch>
        </p:blipFill>
        <p:spPr bwMode="auto">
          <a:xfrm>
            <a:off x="827584" y="1628800"/>
            <a:ext cx="7776864" cy="4320479"/>
          </a:xfrm>
          <a:prstGeom prst="rect">
            <a:avLst/>
          </a:prstGeom>
          <a:noFill/>
          <a:ln w="9525">
            <a:noFill/>
            <a:miter lim="800000"/>
            <a:headEnd/>
            <a:tailEnd/>
          </a:ln>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smtClean="0">
                <a:solidFill>
                  <a:srgbClr val="FF0000"/>
                </a:solidFill>
                <a:latin typeface="Arial" pitchFamily="34" charset="0"/>
                <a:cs typeface="Arial" pitchFamily="34" charset="0"/>
              </a:rPr>
              <a:t>Campos do CPCS-PDU</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pPr>
              <a:lnSpc>
                <a:spcPct val="90000"/>
              </a:lnSpc>
            </a:pPr>
            <a:r>
              <a:rPr lang="en-US" dirty="0" smtClean="0"/>
              <a:t>LEN - </a:t>
            </a:r>
            <a:r>
              <a:rPr lang="en-US" dirty="0" err="1" smtClean="0"/>
              <a:t>Lenght</a:t>
            </a:r>
            <a:r>
              <a:rPr lang="en-US" dirty="0" smtClean="0"/>
              <a:t> of payload</a:t>
            </a:r>
          </a:p>
          <a:p>
            <a:pPr lvl="1">
              <a:lnSpc>
                <a:spcPct val="90000"/>
              </a:lnSpc>
            </a:pPr>
            <a:r>
              <a:rPr lang="en-US" dirty="0" err="1" smtClean="0"/>
              <a:t>indica</a:t>
            </a:r>
            <a:r>
              <a:rPr lang="en-US" dirty="0" smtClean="0"/>
              <a:t> o </a:t>
            </a:r>
            <a:r>
              <a:rPr lang="en-US" dirty="0" err="1" smtClean="0"/>
              <a:t>número</a:t>
            </a:r>
            <a:r>
              <a:rPr lang="en-US" dirty="0" smtClean="0"/>
              <a:t> de bytes do campo de </a:t>
            </a:r>
            <a:r>
              <a:rPr lang="en-US" dirty="0" err="1" smtClean="0"/>
              <a:t>informação</a:t>
            </a:r>
            <a:endParaRPr lang="en-US" dirty="0" smtClean="0"/>
          </a:p>
          <a:p>
            <a:pPr>
              <a:lnSpc>
                <a:spcPct val="90000"/>
              </a:lnSpc>
            </a:pPr>
            <a:r>
              <a:rPr lang="en-US" dirty="0" smtClean="0"/>
              <a:t>CPI  - </a:t>
            </a:r>
            <a:r>
              <a:rPr lang="en-US" dirty="0" err="1" smtClean="0"/>
              <a:t>Commom</a:t>
            </a:r>
            <a:r>
              <a:rPr lang="en-US" dirty="0" smtClean="0"/>
              <a:t> Part Indicator</a:t>
            </a:r>
          </a:p>
          <a:p>
            <a:pPr lvl="1">
              <a:lnSpc>
                <a:spcPct val="90000"/>
              </a:lnSpc>
            </a:pPr>
            <a:r>
              <a:rPr lang="en-US" dirty="0" err="1" smtClean="0"/>
              <a:t>Não</a:t>
            </a:r>
            <a:r>
              <a:rPr lang="en-US" dirty="0" smtClean="0"/>
              <a:t> tem </a:t>
            </a:r>
            <a:r>
              <a:rPr lang="en-US" dirty="0" err="1" smtClean="0"/>
              <a:t>aplicação</a:t>
            </a:r>
            <a:r>
              <a:rPr lang="en-US" dirty="0" smtClean="0"/>
              <a:t> no </a:t>
            </a:r>
            <a:r>
              <a:rPr lang="en-US" dirty="0" err="1" smtClean="0"/>
              <a:t>momento</a:t>
            </a:r>
            <a:r>
              <a:rPr lang="en-US" dirty="0" smtClean="0"/>
              <a:t>.</a:t>
            </a:r>
          </a:p>
          <a:p>
            <a:pPr>
              <a:lnSpc>
                <a:spcPct val="90000"/>
              </a:lnSpc>
            </a:pPr>
            <a:r>
              <a:rPr lang="en-US" dirty="0" smtClean="0"/>
              <a:t>CPCS-UU - User to User Indication</a:t>
            </a:r>
          </a:p>
          <a:p>
            <a:pPr lvl="1">
              <a:lnSpc>
                <a:spcPct val="90000"/>
              </a:lnSpc>
            </a:pPr>
            <a:r>
              <a:rPr lang="en-US" dirty="0" smtClean="0"/>
              <a:t>É  </a:t>
            </a:r>
            <a:r>
              <a:rPr lang="en-US" dirty="0" err="1" smtClean="0"/>
              <a:t>reservado</a:t>
            </a:r>
            <a:r>
              <a:rPr lang="en-US" dirty="0" smtClean="0"/>
              <a:t> </a:t>
            </a:r>
            <a:r>
              <a:rPr lang="en-US" dirty="0" err="1" smtClean="0"/>
              <a:t>para</a:t>
            </a:r>
            <a:r>
              <a:rPr lang="en-US" dirty="0" smtClean="0"/>
              <a:t> o </a:t>
            </a:r>
            <a:r>
              <a:rPr lang="en-US" dirty="0" err="1" smtClean="0"/>
              <a:t>transporte</a:t>
            </a:r>
            <a:r>
              <a:rPr lang="en-US" dirty="0" smtClean="0"/>
              <a:t> </a:t>
            </a:r>
            <a:r>
              <a:rPr lang="en-US" dirty="0" err="1" smtClean="0"/>
              <a:t>transparente</a:t>
            </a:r>
            <a:r>
              <a:rPr lang="en-US" dirty="0" smtClean="0"/>
              <a:t> de </a:t>
            </a:r>
            <a:r>
              <a:rPr lang="en-US" dirty="0" err="1" smtClean="0"/>
              <a:t>informações</a:t>
            </a:r>
            <a:r>
              <a:rPr lang="en-US" dirty="0" smtClean="0"/>
              <a:t> das </a:t>
            </a:r>
            <a:r>
              <a:rPr lang="en-US" dirty="0" err="1" smtClean="0"/>
              <a:t>camadas</a:t>
            </a:r>
            <a:r>
              <a:rPr lang="en-US" dirty="0" smtClean="0"/>
              <a:t> </a:t>
            </a:r>
            <a:r>
              <a:rPr lang="en-US" dirty="0" err="1" smtClean="0"/>
              <a:t>superiores</a:t>
            </a:r>
            <a:endParaRPr lang="en-US" dirty="0" smtClean="0"/>
          </a:p>
          <a:p>
            <a:pPr>
              <a:lnSpc>
                <a:spcPct val="70000"/>
              </a:lnSpc>
            </a:pPr>
            <a:r>
              <a:rPr lang="en-US" dirty="0" smtClean="0"/>
              <a:t>PAD </a:t>
            </a:r>
          </a:p>
          <a:p>
            <a:pPr lvl="1">
              <a:lnSpc>
                <a:spcPct val="70000"/>
              </a:lnSpc>
            </a:pPr>
            <a:r>
              <a:rPr lang="en-US" dirty="0" smtClean="0"/>
              <a:t>Campo de </a:t>
            </a:r>
            <a:r>
              <a:rPr lang="en-US" dirty="0" err="1" smtClean="0"/>
              <a:t>comprimento</a:t>
            </a:r>
            <a:r>
              <a:rPr lang="en-US" dirty="0" smtClean="0"/>
              <a:t> </a:t>
            </a:r>
            <a:r>
              <a:rPr lang="en-US" dirty="0" err="1" smtClean="0"/>
              <a:t>variável</a:t>
            </a:r>
            <a:r>
              <a:rPr lang="en-US" dirty="0" smtClean="0"/>
              <a:t> (0 a 47), </a:t>
            </a:r>
            <a:r>
              <a:rPr lang="en-US" dirty="0" err="1" smtClean="0"/>
              <a:t>utilizado</a:t>
            </a:r>
            <a:r>
              <a:rPr lang="en-US" dirty="0" smtClean="0"/>
              <a:t> </a:t>
            </a:r>
            <a:r>
              <a:rPr lang="en-US" dirty="0" err="1" smtClean="0"/>
              <a:t>para</a:t>
            </a:r>
            <a:r>
              <a:rPr lang="en-US" dirty="0" smtClean="0"/>
              <a:t> </a:t>
            </a:r>
            <a:r>
              <a:rPr lang="en-US" dirty="0" err="1" smtClean="0"/>
              <a:t>que</a:t>
            </a:r>
            <a:r>
              <a:rPr lang="en-US" dirty="0" smtClean="0"/>
              <a:t> o </a:t>
            </a:r>
            <a:r>
              <a:rPr lang="en-US" dirty="0" err="1" smtClean="0"/>
              <a:t>tamanho</a:t>
            </a:r>
            <a:r>
              <a:rPr lang="en-US" dirty="0" smtClean="0"/>
              <a:t> </a:t>
            </a:r>
            <a:r>
              <a:rPr lang="en-US" dirty="0" err="1" smtClean="0"/>
              <a:t>da</a:t>
            </a:r>
            <a:r>
              <a:rPr lang="en-US" dirty="0" smtClean="0"/>
              <a:t> CPCS-PDU </a:t>
            </a:r>
            <a:r>
              <a:rPr lang="en-US" dirty="0" err="1" smtClean="0"/>
              <a:t>seja</a:t>
            </a:r>
            <a:r>
              <a:rPr lang="en-US" dirty="0" smtClean="0"/>
              <a:t> um </a:t>
            </a:r>
            <a:r>
              <a:rPr lang="en-US" dirty="0" err="1" smtClean="0"/>
              <a:t>múltiplo</a:t>
            </a:r>
            <a:r>
              <a:rPr lang="en-US" dirty="0" smtClean="0"/>
              <a:t> de 48 bytes</a:t>
            </a:r>
          </a:p>
          <a:p>
            <a:pPr>
              <a:lnSpc>
                <a:spcPct val="70000"/>
              </a:lnSpc>
            </a:pPr>
            <a:r>
              <a:rPr lang="en-US" dirty="0" smtClean="0"/>
              <a:t>CRC </a:t>
            </a:r>
          </a:p>
          <a:p>
            <a:pPr lvl="1">
              <a:lnSpc>
                <a:spcPct val="70000"/>
              </a:lnSpc>
            </a:pPr>
            <a:r>
              <a:rPr lang="en-US" dirty="0" smtClean="0"/>
              <a:t>32 bits </a:t>
            </a:r>
            <a:r>
              <a:rPr lang="en-US" dirty="0" err="1" smtClean="0"/>
              <a:t>utilizados</a:t>
            </a:r>
            <a:r>
              <a:rPr lang="en-US" dirty="0" smtClean="0"/>
              <a:t> </a:t>
            </a:r>
            <a:r>
              <a:rPr lang="en-US" dirty="0" err="1" smtClean="0"/>
              <a:t>para</a:t>
            </a:r>
            <a:r>
              <a:rPr lang="en-US" dirty="0" smtClean="0"/>
              <a:t> </a:t>
            </a:r>
            <a:r>
              <a:rPr lang="en-US" dirty="0" err="1" smtClean="0"/>
              <a:t>deteção</a:t>
            </a:r>
            <a:r>
              <a:rPr lang="en-US" dirty="0" smtClean="0"/>
              <a:t> de </a:t>
            </a:r>
            <a:r>
              <a:rPr lang="en-US" dirty="0" err="1" smtClean="0"/>
              <a:t>erros</a:t>
            </a:r>
            <a:endParaRPr lang="en-US" dirty="0" smtClean="0"/>
          </a:p>
          <a:p>
            <a:endParaRPr lang="pt-PT"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smtClean="0">
                <a:solidFill>
                  <a:srgbClr val="FF0000"/>
                </a:solidFill>
                <a:latin typeface="Arial" pitchFamily="34" charset="0"/>
                <a:cs typeface="Arial" pitchFamily="34" charset="0"/>
              </a:rPr>
              <a:t>Operação</a:t>
            </a:r>
            <a:r>
              <a:rPr lang="en-US" b="1" dirty="0" smtClean="0">
                <a:solidFill>
                  <a:srgbClr val="FF0000"/>
                </a:solidFill>
                <a:latin typeface="Arial" pitchFamily="34" charset="0"/>
                <a:cs typeface="Arial" pitchFamily="34" charset="0"/>
              </a:rPr>
              <a:t> </a:t>
            </a:r>
            <a:r>
              <a:rPr lang="en-US" b="1" dirty="0" err="1" smtClean="0">
                <a:solidFill>
                  <a:srgbClr val="FF0000"/>
                </a:solidFill>
                <a:latin typeface="Arial" pitchFamily="34" charset="0"/>
                <a:cs typeface="Arial" pitchFamily="34" charset="0"/>
              </a:rPr>
              <a:t>na</a:t>
            </a:r>
            <a:r>
              <a:rPr lang="en-US" b="1" dirty="0" smtClean="0">
                <a:solidFill>
                  <a:srgbClr val="FF0000"/>
                </a:solidFill>
                <a:latin typeface="Arial" pitchFamily="34" charset="0"/>
                <a:cs typeface="Arial" pitchFamily="34" charset="0"/>
              </a:rPr>
              <a:t> sub-</a:t>
            </a:r>
            <a:r>
              <a:rPr lang="en-US" b="1" dirty="0" err="1" smtClean="0">
                <a:solidFill>
                  <a:srgbClr val="FF0000"/>
                </a:solidFill>
                <a:latin typeface="Arial" pitchFamily="34" charset="0"/>
                <a:cs typeface="Arial" pitchFamily="34" charset="0"/>
              </a:rPr>
              <a:t>camada</a:t>
            </a:r>
            <a:r>
              <a:rPr lang="en-US" b="1" dirty="0" smtClean="0">
                <a:solidFill>
                  <a:srgbClr val="FF0000"/>
                </a:solidFill>
                <a:latin typeface="Arial" pitchFamily="34" charset="0"/>
                <a:cs typeface="Arial" pitchFamily="34" charset="0"/>
              </a:rPr>
              <a:t> SAR</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pPr>
              <a:lnSpc>
                <a:spcPct val="100000"/>
              </a:lnSpc>
            </a:pPr>
            <a:r>
              <a:rPr lang="en-US" dirty="0" smtClean="0"/>
              <a:t>A CPCS-PDU é </a:t>
            </a:r>
            <a:r>
              <a:rPr lang="en-US" dirty="0" err="1" smtClean="0"/>
              <a:t>entregue</a:t>
            </a:r>
            <a:r>
              <a:rPr lang="en-US" dirty="0" smtClean="0"/>
              <a:t> à sub-</a:t>
            </a:r>
            <a:r>
              <a:rPr lang="en-US" dirty="0" err="1" smtClean="0"/>
              <a:t>camada</a:t>
            </a:r>
            <a:r>
              <a:rPr lang="en-US" dirty="0" smtClean="0"/>
              <a:t> SAR, </a:t>
            </a:r>
            <a:r>
              <a:rPr lang="en-US" dirty="0" err="1" smtClean="0"/>
              <a:t>tornando</a:t>
            </a:r>
            <a:r>
              <a:rPr lang="en-US" dirty="0" smtClean="0"/>
              <a:t>-se a SAR-SDU</a:t>
            </a:r>
          </a:p>
          <a:p>
            <a:pPr>
              <a:lnSpc>
                <a:spcPct val="100000"/>
              </a:lnSpc>
            </a:pPr>
            <a:r>
              <a:rPr lang="en-US" dirty="0" smtClean="0"/>
              <a:t>A sub-</a:t>
            </a:r>
            <a:r>
              <a:rPr lang="en-US" dirty="0" err="1" smtClean="0"/>
              <a:t>camada</a:t>
            </a:r>
            <a:r>
              <a:rPr lang="en-US" dirty="0" smtClean="0"/>
              <a:t> SAR </a:t>
            </a:r>
            <a:r>
              <a:rPr lang="en-US" dirty="0" err="1" smtClean="0"/>
              <a:t>segmenta</a:t>
            </a:r>
            <a:r>
              <a:rPr lang="en-US" dirty="0" smtClean="0"/>
              <a:t> a SAR-SDU </a:t>
            </a:r>
            <a:r>
              <a:rPr lang="en-US" dirty="0" err="1" smtClean="0"/>
              <a:t>em</a:t>
            </a:r>
            <a:r>
              <a:rPr lang="en-US" dirty="0" smtClean="0"/>
              <a:t> SAR-PDUs de 48 </a:t>
            </a:r>
            <a:r>
              <a:rPr lang="en-US" dirty="0" err="1" smtClean="0"/>
              <a:t>octetos</a:t>
            </a:r>
            <a:r>
              <a:rPr lang="en-US" dirty="0" smtClean="0"/>
              <a:t> </a:t>
            </a:r>
            <a:r>
              <a:rPr lang="en-US" dirty="0" err="1" smtClean="0"/>
              <a:t>sem</a:t>
            </a:r>
            <a:r>
              <a:rPr lang="en-US" dirty="0" smtClean="0"/>
              <a:t> </a:t>
            </a:r>
            <a:r>
              <a:rPr lang="en-US" dirty="0" err="1" smtClean="0"/>
              <a:t>adicionar</a:t>
            </a:r>
            <a:r>
              <a:rPr lang="en-US" dirty="0" smtClean="0"/>
              <a:t> </a:t>
            </a:r>
            <a:r>
              <a:rPr lang="en-US" dirty="0" err="1" smtClean="0"/>
              <a:t>qualquer</a:t>
            </a:r>
            <a:r>
              <a:rPr lang="en-US" dirty="0" smtClean="0"/>
              <a:t> campo de overhead</a:t>
            </a:r>
          </a:p>
          <a:p>
            <a:pPr>
              <a:lnSpc>
                <a:spcPct val="100000"/>
              </a:lnSpc>
            </a:pPr>
            <a:r>
              <a:rPr lang="en-US" dirty="0" smtClean="0"/>
              <a:t>A SAR </a:t>
            </a:r>
            <a:r>
              <a:rPr lang="en-US" dirty="0" err="1" smtClean="0"/>
              <a:t>entrega</a:t>
            </a:r>
            <a:r>
              <a:rPr lang="en-US" dirty="0" smtClean="0"/>
              <a:t> à </a:t>
            </a:r>
            <a:r>
              <a:rPr lang="en-US" dirty="0" err="1" smtClean="0"/>
              <a:t>camada</a:t>
            </a:r>
            <a:r>
              <a:rPr lang="en-US" dirty="0" smtClean="0"/>
              <a:t> ATM </a:t>
            </a:r>
            <a:r>
              <a:rPr lang="en-US" dirty="0" err="1" smtClean="0"/>
              <a:t>estes</a:t>
            </a:r>
            <a:r>
              <a:rPr lang="en-US" dirty="0" smtClean="0"/>
              <a:t> </a:t>
            </a:r>
            <a:r>
              <a:rPr lang="en-US" dirty="0" err="1" smtClean="0"/>
              <a:t>segmentos</a:t>
            </a:r>
            <a:r>
              <a:rPr lang="en-US" dirty="0" smtClean="0"/>
              <a:t>, agora </a:t>
            </a:r>
            <a:r>
              <a:rPr lang="en-US" dirty="0" err="1" smtClean="0"/>
              <a:t>denominados</a:t>
            </a:r>
            <a:r>
              <a:rPr lang="en-US" dirty="0" smtClean="0"/>
              <a:t> ATM-SDUs, e </a:t>
            </a:r>
            <a:r>
              <a:rPr lang="en-US" dirty="0" err="1" smtClean="0"/>
              <a:t>indica</a:t>
            </a:r>
            <a:r>
              <a:rPr lang="en-US" dirty="0" smtClean="0"/>
              <a:t> </a:t>
            </a:r>
            <a:r>
              <a:rPr lang="en-US" dirty="0" err="1" smtClean="0"/>
              <a:t>através</a:t>
            </a:r>
            <a:r>
              <a:rPr lang="en-US" dirty="0" smtClean="0"/>
              <a:t> de um </a:t>
            </a:r>
            <a:r>
              <a:rPr lang="en-US" dirty="0" err="1" smtClean="0"/>
              <a:t>parâmetro</a:t>
            </a:r>
            <a:r>
              <a:rPr lang="en-US" dirty="0" smtClean="0"/>
              <a:t> de </a:t>
            </a:r>
            <a:r>
              <a:rPr lang="en-US" dirty="0" err="1" smtClean="0"/>
              <a:t>primitiva</a:t>
            </a:r>
            <a:r>
              <a:rPr lang="en-US" dirty="0" smtClean="0"/>
              <a:t>, a </a:t>
            </a:r>
            <a:r>
              <a:rPr lang="en-US" dirty="0" err="1" smtClean="0"/>
              <a:t>última</a:t>
            </a:r>
            <a:r>
              <a:rPr lang="en-US" dirty="0" smtClean="0"/>
              <a:t> do </a:t>
            </a:r>
            <a:r>
              <a:rPr lang="en-US" dirty="0" err="1" smtClean="0"/>
              <a:t>grupo</a:t>
            </a:r>
            <a:r>
              <a:rPr lang="en-US" dirty="0" smtClean="0"/>
              <a:t> </a:t>
            </a:r>
            <a:r>
              <a:rPr lang="en-US" dirty="0" err="1" smtClean="0"/>
              <a:t>originado</a:t>
            </a:r>
            <a:r>
              <a:rPr lang="en-US" dirty="0" smtClean="0"/>
              <a:t> </a:t>
            </a:r>
            <a:r>
              <a:rPr lang="en-US" dirty="0" err="1" smtClean="0"/>
              <a:t>pela</a:t>
            </a:r>
            <a:r>
              <a:rPr lang="en-US" dirty="0" smtClean="0"/>
              <a:t> </a:t>
            </a:r>
            <a:r>
              <a:rPr lang="en-US" dirty="0" err="1" smtClean="0"/>
              <a:t>mesma</a:t>
            </a:r>
            <a:r>
              <a:rPr lang="en-US" dirty="0" smtClean="0"/>
              <a:t> SAR-SDU</a:t>
            </a:r>
          </a:p>
          <a:p>
            <a:pPr>
              <a:lnSpc>
                <a:spcPct val="100000"/>
              </a:lnSpc>
            </a:pPr>
            <a:r>
              <a:rPr lang="en-US" dirty="0" smtClean="0"/>
              <a:t>A </a:t>
            </a:r>
            <a:r>
              <a:rPr lang="en-US" dirty="0" err="1" smtClean="0"/>
              <a:t>camada</a:t>
            </a:r>
            <a:r>
              <a:rPr lang="en-US" dirty="0" smtClean="0"/>
              <a:t> ATM </a:t>
            </a:r>
            <a:r>
              <a:rPr lang="en-US" dirty="0" err="1" smtClean="0"/>
              <a:t>monta</a:t>
            </a:r>
            <a:r>
              <a:rPr lang="en-US" dirty="0" smtClean="0"/>
              <a:t> as </a:t>
            </a:r>
            <a:r>
              <a:rPr lang="en-US" dirty="0" err="1" smtClean="0"/>
              <a:t>células</a:t>
            </a:r>
            <a:r>
              <a:rPr lang="en-US" dirty="0" smtClean="0"/>
              <a:t> com o </a:t>
            </a:r>
            <a:r>
              <a:rPr lang="en-US" dirty="0" err="1" smtClean="0"/>
              <a:t>cabeçalho</a:t>
            </a:r>
            <a:r>
              <a:rPr lang="en-US" dirty="0" smtClean="0"/>
              <a:t> e </a:t>
            </a:r>
            <a:r>
              <a:rPr lang="en-US" dirty="0" err="1" smtClean="0"/>
              <a:t>inclui</a:t>
            </a:r>
            <a:r>
              <a:rPr lang="en-US" dirty="0" smtClean="0"/>
              <a:t> no campo PT a </a:t>
            </a:r>
            <a:r>
              <a:rPr lang="en-US" dirty="0" err="1" smtClean="0"/>
              <a:t>indicação</a:t>
            </a:r>
            <a:r>
              <a:rPr lang="en-US" dirty="0" smtClean="0"/>
              <a:t> de </a:t>
            </a:r>
            <a:r>
              <a:rPr lang="en-US" dirty="0" err="1" smtClean="0"/>
              <a:t>última</a:t>
            </a:r>
            <a:r>
              <a:rPr lang="en-US" dirty="0" smtClean="0"/>
              <a:t> </a:t>
            </a:r>
            <a:r>
              <a:rPr lang="en-US" dirty="0" err="1" smtClean="0"/>
              <a:t>célula</a:t>
            </a:r>
            <a:r>
              <a:rPr lang="en-US" dirty="0" smtClean="0"/>
              <a:t> do </a:t>
            </a:r>
            <a:r>
              <a:rPr lang="en-US" dirty="0" err="1" smtClean="0"/>
              <a:t>grupo</a:t>
            </a:r>
            <a:r>
              <a:rPr lang="en-US" dirty="0" smtClean="0"/>
              <a:t> (PTI = 1).</a:t>
            </a:r>
          </a:p>
          <a:p>
            <a:endParaRPr lang="pt-PT"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Transmissão da AAL 5</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a:xfrm>
            <a:off x="914400" y="1447800"/>
            <a:ext cx="7772400" cy="1837184"/>
          </a:xfrm>
        </p:spPr>
        <p:txBody>
          <a:bodyPr/>
          <a:lstStyle/>
          <a:p>
            <a:pPr marL="342900" indent="-342900">
              <a:lnSpc>
                <a:spcPct val="100000"/>
              </a:lnSpc>
              <a:spcBef>
                <a:spcPct val="20000"/>
              </a:spcBef>
              <a:buClr>
                <a:srgbClr val="000000"/>
              </a:buClr>
            </a:pPr>
            <a:r>
              <a:rPr lang="pt-BR" dirty="0" smtClean="0">
                <a:solidFill>
                  <a:srgbClr val="000000"/>
                </a:solidFill>
              </a:rPr>
              <a:t>A camada AAL 5 faz uso do campo PTI presente no cabeçalho da célula ATM</a:t>
            </a:r>
          </a:p>
          <a:p>
            <a:pPr marL="742950" lvl="1" indent="-285750">
              <a:lnSpc>
                <a:spcPct val="100000"/>
              </a:lnSpc>
              <a:spcBef>
                <a:spcPct val="20000"/>
              </a:spcBef>
              <a:buClr>
                <a:srgbClr val="000000"/>
              </a:buClr>
            </a:pPr>
            <a:r>
              <a:rPr lang="pt-BR" dirty="0" smtClean="0">
                <a:solidFill>
                  <a:srgbClr val="000000"/>
                </a:solidFill>
              </a:rPr>
              <a:t>Bit 1=1 indica que a célula transporta o trailer AAL 5, ou seja, a última célula daquela PDU</a:t>
            </a:r>
          </a:p>
          <a:p>
            <a:endParaRPr lang="pt-PT" dirty="0"/>
          </a:p>
        </p:txBody>
      </p:sp>
      <p:pic>
        <p:nvPicPr>
          <p:cNvPr id="17410" name="Picture 2"/>
          <p:cNvPicPr>
            <a:picLocks noChangeAspect="1" noChangeArrowheads="1"/>
          </p:cNvPicPr>
          <p:nvPr/>
        </p:nvPicPr>
        <p:blipFill>
          <a:blip r:embed="rId3" cstate="print"/>
          <a:srcRect/>
          <a:stretch>
            <a:fillRect/>
          </a:stretch>
        </p:blipFill>
        <p:spPr bwMode="auto">
          <a:xfrm>
            <a:off x="827584" y="3356992"/>
            <a:ext cx="7848872" cy="2808312"/>
          </a:xfrm>
          <a:prstGeom prst="rect">
            <a:avLst/>
          </a:prstGeom>
          <a:noFill/>
          <a:ln w="9525">
            <a:noFill/>
            <a:miter lim="800000"/>
            <a:headEnd/>
            <a:tailEnd/>
          </a:ln>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GB" b="1" dirty="0" err="1" smtClean="0">
                <a:solidFill>
                  <a:srgbClr val="FF0000"/>
                </a:solidFill>
                <a:latin typeface="Arial" pitchFamily="34" charset="0"/>
                <a:cs typeface="Arial" pitchFamily="34" charset="0"/>
              </a:rPr>
              <a:t>Sinalização</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normAutofit fontScale="92500" lnSpcReduction="10000"/>
          </a:bodyPr>
          <a:lstStyle/>
          <a:p>
            <a:pPr marL="338138" indent="-338138">
              <a:lnSpc>
                <a:spcPct val="90000"/>
              </a:lnSpc>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smtClean="0"/>
              <a:t>É </a:t>
            </a:r>
            <a:r>
              <a:rPr lang="en-GB" sz="2400" dirty="0" err="1" smtClean="0"/>
              <a:t>necessária</a:t>
            </a:r>
            <a:r>
              <a:rPr lang="en-GB" sz="2400" dirty="0" smtClean="0"/>
              <a:t> </a:t>
            </a:r>
            <a:r>
              <a:rPr lang="en-GB" sz="2400" dirty="0" err="1" smtClean="0"/>
              <a:t>para</a:t>
            </a:r>
            <a:r>
              <a:rPr lang="en-GB" sz="2400" dirty="0" smtClean="0"/>
              <a:t> </a:t>
            </a:r>
            <a:r>
              <a:rPr lang="en-GB" sz="2400" dirty="0" err="1" smtClean="0"/>
              <a:t>estabelecer</a:t>
            </a:r>
            <a:r>
              <a:rPr lang="en-GB" sz="2400" dirty="0" smtClean="0"/>
              <a:t>, </a:t>
            </a:r>
            <a:r>
              <a:rPr lang="en-GB" sz="2400" dirty="0" err="1" smtClean="0"/>
              <a:t>gerenciar</a:t>
            </a:r>
            <a:r>
              <a:rPr lang="en-GB" sz="2400" dirty="0" smtClean="0"/>
              <a:t> e </a:t>
            </a:r>
            <a:r>
              <a:rPr lang="en-GB" sz="2400" dirty="0" err="1" smtClean="0"/>
              <a:t>terminar</a:t>
            </a:r>
            <a:r>
              <a:rPr lang="en-GB" sz="2400" dirty="0" smtClean="0"/>
              <a:t> </a:t>
            </a:r>
            <a:r>
              <a:rPr lang="en-GB" sz="2400" dirty="0" err="1" smtClean="0"/>
              <a:t>circuitos</a:t>
            </a:r>
            <a:r>
              <a:rPr lang="en-GB" sz="2400" dirty="0" smtClean="0"/>
              <a:t> </a:t>
            </a:r>
            <a:r>
              <a:rPr lang="en-GB" sz="2400" dirty="0" err="1" smtClean="0"/>
              <a:t>virtuais</a:t>
            </a:r>
            <a:r>
              <a:rPr lang="en-GB" sz="2400" dirty="0" smtClean="0"/>
              <a:t> </a:t>
            </a:r>
            <a:r>
              <a:rPr lang="en-GB" sz="2400" dirty="0" err="1" smtClean="0"/>
              <a:t>comutados</a:t>
            </a:r>
            <a:r>
              <a:rPr lang="en-GB" sz="2400" dirty="0" smtClean="0"/>
              <a:t> (SVCs).</a:t>
            </a:r>
          </a:p>
          <a:p>
            <a:pPr marL="338138" indent="-338138">
              <a:lnSpc>
                <a:spcPct val="90000"/>
              </a:lnSpc>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smtClean="0"/>
              <a:t>ITU - T</a:t>
            </a:r>
          </a:p>
          <a:p>
            <a:pPr marL="738188" lvl="1" indent="-280988">
              <a:lnSpc>
                <a:spcPct val="90000"/>
              </a:lnSpc>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smtClean="0"/>
              <a:t>Q.2931</a:t>
            </a:r>
          </a:p>
          <a:p>
            <a:pPr marL="338138" indent="-338138">
              <a:lnSpc>
                <a:spcPct val="90000"/>
              </a:lnSpc>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smtClean="0"/>
              <a:t>ATM Forum</a:t>
            </a:r>
          </a:p>
          <a:p>
            <a:pPr marL="738188" lvl="1" indent="-280988">
              <a:lnSpc>
                <a:spcPct val="90000"/>
              </a:lnSpc>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smtClean="0"/>
              <a:t>UNI V3.0, V3.1 e V4.0</a:t>
            </a:r>
          </a:p>
          <a:p>
            <a:pPr marL="338138" indent="-338138">
              <a:lnSpc>
                <a:spcPct val="90000"/>
              </a:lnSpc>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err="1" smtClean="0"/>
              <a:t>Sinalizações</a:t>
            </a:r>
            <a:endParaRPr lang="en-GB" sz="2400" dirty="0" smtClean="0"/>
          </a:p>
          <a:p>
            <a:pPr marL="738188" lvl="1" indent="-280988">
              <a:lnSpc>
                <a:spcPct val="90000"/>
              </a:lnSpc>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smtClean="0"/>
              <a:t>UNI</a:t>
            </a:r>
          </a:p>
          <a:p>
            <a:pPr marL="738188" lvl="1" indent="-280988">
              <a:lnSpc>
                <a:spcPct val="90000"/>
              </a:lnSpc>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smtClean="0"/>
              <a:t>NNI</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err="1" smtClean="0"/>
              <a:t>Estabelecimento</a:t>
            </a:r>
            <a:r>
              <a:rPr lang="en-GB" sz="2400" dirty="0" smtClean="0"/>
              <a:t> do </a:t>
            </a:r>
            <a:r>
              <a:rPr lang="en-GB" sz="2400" dirty="0" err="1" smtClean="0"/>
              <a:t>circuito</a:t>
            </a:r>
            <a:r>
              <a:rPr lang="en-GB" sz="2400" dirty="0" smtClean="0"/>
              <a:t> virtual.</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smtClean="0"/>
              <a:t>Status do </a:t>
            </a:r>
            <a:r>
              <a:rPr lang="en-GB" sz="2400" dirty="0" err="1" smtClean="0"/>
              <a:t>circuito</a:t>
            </a:r>
            <a:r>
              <a:rPr lang="en-GB" sz="2400" dirty="0" smtClean="0"/>
              <a:t> virtual.</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err="1" smtClean="0"/>
              <a:t>Manutenção</a:t>
            </a:r>
            <a:r>
              <a:rPr lang="en-GB" sz="2400" dirty="0" smtClean="0"/>
              <a:t> do </a:t>
            </a:r>
            <a:r>
              <a:rPr lang="en-GB" sz="2400" dirty="0" err="1" smtClean="0"/>
              <a:t>circuito</a:t>
            </a:r>
            <a:r>
              <a:rPr lang="en-GB" sz="2400" dirty="0" smtClean="0"/>
              <a:t> virtual.</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err="1" smtClean="0"/>
              <a:t>Liberação</a:t>
            </a:r>
            <a:r>
              <a:rPr lang="en-GB" sz="2400" dirty="0" smtClean="0"/>
              <a:t> do </a:t>
            </a:r>
            <a:r>
              <a:rPr lang="en-GB" sz="2400" dirty="0" err="1" smtClean="0"/>
              <a:t>circuito</a:t>
            </a:r>
            <a:r>
              <a:rPr lang="en-GB" sz="2400" dirty="0" smtClean="0"/>
              <a:t> virtual.</a:t>
            </a:r>
            <a:endParaRPr lang="pt-PT"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2800" b="1" dirty="0" smtClean="0">
                <a:solidFill>
                  <a:srgbClr val="FF0000"/>
                </a:solidFill>
                <a:latin typeface="Arial" pitchFamily="34" charset="0"/>
                <a:cs typeface="Arial" pitchFamily="34" charset="0"/>
              </a:rPr>
              <a:t>Estabelecimento da Chamada - Call Setup</a:t>
            </a:r>
            <a:endParaRPr lang="pt-PT" sz="2800" b="1" dirty="0">
              <a:solidFill>
                <a:srgbClr val="FF0000"/>
              </a:solidFill>
              <a:latin typeface="Arial" pitchFamily="34" charset="0"/>
              <a:cs typeface="Arial" pitchFamily="34" charset="0"/>
            </a:endParaRPr>
          </a:p>
        </p:txBody>
      </p:sp>
      <p:pic>
        <p:nvPicPr>
          <p:cNvPr id="18434" name="Picture 2"/>
          <p:cNvPicPr>
            <a:picLocks noGrp="1" noChangeAspect="1" noChangeArrowheads="1"/>
          </p:cNvPicPr>
          <p:nvPr>
            <p:ph sz="quarter" idx="1"/>
          </p:nvPr>
        </p:nvPicPr>
        <p:blipFill>
          <a:blip r:embed="rId3" cstate="print"/>
          <a:srcRect/>
          <a:stretch>
            <a:fillRect/>
          </a:stretch>
        </p:blipFill>
        <p:spPr bwMode="auto">
          <a:xfrm>
            <a:off x="899592" y="1628800"/>
            <a:ext cx="7488831" cy="4608512"/>
          </a:xfrm>
          <a:prstGeom prst="rect">
            <a:avLst/>
          </a:prstGeom>
          <a:noFill/>
          <a:ln w="9525">
            <a:noFill/>
            <a:miter lim="800000"/>
            <a:headEnd/>
            <a:tailEnd/>
          </a:ln>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200" b="1" dirty="0" smtClean="0">
                <a:solidFill>
                  <a:srgbClr val="FF0000"/>
                </a:solidFill>
                <a:latin typeface="Arial" pitchFamily="34" charset="0"/>
                <a:cs typeface="Arial" pitchFamily="34" charset="0"/>
              </a:rPr>
              <a:t>Liberação da Chamada - Call Release</a:t>
            </a:r>
            <a:endParaRPr lang="pt-PT" sz="3200" b="1" dirty="0">
              <a:solidFill>
                <a:srgbClr val="FF0000"/>
              </a:solidFill>
              <a:latin typeface="Arial" pitchFamily="34" charset="0"/>
              <a:cs typeface="Arial" pitchFamily="34" charset="0"/>
            </a:endParaRPr>
          </a:p>
        </p:txBody>
      </p:sp>
      <p:pic>
        <p:nvPicPr>
          <p:cNvPr id="19458" name="Picture 2"/>
          <p:cNvPicPr>
            <a:picLocks noGrp="1" noChangeAspect="1" noChangeArrowheads="1"/>
          </p:cNvPicPr>
          <p:nvPr>
            <p:ph sz="quarter" idx="1"/>
          </p:nvPr>
        </p:nvPicPr>
        <p:blipFill>
          <a:blip r:embed="rId3" cstate="print"/>
          <a:srcRect/>
          <a:stretch>
            <a:fillRect/>
          </a:stretch>
        </p:blipFill>
        <p:spPr bwMode="auto">
          <a:xfrm>
            <a:off x="971600" y="1412776"/>
            <a:ext cx="7560840" cy="4968552"/>
          </a:xfrm>
          <a:prstGeom prst="rect">
            <a:avLst/>
          </a:prstGeom>
          <a:noFill/>
          <a:ln w="9525">
            <a:noFill/>
            <a:miter lim="800000"/>
            <a:headEnd/>
            <a:tailEnd/>
          </a:ln>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2800" b="1" dirty="0" smtClean="0">
                <a:solidFill>
                  <a:srgbClr val="FF0000"/>
                </a:solidFill>
                <a:latin typeface="Arial" pitchFamily="34" charset="0"/>
                <a:cs typeface="Arial" pitchFamily="34" charset="0"/>
              </a:rPr>
              <a:t>Sinalização UNI - Contrato de Tráfego</a:t>
            </a:r>
            <a:endParaRPr lang="pt-PT" sz="2800"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a:xfrm>
            <a:off x="914400" y="1447800"/>
            <a:ext cx="7772400" cy="2197224"/>
          </a:xfrm>
        </p:spPr>
        <p:txBody>
          <a:bodyPr>
            <a:normAutofit fontScale="92500" lnSpcReduction="20000"/>
          </a:bodyPr>
          <a:lstStyle/>
          <a:p>
            <a:pPr marL="342900" indent="-342900">
              <a:lnSpc>
                <a:spcPct val="100000"/>
              </a:lnSpc>
              <a:spcBef>
                <a:spcPct val="20000"/>
              </a:spcBef>
              <a:buClr>
                <a:srgbClr val="000000"/>
              </a:buClr>
            </a:pPr>
            <a:r>
              <a:rPr lang="pt-BR" sz="2000" dirty="0" smtClean="0">
                <a:solidFill>
                  <a:srgbClr val="000000"/>
                </a:solidFill>
              </a:rPr>
              <a:t>A mensagem de SETUP é segmentada em células usando a camada de adaptação AAL 5 e enviada no canal de controle com VPI=0 e VCI=5</a:t>
            </a:r>
          </a:p>
          <a:p>
            <a:pPr marL="342900" indent="-342900">
              <a:lnSpc>
                <a:spcPct val="100000"/>
              </a:lnSpc>
              <a:spcBef>
                <a:spcPct val="20000"/>
              </a:spcBef>
              <a:buClr>
                <a:srgbClr val="000000"/>
              </a:buClr>
            </a:pPr>
            <a:r>
              <a:rPr lang="pt-BR" sz="2000" dirty="0" smtClean="0">
                <a:solidFill>
                  <a:srgbClr val="000000"/>
                </a:solidFill>
              </a:rPr>
              <a:t>Endereço do destino e o contrato de tráfego formam a parte essencial da mensagem de SETUP</a:t>
            </a:r>
          </a:p>
          <a:p>
            <a:pPr marL="342900" indent="-342900">
              <a:lnSpc>
                <a:spcPct val="100000"/>
              </a:lnSpc>
              <a:spcBef>
                <a:spcPct val="20000"/>
              </a:spcBef>
              <a:buClr>
                <a:srgbClr val="000000"/>
              </a:buClr>
            </a:pPr>
            <a:r>
              <a:rPr lang="pt-BR" sz="2000" dirty="0" smtClean="0">
                <a:solidFill>
                  <a:srgbClr val="000000"/>
                </a:solidFill>
              </a:rPr>
              <a:t>O contrato de Tráfego entre o usuário e a rede estabelece:</a:t>
            </a:r>
          </a:p>
          <a:p>
            <a:pPr marL="742950" lvl="1" indent="-285750">
              <a:lnSpc>
                <a:spcPct val="100000"/>
              </a:lnSpc>
              <a:spcBef>
                <a:spcPct val="20000"/>
              </a:spcBef>
              <a:buClr>
                <a:srgbClr val="000000"/>
              </a:buClr>
            </a:pPr>
            <a:r>
              <a:rPr lang="pt-BR" dirty="0" smtClean="0">
                <a:solidFill>
                  <a:srgbClr val="000000"/>
                </a:solidFill>
              </a:rPr>
              <a:t>Reserva de largura de faixa virtual em cada uma das direções</a:t>
            </a:r>
          </a:p>
          <a:p>
            <a:pPr marL="742950" lvl="1" indent="-285750">
              <a:lnSpc>
                <a:spcPct val="100000"/>
              </a:lnSpc>
              <a:spcBef>
                <a:spcPct val="20000"/>
              </a:spcBef>
              <a:buClr>
                <a:srgbClr val="000000"/>
              </a:buClr>
            </a:pPr>
            <a:r>
              <a:rPr lang="pt-BR" dirty="0" smtClean="0">
                <a:solidFill>
                  <a:srgbClr val="000000"/>
                </a:solidFill>
              </a:rPr>
              <a:t>Classe de QoS para as células em cada uma das direções</a:t>
            </a:r>
          </a:p>
          <a:p>
            <a:endParaRPr lang="pt-PT" dirty="0"/>
          </a:p>
        </p:txBody>
      </p:sp>
      <p:pic>
        <p:nvPicPr>
          <p:cNvPr id="20482" name="Picture 2"/>
          <p:cNvPicPr>
            <a:picLocks noChangeAspect="1" noChangeArrowheads="1"/>
          </p:cNvPicPr>
          <p:nvPr/>
        </p:nvPicPr>
        <p:blipFill>
          <a:blip r:embed="rId3" cstate="print"/>
          <a:srcRect/>
          <a:stretch>
            <a:fillRect/>
          </a:stretch>
        </p:blipFill>
        <p:spPr bwMode="auto">
          <a:xfrm>
            <a:off x="755576" y="4077072"/>
            <a:ext cx="7704856" cy="2160240"/>
          </a:xfrm>
          <a:prstGeom prst="rect">
            <a:avLst/>
          </a:prstGeom>
          <a:noFill/>
          <a:ln w="9525">
            <a:noFill/>
            <a:miter lim="800000"/>
            <a:headEnd/>
            <a:tailEnd/>
          </a:ln>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GB" b="1" dirty="0" err="1" smtClean="0">
                <a:solidFill>
                  <a:srgbClr val="FF0000"/>
                </a:solidFill>
                <a:latin typeface="Arial" pitchFamily="34" charset="0"/>
                <a:cs typeface="Arial" pitchFamily="34" charset="0"/>
              </a:rPr>
              <a:t>Sinalização</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smtClean="0"/>
              <a:t>PNNI (Private Network-Network Interface) </a:t>
            </a:r>
          </a:p>
          <a:p>
            <a:pPr marL="738188" lvl="1" indent="-280988">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err="1" smtClean="0"/>
              <a:t>Padrão</a:t>
            </a:r>
            <a:r>
              <a:rPr lang="en-GB" sz="2000" dirty="0" smtClean="0"/>
              <a:t> </a:t>
            </a:r>
            <a:r>
              <a:rPr lang="en-GB" sz="2000" dirty="0" err="1" smtClean="0"/>
              <a:t>oficial</a:t>
            </a:r>
            <a:r>
              <a:rPr lang="en-GB" sz="2000" dirty="0" smtClean="0"/>
              <a:t> </a:t>
            </a:r>
            <a:r>
              <a:rPr lang="en-GB" sz="2000" dirty="0" err="1" smtClean="0"/>
              <a:t>para</a:t>
            </a:r>
            <a:r>
              <a:rPr lang="en-GB" sz="2000" dirty="0" smtClean="0"/>
              <a:t> </a:t>
            </a:r>
            <a:r>
              <a:rPr lang="en-GB" sz="2000" dirty="0" err="1" smtClean="0"/>
              <a:t>sinalização</a:t>
            </a:r>
            <a:r>
              <a:rPr lang="en-GB" sz="2000" dirty="0" smtClean="0"/>
              <a:t> NNI</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smtClean="0"/>
              <a:t>IISP (Interim Inter-Switch Signalling Protocol)</a:t>
            </a:r>
            <a:r>
              <a:rPr lang="ar-SA" sz="2400" dirty="0" smtClean="0"/>
              <a:t>‏</a:t>
            </a:r>
            <a:endParaRPr lang="en-GB" sz="2400" dirty="0" smtClean="0"/>
          </a:p>
          <a:p>
            <a:pPr marL="738188" lvl="1" indent="-280988">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err="1" smtClean="0"/>
              <a:t>Sinalização</a:t>
            </a:r>
            <a:r>
              <a:rPr lang="en-GB" sz="2000" dirty="0" smtClean="0"/>
              <a:t> </a:t>
            </a:r>
            <a:r>
              <a:rPr lang="en-GB" sz="2000" dirty="0" err="1" smtClean="0"/>
              <a:t>utilizada</a:t>
            </a:r>
            <a:r>
              <a:rPr lang="en-GB" sz="2000" dirty="0" smtClean="0"/>
              <a:t> </a:t>
            </a:r>
            <a:r>
              <a:rPr lang="en-GB" sz="2000" dirty="0" err="1" smtClean="0"/>
              <a:t>dentro</a:t>
            </a:r>
            <a:r>
              <a:rPr lang="en-GB" sz="2000" dirty="0" smtClean="0"/>
              <a:t> de </a:t>
            </a:r>
            <a:r>
              <a:rPr lang="en-GB" sz="2000" dirty="0" err="1" smtClean="0"/>
              <a:t>redes</a:t>
            </a:r>
            <a:r>
              <a:rPr lang="en-GB" sz="2000" dirty="0" smtClean="0"/>
              <a:t> </a:t>
            </a:r>
            <a:r>
              <a:rPr lang="en-GB" sz="2000" dirty="0" err="1" smtClean="0"/>
              <a:t>corporativas</a:t>
            </a:r>
            <a:endParaRPr lang="en-GB" sz="2000" dirty="0" smtClean="0"/>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smtClean="0"/>
              <a:t>AINI (ATM </a:t>
            </a:r>
            <a:r>
              <a:rPr lang="en-GB" sz="2400" dirty="0" err="1" smtClean="0"/>
              <a:t>InterNetworking</a:t>
            </a:r>
            <a:r>
              <a:rPr lang="en-GB" sz="2400" dirty="0" smtClean="0"/>
              <a:t> Interface)</a:t>
            </a:r>
            <a:r>
              <a:rPr lang="ar-SA" sz="2400" dirty="0" smtClean="0"/>
              <a:t>‏</a:t>
            </a:r>
            <a:endParaRPr lang="en-GB" sz="2400" dirty="0" smtClean="0"/>
          </a:p>
          <a:p>
            <a:pPr marL="738188" lvl="1" indent="-280988">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err="1" smtClean="0"/>
              <a:t>Sinalização</a:t>
            </a:r>
            <a:r>
              <a:rPr lang="en-GB" sz="2000" dirty="0" smtClean="0"/>
              <a:t> entre </a:t>
            </a:r>
            <a:r>
              <a:rPr lang="en-GB" sz="2000" dirty="0" err="1" smtClean="0"/>
              <a:t>sistemas</a:t>
            </a:r>
            <a:r>
              <a:rPr lang="en-GB" sz="2000" dirty="0" smtClean="0"/>
              <a:t>.</a:t>
            </a:r>
          </a:p>
          <a:p>
            <a:pPr marL="338138" indent="-338138">
              <a:spcBef>
                <a:spcPts val="6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400" dirty="0" smtClean="0"/>
              <a:t>B-ICI (B-ISDN Inter-carrier Interface)</a:t>
            </a:r>
            <a:r>
              <a:rPr lang="ar-SA" sz="2400" dirty="0" smtClean="0"/>
              <a:t>‏</a:t>
            </a:r>
            <a:endParaRPr lang="en-GB" sz="2400" dirty="0" smtClean="0"/>
          </a:p>
          <a:p>
            <a:pPr marL="738188" lvl="1" indent="-280988">
              <a:spcBef>
                <a:spcPts val="500"/>
              </a:spcBef>
              <a:buFont typeface="Times New Roman" pitchFamily="18"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defRPr/>
            </a:pPr>
            <a:r>
              <a:rPr lang="en-GB" sz="2000" dirty="0" err="1" smtClean="0"/>
              <a:t>Sinalização</a:t>
            </a:r>
            <a:r>
              <a:rPr lang="en-GB" sz="2000" dirty="0" smtClean="0"/>
              <a:t> entre </a:t>
            </a:r>
            <a:r>
              <a:rPr lang="en-GB" sz="2000" dirty="0" err="1" smtClean="0"/>
              <a:t>sistemas</a:t>
            </a:r>
            <a:r>
              <a:rPr lang="en-GB" sz="2000" dirty="0" smtClean="0"/>
              <a:t>.</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b="1" dirty="0" err="1" smtClean="0">
                <a:solidFill>
                  <a:srgbClr val="FF0000"/>
                </a:solidFill>
                <a:latin typeface="Arial" pitchFamily="34" charset="0"/>
                <a:cs typeface="Arial" pitchFamily="34" charset="0"/>
              </a:rPr>
              <a:t>Sinalização</a:t>
            </a:r>
            <a:endParaRPr lang="pt-PT" dirty="0"/>
          </a:p>
        </p:txBody>
      </p:sp>
      <p:pic>
        <p:nvPicPr>
          <p:cNvPr id="4" name="Picture 2"/>
          <p:cNvPicPr>
            <a:picLocks noGrp="1" noChangeAspect="1" noChangeArrowheads="1"/>
          </p:cNvPicPr>
          <p:nvPr>
            <p:ph sz="quarter" idx="1"/>
          </p:nvPr>
        </p:nvPicPr>
        <p:blipFill>
          <a:blip r:embed="rId2" cstate="print"/>
          <a:srcRect/>
          <a:stretch>
            <a:fillRect/>
          </a:stretch>
        </p:blipFill>
        <p:spPr bwMode="auto">
          <a:xfrm>
            <a:off x="914400" y="1513114"/>
            <a:ext cx="7772400" cy="4441371"/>
          </a:xfrm>
          <a:prstGeom prst="rect">
            <a:avLst/>
          </a:prstGeom>
          <a:noFill/>
          <a:ln w="9525">
            <a:noFill/>
            <a:round/>
            <a:headEnd/>
            <a:tailEnd/>
          </a:ln>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b="1" dirty="0" err="1" smtClean="0">
                <a:solidFill>
                  <a:srgbClr val="FF0000"/>
                </a:solidFill>
                <a:latin typeface="Arial" pitchFamily="34" charset="0"/>
                <a:cs typeface="Arial" pitchFamily="34" charset="0"/>
              </a:rPr>
              <a:t>Exemplo</a:t>
            </a:r>
            <a:endParaRPr lang="pt-PT" dirty="0"/>
          </a:p>
        </p:txBody>
      </p:sp>
      <p:pic>
        <p:nvPicPr>
          <p:cNvPr id="4" name="Picture 1"/>
          <p:cNvPicPr>
            <a:picLocks noGrp="1" noChangeAspect="1" noChangeArrowheads="1"/>
          </p:cNvPicPr>
          <p:nvPr>
            <p:ph sz="quarter" idx="1"/>
          </p:nvPr>
        </p:nvPicPr>
        <p:blipFill>
          <a:blip r:embed="rId2" cstate="print"/>
          <a:srcRect/>
          <a:stretch>
            <a:fillRect/>
          </a:stretch>
        </p:blipFill>
        <p:spPr bwMode="auto">
          <a:xfrm>
            <a:off x="914400" y="1513114"/>
            <a:ext cx="7772400" cy="4724198"/>
          </a:xfrm>
          <a:prstGeom prst="rect">
            <a:avLst/>
          </a:prstGeom>
          <a:noFill/>
          <a:ln w="9525">
            <a:noFill/>
            <a:round/>
            <a:headEnd/>
            <a:tailEnd/>
          </a:ln>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smtClean="0">
                <a:solidFill>
                  <a:srgbClr val="FF0000"/>
                </a:solidFill>
                <a:latin typeface="Arial" pitchFamily="34" charset="0"/>
                <a:cs typeface="Arial" pitchFamily="34" charset="0"/>
              </a:rPr>
              <a:t>Controle</a:t>
            </a:r>
            <a:r>
              <a:rPr lang="en-US" b="1" dirty="0" smtClean="0">
                <a:solidFill>
                  <a:srgbClr val="FF0000"/>
                </a:solidFill>
                <a:latin typeface="Arial" pitchFamily="34" charset="0"/>
                <a:cs typeface="Arial" pitchFamily="34" charset="0"/>
              </a:rPr>
              <a:t> de </a:t>
            </a:r>
            <a:r>
              <a:rPr lang="en-US" b="1" dirty="0" err="1" smtClean="0">
                <a:solidFill>
                  <a:srgbClr val="FF0000"/>
                </a:solidFill>
                <a:latin typeface="Arial" pitchFamily="34" charset="0"/>
                <a:cs typeface="Arial" pitchFamily="34" charset="0"/>
              </a:rPr>
              <a:t>Tráfego</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r>
              <a:rPr lang="en-US" sz="3200" dirty="0" err="1" smtClean="0"/>
              <a:t>Gerenciamento</a:t>
            </a:r>
            <a:r>
              <a:rPr lang="en-US" sz="3200" dirty="0" smtClean="0"/>
              <a:t> de </a:t>
            </a:r>
            <a:r>
              <a:rPr lang="en-US" sz="3200" dirty="0" err="1" smtClean="0"/>
              <a:t>Tráfego</a:t>
            </a:r>
            <a:r>
              <a:rPr lang="en-US" sz="3200" dirty="0" smtClean="0"/>
              <a:t>:</a:t>
            </a:r>
          </a:p>
          <a:p>
            <a:pPr lvl="1"/>
            <a:r>
              <a:rPr lang="en-US" dirty="0" err="1" smtClean="0"/>
              <a:t>Essencial</a:t>
            </a:r>
            <a:r>
              <a:rPr lang="en-US" dirty="0" smtClean="0"/>
              <a:t> </a:t>
            </a:r>
            <a:r>
              <a:rPr lang="en-US" dirty="0" err="1" smtClean="0"/>
              <a:t>para</a:t>
            </a:r>
            <a:r>
              <a:rPr lang="en-US" dirty="0" smtClean="0"/>
              <a:t> a </a:t>
            </a:r>
            <a:r>
              <a:rPr lang="en-US" dirty="0" err="1" smtClean="0"/>
              <a:t>operação</a:t>
            </a:r>
            <a:r>
              <a:rPr lang="en-US" dirty="0" smtClean="0"/>
              <a:t> </a:t>
            </a:r>
            <a:r>
              <a:rPr lang="en-US" dirty="0" err="1" smtClean="0"/>
              <a:t>adequada</a:t>
            </a:r>
            <a:r>
              <a:rPr lang="en-US" dirty="0" smtClean="0"/>
              <a:t> </a:t>
            </a:r>
            <a:r>
              <a:rPr lang="en-US" dirty="0" err="1" smtClean="0"/>
              <a:t>da</a:t>
            </a:r>
            <a:r>
              <a:rPr lang="en-US" dirty="0" smtClean="0"/>
              <a:t> </a:t>
            </a:r>
            <a:r>
              <a:rPr lang="en-US" dirty="0" err="1" smtClean="0"/>
              <a:t>rede</a:t>
            </a:r>
            <a:r>
              <a:rPr lang="en-US" dirty="0" smtClean="0"/>
              <a:t>, </a:t>
            </a:r>
            <a:r>
              <a:rPr lang="en-US" dirty="0" err="1" smtClean="0"/>
              <a:t>garantindo</a:t>
            </a:r>
            <a:r>
              <a:rPr lang="en-US" dirty="0" smtClean="0"/>
              <a:t>-se o </a:t>
            </a:r>
            <a:r>
              <a:rPr lang="en-US" dirty="0" err="1" smtClean="0"/>
              <a:t>nível</a:t>
            </a:r>
            <a:r>
              <a:rPr lang="en-US" dirty="0" smtClean="0"/>
              <a:t> de </a:t>
            </a:r>
            <a:r>
              <a:rPr lang="en-US" dirty="0" err="1" smtClean="0"/>
              <a:t>QoS</a:t>
            </a:r>
            <a:r>
              <a:rPr lang="en-US" dirty="0" smtClean="0"/>
              <a:t> </a:t>
            </a:r>
            <a:r>
              <a:rPr lang="en-US" dirty="0" err="1" smtClean="0"/>
              <a:t>adequado</a:t>
            </a:r>
            <a:r>
              <a:rPr lang="en-US" dirty="0" smtClean="0"/>
              <a:t> </a:t>
            </a:r>
            <a:r>
              <a:rPr lang="en-US" dirty="0" err="1" smtClean="0"/>
              <a:t>para</a:t>
            </a:r>
            <a:r>
              <a:rPr lang="en-US" dirty="0" smtClean="0"/>
              <a:t> </a:t>
            </a:r>
            <a:r>
              <a:rPr lang="en-US" dirty="0" err="1" smtClean="0"/>
              <a:t>cada</a:t>
            </a:r>
            <a:r>
              <a:rPr lang="en-US" dirty="0" smtClean="0"/>
              <a:t> </a:t>
            </a:r>
            <a:r>
              <a:rPr lang="en-US" dirty="0" err="1" smtClean="0"/>
              <a:t>classe</a:t>
            </a:r>
            <a:r>
              <a:rPr lang="en-US" dirty="0" smtClean="0"/>
              <a:t> de </a:t>
            </a:r>
            <a:r>
              <a:rPr lang="en-US" dirty="0" err="1" smtClean="0"/>
              <a:t>tráfego</a:t>
            </a:r>
            <a:endParaRPr lang="en-US" dirty="0" smtClean="0"/>
          </a:p>
          <a:p>
            <a:pPr lvl="1"/>
            <a:r>
              <a:rPr lang="en-US" dirty="0" err="1" smtClean="0"/>
              <a:t>Envolve</a:t>
            </a:r>
            <a:r>
              <a:rPr lang="en-US" dirty="0" smtClean="0"/>
              <a:t>:</a:t>
            </a:r>
          </a:p>
          <a:p>
            <a:pPr lvl="2"/>
            <a:r>
              <a:rPr lang="en-US" dirty="0" err="1" smtClean="0"/>
              <a:t>Contrato</a:t>
            </a:r>
            <a:r>
              <a:rPr lang="en-US" dirty="0" smtClean="0"/>
              <a:t> de </a:t>
            </a:r>
            <a:r>
              <a:rPr lang="en-US" dirty="0" err="1" smtClean="0"/>
              <a:t>tráfego</a:t>
            </a:r>
            <a:endParaRPr lang="en-US" dirty="0" smtClean="0"/>
          </a:p>
          <a:p>
            <a:pPr lvl="2"/>
            <a:r>
              <a:rPr lang="en-US" dirty="0" err="1" smtClean="0"/>
              <a:t>Controle</a:t>
            </a:r>
            <a:r>
              <a:rPr lang="en-US" dirty="0" smtClean="0"/>
              <a:t> de </a:t>
            </a:r>
            <a:r>
              <a:rPr lang="en-US" dirty="0" err="1" smtClean="0"/>
              <a:t>admissão</a:t>
            </a:r>
            <a:r>
              <a:rPr lang="en-US" dirty="0" smtClean="0"/>
              <a:t> de </a:t>
            </a:r>
            <a:r>
              <a:rPr lang="en-US" dirty="0" err="1" smtClean="0"/>
              <a:t>conexão</a:t>
            </a:r>
            <a:endParaRPr lang="en-US" dirty="0" smtClean="0"/>
          </a:p>
          <a:p>
            <a:pPr lvl="2"/>
            <a:r>
              <a:rPr lang="en-US" dirty="0" smtClean="0"/>
              <a:t>Traffic Shaping</a:t>
            </a:r>
          </a:p>
          <a:p>
            <a:pPr lvl="2"/>
            <a:r>
              <a:rPr lang="en-US" dirty="0" err="1" smtClean="0"/>
              <a:t>Policiamento</a:t>
            </a:r>
            <a:r>
              <a:rPr lang="en-US" dirty="0" smtClean="0"/>
              <a:t> de </a:t>
            </a:r>
            <a:r>
              <a:rPr lang="en-US" dirty="0" err="1" smtClean="0"/>
              <a:t>tráfego</a:t>
            </a:r>
            <a:endParaRPr lang="en-US" dirty="0" smtClean="0"/>
          </a:p>
          <a:p>
            <a:endParaRPr lang="pt-PT"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n-US" b="1" dirty="0" err="1" smtClean="0">
                <a:solidFill>
                  <a:srgbClr val="FF0000"/>
                </a:solidFill>
                <a:latin typeface="Arial" pitchFamily="34" charset="0"/>
                <a:cs typeface="Arial" pitchFamily="34" charset="0"/>
              </a:rPr>
              <a:t>Parâmetros</a:t>
            </a:r>
            <a:r>
              <a:rPr lang="en-US" b="1" dirty="0" smtClean="0">
                <a:solidFill>
                  <a:srgbClr val="FF0000"/>
                </a:solidFill>
                <a:latin typeface="Arial" pitchFamily="34" charset="0"/>
                <a:cs typeface="Arial" pitchFamily="34" charset="0"/>
              </a:rPr>
              <a:t> </a:t>
            </a:r>
            <a:r>
              <a:rPr lang="en-US" b="1" dirty="0" err="1" smtClean="0">
                <a:solidFill>
                  <a:srgbClr val="FF0000"/>
                </a:solidFill>
                <a:latin typeface="Arial" pitchFamily="34" charset="0"/>
                <a:cs typeface="Arial" pitchFamily="34" charset="0"/>
              </a:rPr>
              <a:t>descritores</a:t>
            </a:r>
            <a:r>
              <a:rPr lang="en-US" b="1" dirty="0" smtClean="0">
                <a:solidFill>
                  <a:srgbClr val="FF0000"/>
                </a:solidFill>
                <a:latin typeface="Arial" pitchFamily="34" charset="0"/>
                <a:cs typeface="Arial" pitchFamily="34" charset="0"/>
              </a:rPr>
              <a:t> de </a:t>
            </a:r>
            <a:r>
              <a:rPr lang="en-US" b="1" dirty="0" err="1" smtClean="0">
                <a:solidFill>
                  <a:srgbClr val="FF0000"/>
                </a:solidFill>
                <a:latin typeface="Arial" pitchFamily="34" charset="0"/>
                <a:cs typeface="Arial" pitchFamily="34" charset="0"/>
              </a:rPr>
              <a:t>tráfego</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r>
              <a:rPr lang="en-US" sz="3200" dirty="0" smtClean="0"/>
              <a:t>São </a:t>
            </a:r>
            <a:r>
              <a:rPr lang="en-US" sz="3200" dirty="0" err="1" smtClean="0"/>
              <a:t>requisitados</a:t>
            </a:r>
            <a:r>
              <a:rPr lang="en-US" sz="3200" dirty="0" smtClean="0"/>
              <a:t> no </a:t>
            </a:r>
            <a:r>
              <a:rPr lang="en-US" sz="3200" dirty="0" err="1" smtClean="0"/>
              <a:t>momento</a:t>
            </a:r>
            <a:r>
              <a:rPr lang="en-US" sz="3200" dirty="0" smtClean="0"/>
              <a:t> do </a:t>
            </a:r>
            <a:r>
              <a:rPr lang="en-US" sz="3200" dirty="0" err="1" smtClean="0"/>
              <a:t>estabelecimento</a:t>
            </a:r>
            <a:r>
              <a:rPr lang="en-US" sz="3200" dirty="0" smtClean="0"/>
              <a:t> </a:t>
            </a:r>
            <a:r>
              <a:rPr lang="en-US" sz="3200" dirty="0" err="1" smtClean="0"/>
              <a:t>da</a:t>
            </a:r>
            <a:r>
              <a:rPr lang="en-US" sz="3200" dirty="0" smtClean="0"/>
              <a:t> </a:t>
            </a:r>
            <a:r>
              <a:rPr lang="en-US" sz="3200" dirty="0" err="1" smtClean="0"/>
              <a:t>conexão</a:t>
            </a:r>
            <a:r>
              <a:rPr lang="en-US" sz="3200" dirty="0" smtClean="0"/>
              <a:t>.</a:t>
            </a:r>
          </a:p>
          <a:p>
            <a:r>
              <a:rPr lang="en-US" sz="3200" dirty="0" err="1" smtClean="0"/>
              <a:t>Dividem</a:t>
            </a:r>
            <a:r>
              <a:rPr lang="en-US" sz="3200" dirty="0" smtClean="0"/>
              <a:t>-se </a:t>
            </a:r>
            <a:r>
              <a:rPr lang="en-US" sz="3200" dirty="0" err="1" smtClean="0"/>
              <a:t>em</a:t>
            </a:r>
            <a:r>
              <a:rPr lang="en-US" sz="3200" dirty="0" smtClean="0"/>
              <a:t>:</a:t>
            </a:r>
          </a:p>
          <a:p>
            <a:pPr lvl="1"/>
            <a:r>
              <a:rPr lang="en-US" sz="2800" dirty="0" err="1" smtClean="0"/>
              <a:t>Descritores</a:t>
            </a:r>
            <a:r>
              <a:rPr lang="en-US" sz="2800" dirty="0" smtClean="0"/>
              <a:t> do </a:t>
            </a:r>
            <a:r>
              <a:rPr lang="en-US" sz="2800" dirty="0" err="1" smtClean="0"/>
              <a:t>tráfego</a:t>
            </a:r>
            <a:r>
              <a:rPr lang="en-US" sz="2800" dirty="0" smtClean="0"/>
              <a:t> </a:t>
            </a:r>
            <a:r>
              <a:rPr lang="en-US" sz="2800" dirty="0" err="1" smtClean="0"/>
              <a:t>da</a:t>
            </a:r>
            <a:r>
              <a:rPr lang="en-US" sz="2800" dirty="0" smtClean="0"/>
              <a:t> </a:t>
            </a:r>
            <a:r>
              <a:rPr lang="en-US" sz="2800" dirty="0" err="1" smtClean="0"/>
              <a:t>fonte</a:t>
            </a:r>
            <a:endParaRPr lang="en-US" sz="2800" dirty="0" smtClean="0"/>
          </a:p>
          <a:p>
            <a:pPr lvl="1"/>
            <a:r>
              <a:rPr lang="en-US" sz="2800" dirty="0" err="1" smtClean="0"/>
              <a:t>Descritores</a:t>
            </a:r>
            <a:r>
              <a:rPr lang="en-US" sz="2800" dirty="0" smtClean="0"/>
              <a:t> do </a:t>
            </a:r>
            <a:r>
              <a:rPr lang="en-US" sz="2800" dirty="0" err="1" smtClean="0"/>
              <a:t>tráfego</a:t>
            </a:r>
            <a:r>
              <a:rPr lang="en-US" sz="2800" dirty="0" smtClean="0"/>
              <a:t> (e </a:t>
            </a:r>
            <a:r>
              <a:rPr lang="en-US" sz="2800" dirty="0" err="1" smtClean="0"/>
              <a:t>QoS</a:t>
            </a:r>
            <a:r>
              <a:rPr lang="en-US" sz="2800" dirty="0" smtClean="0"/>
              <a:t>) </a:t>
            </a:r>
            <a:r>
              <a:rPr lang="en-US" sz="2800" dirty="0" err="1" smtClean="0"/>
              <a:t>da</a:t>
            </a:r>
            <a:r>
              <a:rPr lang="en-US" sz="2800" dirty="0" smtClean="0"/>
              <a:t> </a:t>
            </a:r>
            <a:r>
              <a:rPr lang="en-US" sz="2800" dirty="0" err="1" smtClean="0"/>
              <a:t>conexão</a:t>
            </a:r>
            <a:endParaRPr lang="en-US" sz="2800" dirty="0" smtClean="0"/>
          </a:p>
          <a:p>
            <a:pPr lvl="1"/>
            <a:endParaRPr lang="en-US" sz="2800" dirty="0" smtClean="0"/>
          </a:p>
          <a:p>
            <a:endParaRPr lang="en-US" dirty="0" smtClean="0"/>
          </a:p>
          <a:p>
            <a:endParaRPr lang="pt-PT"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Descritores de Tráfego</a:t>
            </a:r>
            <a:endParaRPr lang="pt-PT" b="1" dirty="0">
              <a:solidFill>
                <a:srgbClr val="FF0000"/>
              </a:solidFill>
              <a:latin typeface="Arial" pitchFamily="34" charset="0"/>
              <a:cs typeface="Arial" pitchFamily="34" charset="0"/>
            </a:endParaRPr>
          </a:p>
        </p:txBody>
      </p:sp>
      <p:pic>
        <p:nvPicPr>
          <p:cNvPr id="21506" name="Picture 2"/>
          <p:cNvPicPr>
            <a:picLocks noGrp="1" noChangeAspect="1" noChangeArrowheads="1"/>
          </p:cNvPicPr>
          <p:nvPr>
            <p:ph sz="quarter" idx="1"/>
          </p:nvPr>
        </p:nvPicPr>
        <p:blipFill>
          <a:blip r:embed="rId3" cstate="print"/>
          <a:srcRect/>
          <a:stretch>
            <a:fillRect/>
          </a:stretch>
        </p:blipFill>
        <p:spPr bwMode="auto">
          <a:xfrm>
            <a:off x="683568" y="1412776"/>
            <a:ext cx="8136904" cy="4464496"/>
          </a:xfrm>
          <a:prstGeom prst="rect">
            <a:avLst/>
          </a:prstGeom>
          <a:noFill/>
          <a:ln w="9525">
            <a:noFill/>
            <a:miter lim="800000"/>
            <a:headEnd/>
            <a:tailEnd/>
          </a:ln>
        </p:spPr>
      </p:pic>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Descritores de Tráfego</a:t>
            </a:r>
            <a:endParaRPr lang="pt-PT" dirty="0"/>
          </a:p>
        </p:txBody>
      </p:sp>
      <p:sp>
        <p:nvSpPr>
          <p:cNvPr id="3" name="Marcador de Posição de Conteúdo 2"/>
          <p:cNvSpPr>
            <a:spLocks noGrp="1"/>
          </p:cNvSpPr>
          <p:nvPr>
            <p:ph sz="quarter" idx="1"/>
          </p:nvPr>
        </p:nvSpPr>
        <p:spPr/>
        <p:txBody>
          <a:bodyPr>
            <a:normAutofit fontScale="92500" lnSpcReduction="20000"/>
          </a:bodyPr>
          <a:lstStyle/>
          <a:p>
            <a:pPr>
              <a:lnSpc>
                <a:spcPct val="90000"/>
              </a:lnSpc>
            </a:pPr>
            <a:r>
              <a:rPr lang="pt-BR" b="1" dirty="0" smtClean="0"/>
              <a:t>PCR</a:t>
            </a:r>
            <a:r>
              <a:rPr lang="pt-BR" dirty="0" smtClean="0"/>
              <a:t> =&gt; </a:t>
            </a:r>
            <a:r>
              <a:rPr lang="pt-BR" sz="2800" dirty="0" smtClean="0"/>
              <a:t>Quantidade máxima de células por unidade de tempo que 	        a fonte pode emitir durante um dado período de tempo</a:t>
            </a:r>
          </a:p>
          <a:p>
            <a:pPr>
              <a:lnSpc>
                <a:spcPct val="90000"/>
              </a:lnSpc>
            </a:pPr>
            <a:r>
              <a:rPr lang="pt-BR" b="1" dirty="0" smtClean="0"/>
              <a:t>SCR</a:t>
            </a:r>
            <a:r>
              <a:rPr lang="pt-BR" dirty="0" smtClean="0"/>
              <a:t> =&gt; </a:t>
            </a:r>
            <a:r>
              <a:rPr lang="pt-BR" sz="2800" dirty="0" smtClean="0"/>
              <a:t>Taxa média ao longo do tempo da quantidade de células 	        por unidade de tempo que a fonte pode emitir. </a:t>
            </a:r>
          </a:p>
          <a:p>
            <a:pPr>
              <a:lnSpc>
                <a:spcPct val="90000"/>
              </a:lnSpc>
            </a:pPr>
            <a:r>
              <a:rPr lang="pt-BR" b="1" dirty="0" smtClean="0"/>
              <a:t>MBS</a:t>
            </a:r>
            <a:r>
              <a:rPr lang="pt-BR" dirty="0" smtClean="0"/>
              <a:t> =&gt; </a:t>
            </a:r>
            <a:r>
              <a:rPr lang="pt-BR" sz="2800" dirty="0" smtClean="0"/>
              <a:t>Quantidade máxima de células que uma fonte pode 		         emitir à taxa PCR durante um surto (rajada) de tráfego. </a:t>
            </a:r>
          </a:p>
          <a:p>
            <a:pPr>
              <a:lnSpc>
                <a:spcPct val="90000"/>
              </a:lnSpc>
            </a:pPr>
            <a:r>
              <a:rPr lang="pt-BR" b="1" dirty="0" smtClean="0"/>
              <a:t>BT   =&gt; </a:t>
            </a:r>
            <a:r>
              <a:rPr lang="pt-BR" dirty="0" smtClean="0"/>
              <a:t>(Busrt Tolerance): </a:t>
            </a:r>
            <a:r>
              <a:rPr lang="pt-BR" sz="2800" dirty="0" smtClean="0"/>
              <a:t>Tempo máximo que a rede aceita 	       como duração do PCR</a:t>
            </a:r>
          </a:p>
          <a:p>
            <a:pPr>
              <a:lnSpc>
                <a:spcPct val="90000"/>
              </a:lnSpc>
            </a:pPr>
            <a:r>
              <a:rPr lang="pt-BR" b="1" dirty="0" smtClean="0"/>
              <a:t>MCR</a:t>
            </a:r>
            <a:r>
              <a:rPr lang="pt-BR" dirty="0" smtClean="0"/>
              <a:t> =&gt; </a:t>
            </a:r>
            <a:r>
              <a:rPr lang="pt-BR" sz="2800" dirty="0" smtClean="0"/>
              <a:t>Quantidade mínima de células por unidade de tempo 	         que uma aplicação necessita para o seu funcionamento. 	         MCR pode ter valor nulo.</a:t>
            </a:r>
          </a:p>
          <a:p>
            <a:endParaRPr lang="pt-PT"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smtClean="0">
                <a:solidFill>
                  <a:srgbClr val="FF0000"/>
                </a:solidFill>
                <a:latin typeface="Arial" pitchFamily="34" charset="0"/>
                <a:cs typeface="Arial" pitchFamily="34" charset="0"/>
              </a:rPr>
              <a:t>Contrato</a:t>
            </a:r>
            <a:r>
              <a:rPr lang="en-US" b="1" dirty="0" smtClean="0">
                <a:solidFill>
                  <a:srgbClr val="FF0000"/>
                </a:solidFill>
                <a:latin typeface="Arial" pitchFamily="34" charset="0"/>
                <a:cs typeface="Arial" pitchFamily="34" charset="0"/>
              </a:rPr>
              <a:t> de </a:t>
            </a:r>
            <a:r>
              <a:rPr lang="en-US" b="1" dirty="0" err="1" smtClean="0">
                <a:solidFill>
                  <a:srgbClr val="FF0000"/>
                </a:solidFill>
                <a:latin typeface="Arial" pitchFamily="34" charset="0"/>
                <a:cs typeface="Arial" pitchFamily="34" charset="0"/>
              </a:rPr>
              <a:t>tráfego</a:t>
            </a:r>
            <a:r>
              <a:rPr lang="en-US" b="1" dirty="0" smtClean="0">
                <a:solidFill>
                  <a:srgbClr val="FF0000"/>
                </a:solidFill>
                <a:latin typeface="Arial" pitchFamily="34" charset="0"/>
                <a:cs typeface="Arial" pitchFamily="34" charset="0"/>
              </a:rPr>
              <a:t> - </a:t>
            </a:r>
            <a:r>
              <a:rPr lang="en-US" b="1" dirty="0" err="1" smtClean="0">
                <a:solidFill>
                  <a:srgbClr val="FF0000"/>
                </a:solidFill>
                <a:latin typeface="Arial" pitchFamily="34" charset="0"/>
                <a:cs typeface="Arial" pitchFamily="34" charset="0"/>
              </a:rPr>
              <a:t>conteúdo</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pPr>
              <a:lnSpc>
                <a:spcPct val="100000"/>
              </a:lnSpc>
            </a:pPr>
            <a:r>
              <a:rPr lang="en-US" dirty="0" err="1" smtClean="0"/>
              <a:t>Descritor</a:t>
            </a:r>
            <a:r>
              <a:rPr lang="en-US" dirty="0" smtClean="0"/>
              <a:t> de </a:t>
            </a:r>
            <a:r>
              <a:rPr lang="en-US" dirty="0" err="1" smtClean="0"/>
              <a:t>tráfego</a:t>
            </a:r>
            <a:endParaRPr lang="en-US" dirty="0" smtClean="0"/>
          </a:p>
          <a:p>
            <a:pPr>
              <a:lnSpc>
                <a:spcPct val="100000"/>
              </a:lnSpc>
            </a:pPr>
            <a:r>
              <a:rPr lang="en-US" dirty="0" err="1" smtClean="0"/>
              <a:t>Qualidade</a:t>
            </a:r>
            <a:r>
              <a:rPr lang="en-US" dirty="0" smtClean="0"/>
              <a:t> de </a:t>
            </a:r>
            <a:r>
              <a:rPr lang="en-US" dirty="0" err="1" smtClean="0"/>
              <a:t>serviço</a:t>
            </a:r>
            <a:r>
              <a:rPr lang="en-US" dirty="0" smtClean="0"/>
              <a:t> </a:t>
            </a:r>
            <a:r>
              <a:rPr lang="en-US" dirty="0" err="1" smtClean="0"/>
              <a:t>acordada</a:t>
            </a:r>
            <a:endParaRPr lang="en-US" dirty="0" smtClean="0"/>
          </a:p>
          <a:p>
            <a:pPr>
              <a:lnSpc>
                <a:spcPct val="100000"/>
              </a:lnSpc>
            </a:pPr>
            <a:r>
              <a:rPr lang="en-US" dirty="0" err="1" smtClean="0"/>
              <a:t>Aspectos</a:t>
            </a:r>
            <a:r>
              <a:rPr lang="en-US" dirty="0" smtClean="0"/>
              <a:t> </a:t>
            </a:r>
            <a:r>
              <a:rPr lang="en-US" dirty="0" err="1" smtClean="0"/>
              <a:t>legais</a:t>
            </a:r>
            <a:endParaRPr lang="en-US" dirty="0" smtClean="0"/>
          </a:p>
          <a:p>
            <a:endParaRPr lang="pt-PT"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smtClean="0">
                <a:solidFill>
                  <a:srgbClr val="FF0000"/>
                </a:solidFill>
                <a:latin typeface="Arial" pitchFamily="34" charset="0"/>
                <a:cs typeface="Arial" pitchFamily="34" charset="0"/>
              </a:rPr>
              <a:t>Policiamento</a:t>
            </a:r>
            <a:r>
              <a:rPr lang="en-US" b="1" dirty="0" smtClean="0">
                <a:solidFill>
                  <a:srgbClr val="FF0000"/>
                </a:solidFill>
                <a:latin typeface="Arial" pitchFamily="34" charset="0"/>
                <a:cs typeface="Arial" pitchFamily="34" charset="0"/>
              </a:rPr>
              <a:t> de </a:t>
            </a:r>
            <a:r>
              <a:rPr lang="en-US" b="1" dirty="0" err="1" smtClean="0">
                <a:solidFill>
                  <a:srgbClr val="FF0000"/>
                </a:solidFill>
                <a:latin typeface="Arial" pitchFamily="34" charset="0"/>
                <a:cs typeface="Arial" pitchFamily="34" charset="0"/>
              </a:rPr>
              <a:t>tráfego</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pPr>
              <a:lnSpc>
                <a:spcPct val="100000"/>
              </a:lnSpc>
            </a:pPr>
            <a:r>
              <a:rPr lang="en-US" sz="2800" dirty="0" err="1" smtClean="0"/>
              <a:t>Monitoração</a:t>
            </a:r>
            <a:r>
              <a:rPr lang="en-US" sz="2800" dirty="0" smtClean="0"/>
              <a:t> </a:t>
            </a:r>
            <a:r>
              <a:rPr lang="en-US" sz="2800" dirty="0" err="1" smtClean="0"/>
              <a:t>da</a:t>
            </a:r>
            <a:r>
              <a:rPr lang="en-US" sz="2800" dirty="0" smtClean="0"/>
              <a:t> </a:t>
            </a:r>
            <a:r>
              <a:rPr lang="en-US" sz="2800" dirty="0" err="1" smtClean="0"/>
              <a:t>conformidade</a:t>
            </a:r>
            <a:r>
              <a:rPr lang="en-US" sz="2800" dirty="0" smtClean="0"/>
              <a:t> do </a:t>
            </a:r>
            <a:r>
              <a:rPr lang="en-US" sz="2800" dirty="0" err="1" smtClean="0"/>
              <a:t>tráfego</a:t>
            </a:r>
            <a:r>
              <a:rPr lang="en-US" sz="2800" dirty="0" smtClean="0"/>
              <a:t> do </a:t>
            </a:r>
            <a:r>
              <a:rPr lang="en-US" sz="2800" dirty="0" err="1" smtClean="0"/>
              <a:t>usuário</a:t>
            </a:r>
            <a:r>
              <a:rPr lang="en-US" sz="2800" dirty="0" smtClean="0"/>
              <a:t> com </a:t>
            </a:r>
            <a:r>
              <a:rPr lang="en-US" sz="2800" dirty="0" err="1" smtClean="0"/>
              <a:t>os</a:t>
            </a:r>
            <a:r>
              <a:rPr lang="en-US" sz="2800" dirty="0" smtClean="0"/>
              <a:t> </a:t>
            </a:r>
            <a:r>
              <a:rPr lang="en-US" sz="2800" dirty="0" err="1" smtClean="0"/>
              <a:t>parâmetros</a:t>
            </a:r>
            <a:r>
              <a:rPr lang="en-US" sz="2800" dirty="0" smtClean="0"/>
              <a:t> </a:t>
            </a:r>
            <a:r>
              <a:rPr lang="en-US" sz="2800" dirty="0" err="1" smtClean="0"/>
              <a:t>declarados</a:t>
            </a:r>
            <a:r>
              <a:rPr lang="en-US" sz="2800" dirty="0" smtClean="0"/>
              <a:t>  no </a:t>
            </a:r>
            <a:r>
              <a:rPr lang="en-US" sz="2800" dirty="0" err="1" smtClean="0"/>
              <a:t>contrato</a:t>
            </a:r>
            <a:r>
              <a:rPr lang="en-US" sz="2800" dirty="0" smtClean="0"/>
              <a:t> de </a:t>
            </a:r>
            <a:r>
              <a:rPr lang="en-US" sz="2800" dirty="0" err="1" smtClean="0"/>
              <a:t>tráfego</a:t>
            </a:r>
            <a:r>
              <a:rPr lang="en-US" sz="2800" dirty="0" smtClean="0"/>
              <a:t> </a:t>
            </a:r>
            <a:r>
              <a:rPr lang="en-US" sz="2800" dirty="0" err="1" smtClean="0"/>
              <a:t>realizada</a:t>
            </a:r>
            <a:r>
              <a:rPr lang="en-US" sz="2800" dirty="0" smtClean="0"/>
              <a:t> </a:t>
            </a:r>
            <a:r>
              <a:rPr lang="en-US" sz="2800" dirty="0" err="1" smtClean="0"/>
              <a:t>pelo</a:t>
            </a:r>
            <a:r>
              <a:rPr lang="en-US" sz="2800" dirty="0" smtClean="0"/>
              <a:t> </a:t>
            </a:r>
            <a:r>
              <a:rPr lang="en-US" sz="2800" dirty="0" err="1" smtClean="0"/>
              <a:t>algoritmo</a:t>
            </a:r>
            <a:r>
              <a:rPr lang="en-US" sz="2800" dirty="0" smtClean="0"/>
              <a:t> GCRA (Generic Cell Rate Algorithm).</a:t>
            </a:r>
          </a:p>
          <a:p>
            <a:pPr>
              <a:lnSpc>
                <a:spcPct val="100000"/>
              </a:lnSpc>
            </a:pPr>
            <a:r>
              <a:rPr lang="en-US" sz="2800" dirty="0" err="1" smtClean="0"/>
              <a:t>Células</a:t>
            </a:r>
            <a:r>
              <a:rPr lang="en-US" sz="2800" dirty="0" smtClean="0"/>
              <a:t> </a:t>
            </a:r>
            <a:r>
              <a:rPr lang="en-US" sz="2800" dirty="0" err="1" smtClean="0"/>
              <a:t>não</a:t>
            </a:r>
            <a:r>
              <a:rPr lang="en-US" sz="2800" dirty="0" smtClean="0"/>
              <a:t> </a:t>
            </a:r>
            <a:r>
              <a:rPr lang="en-US" sz="2800" dirty="0" err="1" smtClean="0"/>
              <a:t>conformes</a:t>
            </a:r>
            <a:r>
              <a:rPr lang="en-US" sz="2800" dirty="0" smtClean="0"/>
              <a:t> </a:t>
            </a:r>
            <a:r>
              <a:rPr lang="en-US" sz="2800" dirty="0" err="1" smtClean="0"/>
              <a:t>são</a:t>
            </a:r>
            <a:r>
              <a:rPr lang="en-US" sz="2800" dirty="0" smtClean="0"/>
              <a:t>:</a:t>
            </a:r>
          </a:p>
          <a:p>
            <a:pPr lvl="1">
              <a:lnSpc>
                <a:spcPct val="100000"/>
              </a:lnSpc>
            </a:pPr>
            <a:r>
              <a:rPr lang="en-US" dirty="0" err="1" smtClean="0"/>
              <a:t>Remodeladas</a:t>
            </a:r>
            <a:r>
              <a:rPr lang="en-US" dirty="0" smtClean="0"/>
              <a:t> (Shaping)</a:t>
            </a:r>
          </a:p>
          <a:p>
            <a:pPr lvl="1">
              <a:lnSpc>
                <a:spcPct val="100000"/>
              </a:lnSpc>
            </a:pPr>
            <a:r>
              <a:rPr lang="en-US" dirty="0" err="1" smtClean="0"/>
              <a:t>Marcadas</a:t>
            </a:r>
            <a:r>
              <a:rPr lang="en-US" dirty="0" smtClean="0"/>
              <a:t> </a:t>
            </a:r>
            <a:r>
              <a:rPr lang="en-US" dirty="0" err="1" smtClean="0"/>
              <a:t>como</a:t>
            </a:r>
            <a:r>
              <a:rPr lang="en-US" dirty="0" smtClean="0"/>
              <a:t> </a:t>
            </a:r>
            <a:r>
              <a:rPr lang="en-US" dirty="0" err="1" smtClean="0"/>
              <a:t>elegível</a:t>
            </a:r>
            <a:r>
              <a:rPr lang="en-US" dirty="0" smtClean="0"/>
              <a:t> </a:t>
            </a:r>
            <a:r>
              <a:rPr lang="en-US" dirty="0" err="1" smtClean="0"/>
              <a:t>para</a:t>
            </a:r>
            <a:r>
              <a:rPr lang="en-US" dirty="0" smtClean="0"/>
              <a:t> </a:t>
            </a:r>
            <a:r>
              <a:rPr lang="en-US" dirty="0" err="1" smtClean="0"/>
              <a:t>descarte</a:t>
            </a:r>
            <a:endParaRPr lang="en-US" dirty="0" smtClean="0"/>
          </a:p>
          <a:p>
            <a:pPr lvl="1">
              <a:lnSpc>
                <a:spcPct val="100000"/>
              </a:lnSpc>
            </a:pPr>
            <a:r>
              <a:rPr lang="en-US" dirty="0" err="1" smtClean="0"/>
              <a:t>Descartadas</a:t>
            </a:r>
            <a:endParaRPr lang="pt-PT"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smtClean="0">
                <a:solidFill>
                  <a:srgbClr val="FF0000"/>
                </a:solidFill>
                <a:latin typeface="Arial" pitchFamily="34" charset="0"/>
                <a:cs typeface="Arial" pitchFamily="34" charset="0"/>
              </a:rPr>
              <a:t>Algoritmo</a:t>
            </a:r>
            <a:r>
              <a:rPr lang="en-US" b="1" dirty="0" smtClean="0">
                <a:solidFill>
                  <a:srgbClr val="FF0000"/>
                </a:solidFill>
                <a:latin typeface="Arial" pitchFamily="34" charset="0"/>
                <a:cs typeface="Arial" pitchFamily="34" charset="0"/>
              </a:rPr>
              <a:t> GCRA</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normAutofit fontScale="92500" lnSpcReduction="20000"/>
          </a:bodyPr>
          <a:lstStyle/>
          <a:p>
            <a:pPr algn="ctr">
              <a:buFont typeface="Times New Roman" pitchFamily="18" charset="0"/>
              <a:buNone/>
            </a:pPr>
            <a:r>
              <a:rPr lang="en-US" sz="2800" dirty="0" err="1" smtClean="0"/>
              <a:t>Monitoração</a:t>
            </a:r>
            <a:r>
              <a:rPr lang="en-US" sz="2800" dirty="0" smtClean="0"/>
              <a:t> do PCR com </a:t>
            </a:r>
            <a:r>
              <a:rPr lang="en-US" sz="2800" dirty="0" err="1" smtClean="0"/>
              <a:t>tolerância</a:t>
            </a:r>
            <a:r>
              <a:rPr lang="en-US" sz="2800" dirty="0" smtClean="0"/>
              <a:t> CDVT</a:t>
            </a:r>
          </a:p>
          <a:p>
            <a:pPr algn="ctr">
              <a:buFont typeface="Times New Roman" pitchFamily="18" charset="0"/>
              <a:buNone/>
            </a:pPr>
            <a:endParaRPr lang="en-US" dirty="0" smtClean="0"/>
          </a:p>
          <a:p>
            <a:r>
              <a:rPr lang="en-US" dirty="0" smtClean="0"/>
              <a:t>Delta = CDVT</a:t>
            </a:r>
          </a:p>
          <a:p>
            <a:r>
              <a:rPr lang="en-US" dirty="0" smtClean="0"/>
              <a:t>T = 1/PCR = </a:t>
            </a:r>
            <a:r>
              <a:rPr lang="en-US" sz="2000" dirty="0" err="1" smtClean="0"/>
              <a:t>Intervalo</a:t>
            </a:r>
            <a:r>
              <a:rPr lang="en-US" sz="2000" dirty="0" smtClean="0"/>
              <a:t> entre </a:t>
            </a:r>
            <a:r>
              <a:rPr lang="en-US" sz="2000" dirty="0" err="1" smtClean="0"/>
              <a:t>chegadas</a:t>
            </a:r>
            <a:r>
              <a:rPr lang="en-US" sz="2000" dirty="0" smtClean="0"/>
              <a:t> </a:t>
            </a:r>
            <a:r>
              <a:rPr lang="en-US" sz="2000" dirty="0" err="1" smtClean="0"/>
              <a:t>previstas</a:t>
            </a:r>
            <a:endParaRPr lang="en-US" dirty="0" smtClean="0"/>
          </a:p>
          <a:p>
            <a:r>
              <a:rPr lang="en-US" dirty="0" smtClean="0"/>
              <a:t>TAT: Theoretical arrival time (</a:t>
            </a:r>
            <a:r>
              <a:rPr lang="en-US" sz="2000" dirty="0" smtClean="0"/>
              <a:t>tempo de </a:t>
            </a:r>
            <a:r>
              <a:rPr lang="en-US" sz="2000" dirty="0" err="1" smtClean="0"/>
              <a:t>chegada</a:t>
            </a:r>
            <a:r>
              <a:rPr lang="en-US" sz="2000" dirty="0" smtClean="0"/>
              <a:t> </a:t>
            </a:r>
            <a:r>
              <a:rPr lang="en-US" sz="2000" dirty="0" err="1" smtClean="0"/>
              <a:t>teórico</a:t>
            </a:r>
            <a:r>
              <a:rPr lang="en-US" sz="2000" dirty="0" smtClean="0"/>
              <a:t> </a:t>
            </a:r>
            <a:r>
              <a:rPr lang="en-US" sz="2000" dirty="0" err="1" smtClean="0"/>
              <a:t>da</a:t>
            </a:r>
            <a:r>
              <a:rPr lang="en-US" sz="2000" dirty="0" smtClean="0"/>
              <a:t> </a:t>
            </a:r>
            <a:r>
              <a:rPr lang="en-US" sz="2000" dirty="0" err="1" smtClean="0"/>
              <a:t>próxima</a:t>
            </a:r>
            <a:r>
              <a:rPr lang="en-US" sz="2000" dirty="0" smtClean="0"/>
              <a:t> </a:t>
            </a:r>
            <a:r>
              <a:rPr lang="en-US" sz="2000" dirty="0" err="1" smtClean="0"/>
              <a:t>célula</a:t>
            </a:r>
            <a:r>
              <a:rPr lang="en-US" dirty="0" smtClean="0"/>
              <a:t>)</a:t>
            </a:r>
          </a:p>
          <a:p>
            <a:r>
              <a:rPr lang="en-US" dirty="0" smtClean="0"/>
              <a:t>Ta: Arrival time of a cell (</a:t>
            </a:r>
            <a:r>
              <a:rPr lang="en-US" sz="2000" dirty="0" smtClean="0"/>
              <a:t>tempo de </a:t>
            </a:r>
            <a:r>
              <a:rPr lang="en-US" sz="2000" dirty="0" err="1" smtClean="0"/>
              <a:t>chegada</a:t>
            </a:r>
            <a:r>
              <a:rPr lang="en-US" sz="2000" dirty="0" smtClean="0"/>
              <a:t> </a:t>
            </a:r>
            <a:r>
              <a:rPr lang="en-US" sz="2000" dirty="0" err="1" smtClean="0"/>
              <a:t>da</a:t>
            </a:r>
            <a:r>
              <a:rPr lang="en-US" sz="2000" dirty="0" smtClean="0"/>
              <a:t> </a:t>
            </a:r>
            <a:r>
              <a:rPr lang="en-US" sz="2000" dirty="0" err="1" smtClean="0"/>
              <a:t>célula</a:t>
            </a:r>
            <a:r>
              <a:rPr lang="en-US" dirty="0" smtClean="0"/>
              <a:t>)</a:t>
            </a:r>
          </a:p>
          <a:p>
            <a:r>
              <a:rPr lang="en-US" dirty="0" err="1" smtClean="0"/>
              <a:t>Chegada</a:t>
            </a:r>
            <a:r>
              <a:rPr lang="en-US" dirty="0" smtClean="0"/>
              <a:t> </a:t>
            </a:r>
            <a:r>
              <a:rPr lang="en-US" dirty="0" err="1" smtClean="0"/>
              <a:t>da</a:t>
            </a:r>
            <a:r>
              <a:rPr lang="en-US" dirty="0" smtClean="0"/>
              <a:t> </a:t>
            </a:r>
            <a:r>
              <a:rPr lang="en-US" dirty="0" err="1" smtClean="0"/>
              <a:t>primeira</a:t>
            </a:r>
            <a:r>
              <a:rPr lang="en-US" dirty="0" smtClean="0"/>
              <a:t> </a:t>
            </a:r>
            <a:r>
              <a:rPr lang="en-US" dirty="0" err="1" smtClean="0"/>
              <a:t>célula</a:t>
            </a:r>
            <a:r>
              <a:rPr lang="en-US" dirty="0" smtClean="0"/>
              <a:t>: </a:t>
            </a:r>
          </a:p>
          <a:p>
            <a:pPr lvl="1"/>
            <a:r>
              <a:rPr lang="en-US" dirty="0" smtClean="0"/>
              <a:t>Ta(1) (</a:t>
            </a:r>
            <a:r>
              <a:rPr lang="en-US" dirty="0" err="1" smtClean="0"/>
              <a:t>célula</a:t>
            </a:r>
            <a:r>
              <a:rPr lang="en-US" dirty="0" smtClean="0"/>
              <a:t> </a:t>
            </a:r>
            <a:r>
              <a:rPr lang="en-US" dirty="0" err="1" smtClean="0"/>
              <a:t>sempre</a:t>
            </a:r>
            <a:r>
              <a:rPr lang="en-US" dirty="0" smtClean="0"/>
              <a:t> </a:t>
            </a:r>
            <a:r>
              <a:rPr lang="en-US" dirty="0" err="1" smtClean="0"/>
              <a:t>conforme</a:t>
            </a:r>
            <a:r>
              <a:rPr lang="en-US" dirty="0" smtClean="0"/>
              <a:t>)</a:t>
            </a:r>
          </a:p>
          <a:p>
            <a:pPr lvl="1"/>
            <a:r>
              <a:rPr lang="en-US" dirty="0" smtClean="0"/>
              <a:t>TAT = Ta + T</a:t>
            </a:r>
          </a:p>
          <a:p>
            <a:r>
              <a:rPr lang="en-US" dirty="0" err="1" smtClean="0"/>
              <a:t>Chegada</a:t>
            </a:r>
            <a:r>
              <a:rPr lang="en-US" dirty="0" smtClean="0"/>
              <a:t> das </a:t>
            </a:r>
            <a:r>
              <a:rPr lang="en-US" dirty="0" err="1" smtClean="0"/>
              <a:t>próximas</a:t>
            </a:r>
            <a:r>
              <a:rPr lang="en-US" dirty="0" smtClean="0"/>
              <a:t> </a:t>
            </a:r>
            <a:r>
              <a:rPr lang="en-US" dirty="0" err="1" smtClean="0"/>
              <a:t>células</a:t>
            </a:r>
            <a:endParaRPr lang="en-US" dirty="0" smtClean="0"/>
          </a:p>
          <a:p>
            <a:pPr lvl="1"/>
            <a:r>
              <a:rPr lang="en-US" dirty="0" smtClean="0"/>
              <a:t>Se Ta(k) &lt; TAT - Delta: </a:t>
            </a:r>
            <a:r>
              <a:rPr lang="en-US" dirty="0" err="1" smtClean="0"/>
              <a:t>célula</a:t>
            </a:r>
            <a:r>
              <a:rPr lang="en-US" dirty="0" smtClean="0"/>
              <a:t> </a:t>
            </a:r>
            <a:r>
              <a:rPr lang="en-US" dirty="0" err="1" smtClean="0"/>
              <a:t>não-conforme</a:t>
            </a:r>
            <a:r>
              <a:rPr lang="en-US" dirty="0" smtClean="0"/>
              <a:t>;</a:t>
            </a:r>
          </a:p>
          <a:p>
            <a:pPr lvl="1"/>
            <a:r>
              <a:rPr lang="en-US" dirty="0" err="1" smtClean="0"/>
              <a:t>Caso</a:t>
            </a:r>
            <a:r>
              <a:rPr lang="en-US" dirty="0" smtClean="0"/>
              <a:t> </a:t>
            </a:r>
            <a:r>
              <a:rPr lang="en-US" dirty="0" err="1" smtClean="0"/>
              <a:t>contrário</a:t>
            </a:r>
            <a:r>
              <a:rPr lang="en-US" dirty="0" smtClean="0"/>
              <a:t>: </a:t>
            </a:r>
            <a:r>
              <a:rPr lang="en-US" dirty="0" err="1" smtClean="0"/>
              <a:t>célula</a:t>
            </a:r>
            <a:r>
              <a:rPr lang="en-US" dirty="0" smtClean="0"/>
              <a:t> </a:t>
            </a:r>
            <a:r>
              <a:rPr lang="en-US" dirty="0" err="1" smtClean="0"/>
              <a:t>conforme</a:t>
            </a:r>
            <a:r>
              <a:rPr lang="en-US" dirty="0" smtClean="0"/>
              <a:t> e TAT = </a:t>
            </a:r>
            <a:r>
              <a:rPr lang="en-US" dirty="0" err="1" smtClean="0"/>
              <a:t>máx</a:t>
            </a:r>
            <a:r>
              <a:rPr lang="en-US" dirty="0" smtClean="0"/>
              <a:t> {Ta(k),TAT} + T</a:t>
            </a:r>
          </a:p>
          <a:p>
            <a:endParaRPr lang="pt-PT"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smtClean="0">
                <a:solidFill>
                  <a:srgbClr val="FF0000"/>
                </a:solidFill>
                <a:latin typeface="Arial" pitchFamily="34" charset="0"/>
                <a:cs typeface="Arial" pitchFamily="34" charset="0"/>
              </a:rPr>
              <a:t>Algoritmo</a:t>
            </a:r>
            <a:r>
              <a:rPr lang="en-US" b="1" dirty="0" smtClean="0">
                <a:solidFill>
                  <a:srgbClr val="FF0000"/>
                </a:solidFill>
                <a:latin typeface="Arial" pitchFamily="34" charset="0"/>
                <a:cs typeface="Arial" pitchFamily="34" charset="0"/>
              </a:rPr>
              <a:t> GCRA</a:t>
            </a:r>
            <a:endParaRPr lang="pt-PT" dirty="0"/>
          </a:p>
        </p:txBody>
      </p:sp>
      <p:pic>
        <p:nvPicPr>
          <p:cNvPr id="22530" name="Picture 2"/>
          <p:cNvPicPr>
            <a:picLocks noGrp="1" noChangeAspect="1" noChangeArrowheads="1"/>
          </p:cNvPicPr>
          <p:nvPr>
            <p:ph sz="quarter" idx="1"/>
          </p:nvPr>
        </p:nvPicPr>
        <p:blipFill>
          <a:blip r:embed="rId2" cstate="print"/>
          <a:srcRect/>
          <a:stretch>
            <a:fillRect/>
          </a:stretch>
        </p:blipFill>
        <p:spPr bwMode="auto">
          <a:xfrm>
            <a:off x="899592" y="1700808"/>
            <a:ext cx="7920880" cy="4752528"/>
          </a:xfrm>
          <a:prstGeom prst="rect">
            <a:avLst/>
          </a:prstGeom>
          <a:noFill/>
          <a:ln w="9525">
            <a:noFill/>
            <a:miter lim="800000"/>
            <a:headEnd/>
            <a:tailEnd/>
          </a:ln>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n-US" b="1" dirty="0" err="1" smtClean="0">
                <a:solidFill>
                  <a:srgbClr val="FF0000"/>
                </a:solidFill>
                <a:latin typeface="Arial" pitchFamily="34" charset="0"/>
                <a:cs typeface="Arial" pitchFamily="34" charset="0"/>
              </a:rPr>
              <a:t>Exemplo</a:t>
            </a:r>
            <a:r>
              <a:rPr lang="en-US" b="1" dirty="0" smtClean="0">
                <a:solidFill>
                  <a:srgbClr val="FF0000"/>
                </a:solidFill>
                <a:latin typeface="Arial" pitchFamily="34" charset="0"/>
                <a:cs typeface="Arial" pitchFamily="34" charset="0"/>
              </a:rPr>
              <a:t> </a:t>
            </a:r>
            <a:r>
              <a:rPr lang="en-US" b="1" dirty="0" err="1" smtClean="0">
                <a:solidFill>
                  <a:srgbClr val="FF0000"/>
                </a:solidFill>
                <a:latin typeface="Arial" pitchFamily="34" charset="0"/>
                <a:cs typeface="Arial" pitchFamily="34" charset="0"/>
              </a:rPr>
              <a:t>Algoritmo</a:t>
            </a:r>
            <a:r>
              <a:rPr lang="en-US" b="1" dirty="0" smtClean="0">
                <a:solidFill>
                  <a:srgbClr val="FF0000"/>
                </a:solidFill>
                <a:latin typeface="Arial" pitchFamily="34" charset="0"/>
                <a:cs typeface="Arial" pitchFamily="34" charset="0"/>
              </a:rPr>
              <a:t> GCRA</a:t>
            </a:r>
            <a:endParaRPr lang="pt-PT" dirty="0"/>
          </a:p>
        </p:txBody>
      </p:sp>
      <p:sp>
        <p:nvSpPr>
          <p:cNvPr id="3" name="Marcador de Posição de Conteúdo 2"/>
          <p:cNvSpPr>
            <a:spLocks noGrp="1"/>
          </p:cNvSpPr>
          <p:nvPr>
            <p:ph sz="quarter" idx="1"/>
          </p:nvPr>
        </p:nvSpPr>
        <p:spPr>
          <a:xfrm>
            <a:off x="914400" y="1447800"/>
            <a:ext cx="7772400" cy="2557264"/>
          </a:xfrm>
        </p:spPr>
        <p:txBody>
          <a:bodyPr>
            <a:normAutofit lnSpcReduction="10000"/>
          </a:bodyPr>
          <a:lstStyle/>
          <a:p>
            <a:r>
              <a:rPr lang="pt-BR" sz="2400" dirty="0" smtClean="0"/>
              <a:t>Suponha os seguintes parâmetros para um contrato de tráfego CBR: Tempo de transmissão de uma célula: </a:t>
            </a:r>
            <a:r>
              <a:rPr lang="pt-BR" sz="2400" dirty="0" smtClean="0">
                <a:sym typeface="Symbol" pitchFamily="18" charset="2"/>
              </a:rPr>
              <a:t></a:t>
            </a:r>
            <a:r>
              <a:rPr lang="pt-BR" sz="2400" dirty="0" smtClean="0"/>
              <a:t>s; PCR: 1 célula transmitida a cada 6</a:t>
            </a:r>
            <a:r>
              <a:rPr lang="pt-BR" sz="2400" dirty="0" smtClean="0">
                <a:sym typeface="Symbol" pitchFamily="18" charset="2"/>
              </a:rPr>
              <a:t></a:t>
            </a:r>
            <a:r>
              <a:rPr lang="pt-BR" sz="2400" dirty="0" smtClean="0"/>
              <a:t>s; CDVT: 12</a:t>
            </a:r>
            <a:r>
              <a:rPr lang="pt-BR" sz="2400" dirty="0" smtClean="0">
                <a:sym typeface="Symbol" pitchFamily="18" charset="2"/>
              </a:rPr>
              <a:t></a:t>
            </a:r>
            <a:r>
              <a:rPr lang="pt-BR" sz="2400" dirty="0" smtClean="0"/>
              <a:t>s. Em um dado instante o comutador na entrada da rede recebe uma rajada formada por 9 células em sequência. Utilizando o algoritmo GCRA, determinar quais células serão consideradas conformes e não conformes pelo comutador.</a:t>
            </a:r>
            <a:endParaRPr lang="pt-PT" dirty="0"/>
          </a:p>
        </p:txBody>
      </p:sp>
      <p:pic>
        <p:nvPicPr>
          <p:cNvPr id="23554" name="Picture 2"/>
          <p:cNvPicPr>
            <a:picLocks noChangeAspect="1" noChangeArrowheads="1"/>
          </p:cNvPicPr>
          <p:nvPr/>
        </p:nvPicPr>
        <p:blipFill>
          <a:blip r:embed="rId2" cstate="print"/>
          <a:srcRect/>
          <a:stretch>
            <a:fillRect/>
          </a:stretch>
        </p:blipFill>
        <p:spPr bwMode="auto">
          <a:xfrm>
            <a:off x="1115616" y="4005064"/>
            <a:ext cx="7128792" cy="2232248"/>
          </a:xfrm>
          <a:prstGeom prst="rect">
            <a:avLst/>
          </a:prstGeom>
          <a:noFill/>
          <a:ln w="9525">
            <a:noFill/>
            <a:miter lim="800000"/>
            <a:headEnd/>
            <a:tailEnd/>
          </a:ln>
        </p:spPr>
      </p:pic>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smtClean="0">
                <a:solidFill>
                  <a:srgbClr val="FF0000"/>
                </a:solidFill>
                <a:latin typeface="Arial" pitchFamily="34" charset="0"/>
                <a:cs typeface="Arial" pitchFamily="34" charset="0"/>
              </a:rPr>
              <a:t>Exemplo</a:t>
            </a:r>
            <a:r>
              <a:rPr lang="en-US" b="1" dirty="0" smtClean="0">
                <a:solidFill>
                  <a:srgbClr val="FF0000"/>
                </a:solidFill>
                <a:latin typeface="Arial" pitchFamily="34" charset="0"/>
                <a:cs typeface="Arial" pitchFamily="34" charset="0"/>
              </a:rPr>
              <a:t> </a:t>
            </a:r>
            <a:r>
              <a:rPr lang="en-US" b="1" dirty="0" err="1" smtClean="0">
                <a:solidFill>
                  <a:srgbClr val="FF0000"/>
                </a:solidFill>
                <a:latin typeface="Arial" pitchFamily="34" charset="0"/>
                <a:cs typeface="Arial" pitchFamily="34" charset="0"/>
              </a:rPr>
              <a:t>Algoritmo</a:t>
            </a:r>
            <a:r>
              <a:rPr lang="en-US" b="1" dirty="0" smtClean="0">
                <a:solidFill>
                  <a:srgbClr val="FF0000"/>
                </a:solidFill>
                <a:latin typeface="Arial" pitchFamily="34" charset="0"/>
                <a:cs typeface="Arial" pitchFamily="34" charset="0"/>
              </a:rPr>
              <a:t> GCRA</a:t>
            </a:r>
            <a:endParaRPr lang="pt-PT" dirty="0"/>
          </a:p>
        </p:txBody>
      </p:sp>
      <p:pic>
        <p:nvPicPr>
          <p:cNvPr id="24578" name="Picture 2"/>
          <p:cNvPicPr>
            <a:picLocks noGrp="1" noChangeAspect="1" noChangeArrowheads="1"/>
          </p:cNvPicPr>
          <p:nvPr>
            <p:ph sz="quarter" idx="1"/>
          </p:nvPr>
        </p:nvPicPr>
        <p:blipFill>
          <a:blip r:embed="rId2" cstate="print"/>
          <a:srcRect/>
          <a:stretch>
            <a:fillRect/>
          </a:stretch>
        </p:blipFill>
        <p:spPr bwMode="auto">
          <a:xfrm>
            <a:off x="827584" y="1985962"/>
            <a:ext cx="7704856" cy="4251350"/>
          </a:xfrm>
          <a:prstGeom prst="rect">
            <a:avLst/>
          </a:prstGeom>
          <a:noFill/>
          <a:ln w="9525">
            <a:noFill/>
            <a:miter lim="800000"/>
            <a:headEnd/>
            <a:tailEnd/>
          </a:ln>
        </p:spPr>
      </p:pic>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Voz Sobre ATM</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p:txBody>
          <a:bodyPr/>
          <a:lstStyle/>
          <a:p>
            <a:r>
              <a:rPr lang="pt-BR" sz="2800" dirty="0" smtClean="0"/>
              <a:t>Voz</a:t>
            </a:r>
          </a:p>
          <a:p>
            <a:pPr lvl="1"/>
            <a:r>
              <a:rPr lang="pt-BR" dirty="0" smtClean="0"/>
              <a:t>Telefonia (Fala)</a:t>
            </a:r>
          </a:p>
          <a:p>
            <a:pPr lvl="1"/>
            <a:r>
              <a:rPr lang="pt-BR" dirty="0" smtClean="0"/>
              <a:t>Dados na faixa de Voz (Fax, Modem’s de Dados)</a:t>
            </a:r>
          </a:p>
          <a:p>
            <a:r>
              <a:rPr lang="pt-BR" sz="2800" dirty="0" smtClean="0"/>
              <a:t>Problemas: </a:t>
            </a:r>
          </a:p>
          <a:p>
            <a:pPr lvl="1"/>
            <a:r>
              <a:rPr lang="pt-BR" dirty="0" smtClean="0"/>
              <a:t>atrasos de empacotamento/desempacotamento, transferência</a:t>
            </a:r>
          </a:p>
          <a:p>
            <a:pPr lvl="1"/>
            <a:r>
              <a:rPr lang="pt-BR" dirty="0" smtClean="0"/>
              <a:t>sincronismo entre origem e destino</a:t>
            </a:r>
          </a:p>
          <a:p>
            <a:endParaRPr lang="pt-PT"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Tipos de Adaptação</a:t>
            </a:r>
            <a:endParaRPr lang="pt-PT" b="1" dirty="0">
              <a:solidFill>
                <a:srgbClr val="FF0000"/>
              </a:solidFill>
              <a:latin typeface="Arial" pitchFamily="34" charset="0"/>
              <a:cs typeface="Arial" pitchFamily="34" charset="0"/>
            </a:endParaRPr>
          </a:p>
        </p:txBody>
      </p:sp>
      <p:pic>
        <p:nvPicPr>
          <p:cNvPr id="25602" name="Picture 2"/>
          <p:cNvPicPr>
            <a:picLocks noGrp="1" noChangeAspect="1" noChangeArrowheads="1"/>
          </p:cNvPicPr>
          <p:nvPr>
            <p:ph sz="quarter" idx="1"/>
          </p:nvPr>
        </p:nvPicPr>
        <p:blipFill>
          <a:blip r:embed="rId3" cstate="print"/>
          <a:srcRect/>
          <a:stretch>
            <a:fillRect/>
          </a:stretch>
        </p:blipFill>
        <p:spPr bwMode="auto">
          <a:xfrm>
            <a:off x="539552" y="1556793"/>
            <a:ext cx="8136904" cy="4824536"/>
          </a:xfrm>
          <a:prstGeom prst="rect">
            <a:avLst/>
          </a:prstGeom>
          <a:noFill/>
          <a:ln w="9525">
            <a:noFill/>
            <a:miter lim="800000"/>
            <a:headEnd/>
            <a:tailEnd/>
          </a:ln>
        </p:spPr>
      </p:pic>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Emulação de Circuitos</a:t>
            </a:r>
            <a:endParaRPr lang="pt-PT" b="1" dirty="0">
              <a:solidFill>
                <a:srgbClr val="FF0000"/>
              </a:solidFill>
              <a:latin typeface="Arial" pitchFamily="34" charset="0"/>
              <a:cs typeface="Arial" pitchFamily="34" charset="0"/>
            </a:endParaRPr>
          </a:p>
        </p:txBody>
      </p:sp>
      <p:sp>
        <p:nvSpPr>
          <p:cNvPr id="3" name="Marcador de Posição de Conteúdo 2"/>
          <p:cNvSpPr>
            <a:spLocks noGrp="1"/>
          </p:cNvSpPr>
          <p:nvPr>
            <p:ph sz="quarter" idx="1"/>
          </p:nvPr>
        </p:nvSpPr>
        <p:spPr>
          <a:xfrm>
            <a:off x="914400" y="1447800"/>
            <a:ext cx="7772400" cy="2557264"/>
          </a:xfrm>
        </p:spPr>
        <p:txBody>
          <a:bodyPr/>
          <a:lstStyle/>
          <a:p>
            <a:r>
              <a:rPr lang="pt-BR" sz="2000" dirty="0" smtClean="0"/>
              <a:t>Possibilita que os circuito existentes possam ser mapeados sobre ATM</a:t>
            </a:r>
          </a:p>
          <a:p>
            <a:r>
              <a:rPr lang="pt-BR" sz="2000" dirty="0" smtClean="0"/>
              <a:t>Utiliza conexão CBR (Constant Bit Rate) AAL1</a:t>
            </a:r>
          </a:p>
          <a:p>
            <a:r>
              <a:rPr lang="pt-BR" sz="2000" dirty="0" smtClean="0"/>
              <a:t>Modo UCE (Unstructured Circuit Emulation - não estruturado)</a:t>
            </a:r>
          </a:p>
          <a:p>
            <a:pPr lvl="1"/>
            <a:r>
              <a:rPr lang="pt-BR" sz="1800" dirty="0" smtClean="0"/>
              <a:t>Não existe o reconhecimento de estruturas de quadro dos circuitos</a:t>
            </a:r>
          </a:p>
          <a:p>
            <a:r>
              <a:rPr lang="pt-BR" sz="2000" dirty="0" smtClean="0"/>
              <a:t>Modo SCE (Structered Circuit Emulation - Estruturado)</a:t>
            </a:r>
          </a:p>
          <a:p>
            <a:pPr lvl="1"/>
            <a:r>
              <a:rPr lang="pt-BR" sz="1800" dirty="0" smtClean="0"/>
              <a:t>A estrutura de quadro, por exemplo, 32 timeslot do E1, é reconhecida e mapeada através da rede ATM</a:t>
            </a:r>
          </a:p>
          <a:p>
            <a:endParaRPr lang="pt-PT" dirty="0"/>
          </a:p>
        </p:txBody>
      </p:sp>
      <p:pic>
        <p:nvPicPr>
          <p:cNvPr id="26626" name="Picture 2"/>
          <p:cNvPicPr>
            <a:picLocks noChangeAspect="1" noChangeArrowheads="1"/>
          </p:cNvPicPr>
          <p:nvPr/>
        </p:nvPicPr>
        <p:blipFill>
          <a:blip r:embed="rId3" cstate="print"/>
          <a:srcRect/>
          <a:stretch>
            <a:fillRect/>
          </a:stretch>
        </p:blipFill>
        <p:spPr bwMode="auto">
          <a:xfrm>
            <a:off x="1259632" y="4005064"/>
            <a:ext cx="7344816" cy="2232248"/>
          </a:xfrm>
          <a:prstGeom prst="rect">
            <a:avLst/>
          </a:prstGeom>
          <a:noFill/>
          <a:ln w="9525">
            <a:noFill/>
            <a:miter lim="800000"/>
            <a:headEnd/>
            <a:tailEnd/>
          </a:ln>
        </p:spPr>
      </p:pic>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274638"/>
            <a:ext cx="8219256" cy="1143000"/>
          </a:xfrm>
        </p:spPr>
        <p:txBody>
          <a:bodyPr>
            <a:normAutofit/>
          </a:bodyPr>
          <a:lstStyle/>
          <a:p>
            <a:r>
              <a:rPr lang="pt-BR" sz="3200" b="1" dirty="0" smtClean="0">
                <a:solidFill>
                  <a:srgbClr val="FF0000"/>
                </a:solidFill>
                <a:latin typeface="Arial" pitchFamily="34" charset="0"/>
                <a:cs typeface="Arial" pitchFamily="34" charset="0"/>
              </a:rPr>
              <a:t>Emulação de Circuito - Não Estruturado</a:t>
            </a:r>
            <a:endParaRPr lang="pt-PT" sz="3200" b="1" dirty="0">
              <a:solidFill>
                <a:srgbClr val="FF0000"/>
              </a:solidFill>
              <a:latin typeface="Arial" pitchFamily="34" charset="0"/>
              <a:cs typeface="Arial" pitchFamily="34" charset="0"/>
            </a:endParaRPr>
          </a:p>
        </p:txBody>
      </p:sp>
      <p:pic>
        <p:nvPicPr>
          <p:cNvPr id="27650" name="Picture 2"/>
          <p:cNvPicPr>
            <a:picLocks noGrp="1" noChangeAspect="1" noChangeArrowheads="1"/>
          </p:cNvPicPr>
          <p:nvPr>
            <p:ph sz="quarter" idx="1"/>
          </p:nvPr>
        </p:nvPicPr>
        <p:blipFill>
          <a:blip r:embed="rId3" cstate="print"/>
          <a:srcRect/>
          <a:stretch>
            <a:fillRect/>
          </a:stretch>
        </p:blipFill>
        <p:spPr bwMode="auto">
          <a:xfrm>
            <a:off x="395536" y="1412776"/>
            <a:ext cx="8280920" cy="4824535"/>
          </a:xfrm>
          <a:prstGeom prst="rect">
            <a:avLst/>
          </a:prstGeom>
          <a:noFill/>
          <a:ln w="9525">
            <a:noFill/>
            <a:miter lim="800000"/>
            <a:headEnd/>
            <a:tailEnd/>
          </a:ln>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274638"/>
            <a:ext cx="8219256" cy="1143000"/>
          </a:xfrm>
        </p:spPr>
        <p:txBody>
          <a:bodyPr>
            <a:normAutofit/>
          </a:bodyPr>
          <a:lstStyle/>
          <a:p>
            <a:r>
              <a:rPr lang="pt-BR" sz="3200" b="1" dirty="0" smtClean="0">
                <a:solidFill>
                  <a:srgbClr val="FF0000"/>
                </a:solidFill>
                <a:latin typeface="Arial" pitchFamily="34" charset="0"/>
                <a:cs typeface="Arial" pitchFamily="34" charset="0"/>
              </a:rPr>
              <a:t>Emulação de Circuito - Não Estruturado</a:t>
            </a:r>
            <a:endParaRPr lang="pt-PT" sz="3200" dirty="0"/>
          </a:p>
        </p:txBody>
      </p:sp>
      <p:pic>
        <p:nvPicPr>
          <p:cNvPr id="28674" name="Picture 2"/>
          <p:cNvPicPr>
            <a:picLocks noGrp="1" noChangeAspect="1" noChangeArrowheads="1"/>
          </p:cNvPicPr>
          <p:nvPr>
            <p:ph sz="quarter" idx="1"/>
          </p:nvPr>
        </p:nvPicPr>
        <p:blipFill>
          <a:blip r:embed="rId3" cstate="print"/>
          <a:srcRect/>
          <a:stretch>
            <a:fillRect/>
          </a:stretch>
        </p:blipFill>
        <p:spPr bwMode="auto">
          <a:xfrm>
            <a:off x="179512" y="1556792"/>
            <a:ext cx="8568952" cy="4896543"/>
          </a:xfrm>
          <a:prstGeom prst="rect">
            <a:avLst/>
          </a:prstGeom>
          <a:noFill/>
          <a:ln w="9525">
            <a:noFill/>
            <a:miter lim="800000"/>
            <a:headEnd/>
            <a:tailEnd/>
          </a:ln>
        </p:spPr>
      </p:pic>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274638"/>
            <a:ext cx="8219256" cy="1143000"/>
          </a:xfrm>
        </p:spPr>
        <p:txBody>
          <a:bodyPr>
            <a:normAutofit fontScale="90000"/>
          </a:bodyPr>
          <a:lstStyle/>
          <a:p>
            <a:r>
              <a:rPr lang="pt-BR" b="1" dirty="0" smtClean="0">
                <a:solidFill>
                  <a:srgbClr val="FF0000"/>
                </a:solidFill>
                <a:latin typeface="Arial" pitchFamily="34" charset="0"/>
                <a:cs typeface="Arial" pitchFamily="34" charset="0"/>
              </a:rPr>
              <a:t>Emulação de Circuito - Estruturado</a:t>
            </a:r>
            <a:endParaRPr lang="pt-PT" b="1" dirty="0">
              <a:solidFill>
                <a:srgbClr val="FF0000"/>
              </a:solidFill>
              <a:latin typeface="Arial" pitchFamily="34" charset="0"/>
              <a:cs typeface="Arial" pitchFamily="34" charset="0"/>
            </a:endParaRPr>
          </a:p>
        </p:txBody>
      </p:sp>
      <p:pic>
        <p:nvPicPr>
          <p:cNvPr id="29698" name="Picture 2"/>
          <p:cNvPicPr>
            <a:picLocks noGrp="1" noChangeAspect="1" noChangeArrowheads="1"/>
          </p:cNvPicPr>
          <p:nvPr>
            <p:ph sz="quarter" idx="1"/>
          </p:nvPr>
        </p:nvPicPr>
        <p:blipFill>
          <a:blip r:embed="rId3" cstate="print"/>
          <a:srcRect/>
          <a:stretch>
            <a:fillRect/>
          </a:stretch>
        </p:blipFill>
        <p:spPr bwMode="auto">
          <a:xfrm>
            <a:off x="827584" y="1628800"/>
            <a:ext cx="7200800" cy="4536504"/>
          </a:xfrm>
          <a:prstGeom prst="rect">
            <a:avLst/>
          </a:prstGeom>
          <a:noFill/>
          <a:ln w="9525">
            <a:noFill/>
            <a:miter lim="800000"/>
            <a:headEnd/>
            <a:tailEnd/>
          </a:ln>
        </p:spPr>
      </p:pic>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Exercicios </a:t>
            </a:r>
            <a:endParaRPr lang="pt-PT" dirty="0"/>
          </a:p>
        </p:txBody>
      </p:sp>
      <p:sp>
        <p:nvSpPr>
          <p:cNvPr id="3" name="Marcador de Posição de Conteúdo 2"/>
          <p:cNvSpPr>
            <a:spLocks noGrp="1"/>
          </p:cNvSpPr>
          <p:nvPr>
            <p:ph sz="quarter" idx="1"/>
          </p:nvPr>
        </p:nvSpPr>
        <p:spPr/>
        <p:txBody>
          <a:bodyPr/>
          <a:lstStyle/>
          <a:p>
            <a:endParaRPr lang="pt-PT" dirty="0" smtClean="0"/>
          </a:p>
          <a:p>
            <a:pPr>
              <a:buNone/>
            </a:pPr>
            <a:r>
              <a:rPr lang="pt-PT" dirty="0" smtClean="0"/>
              <a:t> 1. Cálculo de atraso de empacotamento AAL1 </a:t>
            </a:r>
          </a:p>
          <a:p>
            <a:pPr>
              <a:buNone/>
            </a:pPr>
            <a:r>
              <a:rPr lang="pt-PT" dirty="0" smtClean="0"/>
              <a:t>Mapeamento E1 Não estruturado: A ALL1 recebe 32 Bytes a cada 125us </a:t>
            </a:r>
          </a:p>
          <a:p>
            <a:pPr marL="514350" indent="-514350">
              <a:buNone/>
            </a:pPr>
            <a:r>
              <a:rPr lang="pt-PT" dirty="0" smtClean="0"/>
              <a:t> a) Quanto tempo leva pra encher uma célula ATM de 47 Bytes? </a:t>
            </a:r>
          </a:p>
          <a:p>
            <a:pPr>
              <a:buNone/>
            </a:pPr>
            <a:r>
              <a:rPr lang="pt-PT" dirty="0" smtClean="0"/>
              <a:t> b) Taxa de célula ? </a:t>
            </a:r>
          </a:p>
          <a:p>
            <a:pPr>
              <a:buNone/>
            </a:pPr>
            <a:r>
              <a:rPr lang="pt-PT" dirty="0" smtClean="0"/>
              <a:t> c) Eficiência considerando uma célula ATM ? </a:t>
            </a:r>
            <a:endParaRPr lang="pt-PT"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Exercicios</a:t>
            </a:r>
            <a:endParaRPr lang="pt-PT" dirty="0"/>
          </a:p>
        </p:txBody>
      </p:sp>
      <p:sp>
        <p:nvSpPr>
          <p:cNvPr id="3" name="Marcador de Posição de Conteúdo 2"/>
          <p:cNvSpPr>
            <a:spLocks noGrp="1"/>
          </p:cNvSpPr>
          <p:nvPr>
            <p:ph sz="quarter" idx="1"/>
          </p:nvPr>
        </p:nvSpPr>
        <p:spPr/>
        <p:txBody>
          <a:bodyPr/>
          <a:lstStyle/>
          <a:p>
            <a:pPr>
              <a:buNone/>
            </a:pPr>
            <a:r>
              <a:rPr lang="pt-PT" dirty="0" smtClean="0"/>
              <a:t> 2. Cálculo de atraso de empacotamento AAL1 </a:t>
            </a:r>
          </a:p>
          <a:p>
            <a:pPr>
              <a:buNone/>
            </a:pPr>
            <a:r>
              <a:rPr lang="pt-PT" dirty="0" smtClean="0"/>
              <a:t>Mapeamento E1 estruturado: A ALL1 recebe 10 Bytes a cada 125us </a:t>
            </a:r>
          </a:p>
          <a:p>
            <a:pPr>
              <a:buNone/>
            </a:pPr>
            <a:r>
              <a:rPr lang="pt-PT" dirty="0" smtClean="0"/>
              <a:t>a) Quanto tempo leva pra encher uma célula ATM de 47 Bytes? </a:t>
            </a:r>
          </a:p>
          <a:p>
            <a:pPr>
              <a:buNone/>
            </a:pPr>
            <a:r>
              <a:rPr lang="pt-PT" dirty="0" smtClean="0"/>
              <a:t> b) Taxa de célula ?</a:t>
            </a:r>
          </a:p>
          <a:p>
            <a:pPr>
              <a:buNone/>
            </a:pPr>
            <a:r>
              <a:rPr lang="pt-PT" dirty="0" smtClean="0"/>
              <a:t> c) Eficiência considerando uma célula ATM ?</a:t>
            </a:r>
            <a:endParaRPr lang="pt-PT"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Exercicios</a:t>
            </a:r>
            <a:endParaRPr lang="pt-PT" dirty="0"/>
          </a:p>
        </p:txBody>
      </p:sp>
      <p:sp>
        <p:nvSpPr>
          <p:cNvPr id="3" name="Marcador de Posição de Conteúdo 2"/>
          <p:cNvSpPr>
            <a:spLocks noGrp="1"/>
          </p:cNvSpPr>
          <p:nvPr>
            <p:ph sz="quarter" idx="1"/>
          </p:nvPr>
        </p:nvSpPr>
        <p:spPr/>
        <p:txBody>
          <a:bodyPr/>
          <a:lstStyle/>
          <a:p>
            <a:pPr>
              <a:buNone/>
            </a:pPr>
            <a:r>
              <a:rPr lang="pt-PT" dirty="0" smtClean="0"/>
              <a:t>3- Um </a:t>
            </a:r>
            <a:r>
              <a:rPr lang="pt-PT" dirty="0" smtClean="0"/>
              <a:t>circuito virtual (com DLCI = 15) transporta sinais provenientes de três </a:t>
            </a:r>
            <a:r>
              <a:rPr lang="pt-PT" dirty="0" smtClean="0"/>
              <a:t>canais de </a:t>
            </a:r>
            <a:r>
              <a:rPr lang="pt-PT" dirty="0" smtClean="0"/>
              <a:t>voz. Os </a:t>
            </a:r>
            <a:r>
              <a:rPr lang="pt-PT" dirty="0" err="1" smtClean="0"/>
              <a:t>sub-canais</a:t>
            </a:r>
            <a:r>
              <a:rPr lang="pt-PT" dirty="0" smtClean="0"/>
              <a:t> associados aos canais de voz são: </a:t>
            </a:r>
            <a:r>
              <a:rPr lang="pt-PT" dirty="0" err="1" smtClean="0"/>
              <a:t>sub-canal</a:t>
            </a:r>
            <a:r>
              <a:rPr lang="pt-PT" dirty="0" smtClean="0"/>
              <a:t> 30, </a:t>
            </a:r>
            <a:r>
              <a:rPr lang="pt-PT" dirty="0" err="1" smtClean="0"/>
              <a:t>sub-canal</a:t>
            </a:r>
            <a:r>
              <a:rPr lang="pt-PT" dirty="0" smtClean="0"/>
              <a:t> </a:t>
            </a:r>
            <a:r>
              <a:rPr lang="pt-PT" dirty="0" smtClean="0"/>
              <a:t>76 e </a:t>
            </a:r>
            <a:r>
              <a:rPr lang="pt-PT" dirty="0" err="1" smtClean="0"/>
              <a:t>sub-canal</a:t>
            </a:r>
            <a:r>
              <a:rPr lang="pt-PT" dirty="0" smtClean="0"/>
              <a:t> 72. Um quadro </a:t>
            </a:r>
            <a:r>
              <a:rPr lang="pt-PT" dirty="0" err="1" smtClean="0"/>
              <a:t>Frame-Relay</a:t>
            </a:r>
            <a:r>
              <a:rPr lang="pt-PT" dirty="0" smtClean="0"/>
              <a:t> contém um </a:t>
            </a:r>
            <a:r>
              <a:rPr lang="pt-PT" dirty="0" err="1" smtClean="0"/>
              <a:t>sub-quadro</a:t>
            </a:r>
            <a:r>
              <a:rPr lang="pt-PT" dirty="0" smtClean="0"/>
              <a:t> de cada canal </a:t>
            </a:r>
            <a:r>
              <a:rPr lang="pt-PT" dirty="0" smtClean="0"/>
              <a:t>de voz</a:t>
            </a:r>
            <a:r>
              <a:rPr lang="pt-PT" dirty="0" smtClean="0"/>
              <a:t>. Cada </a:t>
            </a:r>
            <a:r>
              <a:rPr lang="pt-PT" dirty="0" err="1" smtClean="0"/>
              <a:t>sub-quadro</a:t>
            </a:r>
            <a:r>
              <a:rPr lang="pt-PT" dirty="0" smtClean="0"/>
              <a:t> possui 128 octetos. Indique o conteúdo dos seguintes </a:t>
            </a:r>
            <a:r>
              <a:rPr lang="pt-PT" dirty="0" smtClean="0"/>
              <a:t>campos dos </a:t>
            </a:r>
            <a:r>
              <a:rPr lang="pt-PT" dirty="0" smtClean="0"/>
              <a:t>cabeçalhos de cada </a:t>
            </a:r>
            <a:r>
              <a:rPr lang="pt-PT" dirty="0" err="1" smtClean="0"/>
              <a:t>sub-quadro</a:t>
            </a:r>
            <a:r>
              <a:rPr lang="pt-PT" dirty="0" smtClean="0"/>
              <a:t>: EI, LI, CID, </a:t>
            </a:r>
            <a:r>
              <a:rPr lang="pt-PT" dirty="0" err="1" smtClean="0"/>
              <a:t>Payload</a:t>
            </a:r>
            <a:r>
              <a:rPr lang="pt-PT" dirty="0" smtClean="0"/>
              <a:t> </a:t>
            </a:r>
            <a:r>
              <a:rPr lang="pt-PT" dirty="0" err="1" smtClean="0"/>
              <a:t>Type</a:t>
            </a:r>
            <a:r>
              <a:rPr lang="pt-PT" dirty="0" smtClean="0"/>
              <a:t>, </a:t>
            </a:r>
            <a:r>
              <a:rPr lang="pt-PT" dirty="0" err="1" smtClean="0"/>
              <a:t>Payload</a:t>
            </a:r>
            <a:r>
              <a:rPr lang="pt-PT" dirty="0" smtClean="0"/>
              <a:t> </a:t>
            </a:r>
            <a:r>
              <a:rPr lang="pt-PT" dirty="0" err="1" smtClean="0"/>
              <a:t>Length</a:t>
            </a:r>
            <a:r>
              <a:rPr lang="pt-PT" dirty="0" smtClean="0"/>
              <a:t>.</a:t>
            </a:r>
            <a:endParaRPr lang="pt-PT"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Exercicios</a:t>
            </a:r>
            <a:endParaRPr lang="pt-PT" dirty="0"/>
          </a:p>
        </p:txBody>
      </p:sp>
      <p:sp>
        <p:nvSpPr>
          <p:cNvPr id="3" name="Marcador de Posição de Conteúdo 2"/>
          <p:cNvSpPr>
            <a:spLocks noGrp="1"/>
          </p:cNvSpPr>
          <p:nvPr>
            <p:ph sz="quarter" idx="1"/>
          </p:nvPr>
        </p:nvSpPr>
        <p:spPr/>
        <p:txBody>
          <a:bodyPr/>
          <a:lstStyle/>
          <a:p>
            <a:pPr>
              <a:buNone/>
            </a:pPr>
            <a:r>
              <a:rPr lang="pt-PT" dirty="0" smtClean="0"/>
              <a:t>4-Uma </a:t>
            </a:r>
            <a:r>
              <a:rPr lang="pt-PT" dirty="0" smtClean="0"/>
              <a:t>estrutura composta de 5 janelas de tempo de um quadro E1 é transmitida </a:t>
            </a:r>
            <a:r>
              <a:rPr lang="pt-PT" dirty="0" smtClean="0"/>
              <a:t>por um </a:t>
            </a:r>
            <a:r>
              <a:rPr lang="pt-PT" dirty="0" smtClean="0"/>
              <a:t>VCC ATM utilizando-se a AAL1 no modo estruturado. Indique o </a:t>
            </a:r>
            <a:r>
              <a:rPr lang="pt-PT" dirty="0" smtClean="0"/>
              <a:t>conteúdo (possível</a:t>
            </a:r>
            <a:r>
              <a:rPr lang="pt-PT" dirty="0" smtClean="0"/>
              <a:t>) dos cabeçalhos (AAL e ATM) das 6 primeiras células transmitidas. </a:t>
            </a:r>
            <a:r>
              <a:rPr lang="pt-PT" dirty="0" smtClean="0"/>
              <a:t>O apontador </a:t>
            </a:r>
            <a:r>
              <a:rPr lang="pt-PT" dirty="0" smtClean="0"/>
              <a:t>está presente sempre que possível.</a:t>
            </a:r>
            <a:endParaRPr lang="pt-PT"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Exercicios</a:t>
            </a:r>
            <a:endParaRPr lang="pt-PT" dirty="0"/>
          </a:p>
        </p:txBody>
      </p:sp>
      <p:sp>
        <p:nvSpPr>
          <p:cNvPr id="3" name="Marcador de Posição de Conteúdo 2"/>
          <p:cNvSpPr>
            <a:spLocks noGrp="1"/>
          </p:cNvSpPr>
          <p:nvPr>
            <p:ph sz="quarter" idx="1"/>
          </p:nvPr>
        </p:nvSpPr>
        <p:spPr/>
        <p:txBody>
          <a:bodyPr/>
          <a:lstStyle/>
          <a:p>
            <a:pPr lvl="0">
              <a:buNone/>
            </a:pPr>
            <a:r>
              <a:rPr lang="pt-BR" b="1" dirty="0" smtClean="0"/>
              <a:t>5- Calcule </a:t>
            </a:r>
            <a:r>
              <a:rPr lang="pt-BR" b="1" dirty="0" smtClean="0"/>
              <a:t>o atraso de estabelecimento de um SVC ATM utilizando a figura abaixo. Observe que os dados só podem ser enviados na forma de células ATM depois que o CONNECT ACK é emitido. Considere que os enlaces tem 1 km, taxa de 155,52 Mbps e que cada mensagem mostrada na figura acomoda-se exatamente em 1 célula ATM. Esta consideração é hipotética, pois o tamanho exato destas mensagens é definido na especificação UNI 4.1 do ATM Forum. </a:t>
            </a:r>
            <a:endParaRPr lang="pt-PT" b="1" dirty="0" smtClean="0"/>
          </a:p>
          <a:p>
            <a:pPr>
              <a:buNone/>
            </a:pPr>
            <a:endParaRPr lang="pt-PT"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Exercicios</a:t>
            </a:r>
            <a:endParaRPr lang="pt-PT" dirty="0"/>
          </a:p>
        </p:txBody>
      </p:sp>
      <p:pic>
        <p:nvPicPr>
          <p:cNvPr id="2050" name="Picture 2"/>
          <p:cNvPicPr>
            <a:picLocks noGrp="1" noChangeAspect="1" noChangeArrowheads="1"/>
          </p:cNvPicPr>
          <p:nvPr>
            <p:ph sz="quarter" idx="1"/>
          </p:nvPr>
        </p:nvPicPr>
        <p:blipFill>
          <a:blip r:embed="rId2" cstate="print"/>
          <a:srcRect/>
          <a:stretch>
            <a:fillRect/>
          </a:stretch>
        </p:blipFill>
        <p:spPr bwMode="auto">
          <a:xfrm>
            <a:off x="1204912" y="1484784"/>
            <a:ext cx="7191375" cy="4608511"/>
          </a:xfrm>
          <a:prstGeom prst="rect">
            <a:avLst/>
          </a:prstGeom>
          <a:noFill/>
          <a:ln w="9525">
            <a:noFill/>
            <a:miter lim="800000"/>
            <a:headEnd/>
            <a:tailEnd/>
          </a:ln>
        </p:spPr>
      </p:pic>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Exercicios</a:t>
            </a:r>
            <a:endParaRPr lang="pt-PT" dirty="0"/>
          </a:p>
        </p:txBody>
      </p:sp>
      <p:sp>
        <p:nvSpPr>
          <p:cNvPr id="3" name="Marcador de Posição de Conteúdo 2"/>
          <p:cNvSpPr>
            <a:spLocks noGrp="1"/>
          </p:cNvSpPr>
          <p:nvPr>
            <p:ph sz="quarter" idx="1"/>
          </p:nvPr>
        </p:nvSpPr>
        <p:spPr/>
        <p:txBody>
          <a:bodyPr>
            <a:normAutofit/>
          </a:bodyPr>
          <a:lstStyle/>
          <a:p>
            <a:pPr>
              <a:buNone/>
            </a:pPr>
            <a:r>
              <a:rPr lang="pt-PT" dirty="0" smtClean="0"/>
              <a:t>6-Uma </a:t>
            </a:r>
            <a:r>
              <a:rPr lang="pt-PT" dirty="0" smtClean="0"/>
              <a:t>estrutura composta de 20 </a:t>
            </a:r>
            <a:r>
              <a:rPr lang="pt-PT" dirty="0" err="1" smtClean="0"/>
              <a:t>slots</a:t>
            </a:r>
            <a:r>
              <a:rPr lang="pt-PT" dirty="0" smtClean="0"/>
              <a:t> de um feixe E1 (20 bytes) é transmitida por </a:t>
            </a:r>
            <a:r>
              <a:rPr lang="pt-PT" dirty="0" smtClean="0"/>
              <a:t>um circuito </a:t>
            </a:r>
            <a:r>
              <a:rPr lang="pt-PT" dirty="0" smtClean="0"/>
              <a:t>virtual em uma rede ATM utilizando-se a camada AAL1. A conexão </a:t>
            </a:r>
            <a:r>
              <a:rPr lang="pt-PT" dirty="0" smtClean="0"/>
              <a:t>ATM está </a:t>
            </a:r>
            <a:r>
              <a:rPr lang="pt-PT" dirty="0" smtClean="0"/>
              <a:t>emulando um circuito em modo estruturado. As células ATM </a:t>
            </a:r>
            <a:r>
              <a:rPr lang="pt-PT" dirty="0" smtClean="0"/>
              <a:t>são completamente </a:t>
            </a:r>
            <a:r>
              <a:rPr lang="pt-PT" dirty="0" smtClean="0"/>
              <a:t>equipadas, ou seja, transportam 46 ou 47 bytes de informação. </a:t>
            </a:r>
            <a:r>
              <a:rPr lang="pt-PT" dirty="0" smtClean="0"/>
              <a:t>Na célula </a:t>
            </a:r>
            <a:r>
              <a:rPr lang="pt-PT" dirty="0" smtClean="0"/>
              <a:t>de número N o valor do apontador foi 10, indique o valor do apontador </a:t>
            </a:r>
            <a:r>
              <a:rPr lang="pt-PT" dirty="0" smtClean="0"/>
              <a:t>para as </a:t>
            </a:r>
            <a:r>
              <a:rPr lang="pt-PT" dirty="0" smtClean="0"/>
              <a:t>células N+2 e N+4.</a:t>
            </a:r>
            <a:endParaRPr lang="pt-PT"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solidFill>
                  <a:srgbClr val="FF0000"/>
                </a:solidFill>
                <a:latin typeface="Arial" pitchFamily="34" charset="0"/>
                <a:cs typeface="Arial" pitchFamily="34" charset="0"/>
              </a:rPr>
              <a:t>Exercicios</a:t>
            </a:r>
            <a:endParaRPr lang="pt-PT" dirty="0"/>
          </a:p>
        </p:txBody>
      </p:sp>
      <p:sp>
        <p:nvSpPr>
          <p:cNvPr id="3" name="Marcador de Posição de Conteúdo 2"/>
          <p:cNvSpPr>
            <a:spLocks noGrp="1"/>
          </p:cNvSpPr>
          <p:nvPr>
            <p:ph sz="quarter" idx="1"/>
          </p:nvPr>
        </p:nvSpPr>
        <p:spPr/>
        <p:txBody>
          <a:bodyPr>
            <a:normAutofit/>
          </a:bodyPr>
          <a:lstStyle/>
          <a:p>
            <a:pPr>
              <a:buNone/>
            </a:pPr>
            <a:r>
              <a:rPr lang="pt-PT" dirty="0" smtClean="0"/>
              <a:t>7- Uma </a:t>
            </a:r>
            <a:r>
              <a:rPr lang="pt-PT" dirty="0" smtClean="0"/>
              <a:t>estrutura composta de 5 </a:t>
            </a:r>
            <a:r>
              <a:rPr lang="pt-PT" dirty="0" err="1" smtClean="0"/>
              <a:t>slots</a:t>
            </a:r>
            <a:r>
              <a:rPr lang="pt-PT" dirty="0" smtClean="0"/>
              <a:t> de um feixe E1 (5 bytes) é transmitida por </a:t>
            </a:r>
            <a:r>
              <a:rPr lang="pt-PT" dirty="0" smtClean="0"/>
              <a:t>um circuito </a:t>
            </a:r>
            <a:r>
              <a:rPr lang="pt-PT" dirty="0" smtClean="0"/>
              <a:t>virtual em uma rede ATM utilizando-se a camada AAL1. A conexão </a:t>
            </a:r>
            <a:r>
              <a:rPr lang="pt-PT" dirty="0" smtClean="0"/>
              <a:t>ATM está </a:t>
            </a:r>
            <a:r>
              <a:rPr lang="pt-PT" dirty="0" smtClean="0"/>
              <a:t>emulando um circuito em modo estruturado. As células ATM </a:t>
            </a:r>
            <a:r>
              <a:rPr lang="pt-PT" dirty="0" smtClean="0"/>
              <a:t>são completamente </a:t>
            </a:r>
            <a:r>
              <a:rPr lang="pt-PT" dirty="0" smtClean="0"/>
              <a:t>equipadas (46 bytes de informação se o apontador está presente e </a:t>
            </a:r>
            <a:r>
              <a:rPr lang="pt-PT" dirty="0" smtClean="0"/>
              <a:t>47 se </a:t>
            </a:r>
            <a:r>
              <a:rPr lang="pt-PT" dirty="0" smtClean="0"/>
              <a:t>ele não estiver). O apontador na camada AAL está presente sempre que </a:t>
            </a:r>
            <a:r>
              <a:rPr lang="pt-PT" dirty="0" smtClean="0"/>
              <a:t>possível. Na </a:t>
            </a:r>
            <a:r>
              <a:rPr lang="pt-PT" dirty="0" smtClean="0"/>
              <a:t>célula de número N o valor do apontador foi 2, indique o valor do </a:t>
            </a:r>
            <a:r>
              <a:rPr lang="pt-PT" dirty="0" smtClean="0"/>
              <a:t>apontador para </a:t>
            </a:r>
            <a:r>
              <a:rPr lang="pt-PT" dirty="0" smtClean="0"/>
              <a:t>as células N+2 e N+4. Calcule a máxima eficiência desta conexão (considere </a:t>
            </a:r>
            <a:r>
              <a:rPr lang="pt-PT" dirty="0" smtClean="0"/>
              <a:t>o </a:t>
            </a:r>
            <a:r>
              <a:rPr lang="pt-PT" dirty="0" err="1" smtClean="0"/>
              <a:t>overhead</a:t>
            </a:r>
            <a:r>
              <a:rPr lang="pt-PT" dirty="0" smtClean="0"/>
              <a:t> </a:t>
            </a:r>
            <a:r>
              <a:rPr lang="pt-PT" dirty="0" smtClean="0"/>
              <a:t>da camada AAL e da camada ATM).</a:t>
            </a:r>
            <a:endParaRPr lang="pt-PT"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PT"/>
          </a:p>
        </p:txBody>
      </p:sp>
      <p:sp>
        <p:nvSpPr>
          <p:cNvPr id="3" name="Marcador de Posição de Conteúdo 2"/>
          <p:cNvSpPr>
            <a:spLocks noGrp="1"/>
          </p:cNvSpPr>
          <p:nvPr>
            <p:ph sz="quarter" idx="1"/>
          </p:nvPr>
        </p:nvSpPr>
        <p:spPr/>
        <p:txBody>
          <a:bodyPr/>
          <a:lstStyle/>
          <a:p>
            <a:endParaRPr lang="pt-PT"/>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dade">
  <a:themeElements>
    <a:clrScheme name="Equidad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dade">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dade">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1909</TotalTime>
  <Words>16444</Words>
  <Application>Microsoft Office PowerPoint</Application>
  <PresentationFormat>Apresentação no Ecrã (4:3)</PresentationFormat>
  <Paragraphs>1253</Paragraphs>
  <Slides>219</Slides>
  <Notes>57</Notes>
  <HiddenSlides>0</HiddenSlides>
  <MMClips>0</MMClips>
  <ScaleCrop>false</ScaleCrop>
  <HeadingPairs>
    <vt:vector size="4" baseType="variant">
      <vt:variant>
        <vt:lpstr>Tema</vt:lpstr>
      </vt:variant>
      <vt:variant>
        <vt:i4>1</vt:i4>
      </vt:variant>
      <vt:variant>
        <vt:lpstr>Títulos dos diapositivos</vt:lpstr>
      </vt:variant>
      <vt:variant>
        <vt:i4>219</vt:i4>
      </vt:variant>
    </vt:vector>
  </HeadingPairs>
  <TitlesOfParts>
    <vt:vector size="220" baseType="lpstr">
      <vt:lpstr>Equidade</vt:lpstr>
      <vt:lpstr>Ministério do Ensino Superior  Instituto  de Tecnologias de Informação e comunicação  (INSTIC) </vt:lpstr>
      <vt:lpstr>APRESENTAÇÃO DA CADEIRA  REDES DE     TELECOMUNICAÇÕES I (RT IV ) </vt:lpstr>
      <vt:lpstr>Programa Curricular: </vt:lpstr>
      <vt:lpstr>1.  REDES DE ACESSO </vt:lpstr>
      <vt:lpstr>2.   ALTERNATIVA DE ACESSOS </vt:lpstr>
      <vt:lpstr> ALTERNATIVA DE ACESSOS  </vt:lpstr>
      <vt:lpstr>       REDE DE ACESSO – TELEFONIA FIXA </vt:lpstr>
      <vt:lpstr> EVOLUÇÃO DA REDE TELEFÔNICA EXTERNA</vt:lpstr>
      <vt:lpstr>REDES DE ACESSO </vt:lpstr>
      <vt:lpstr>PARÂMETROS DA LINHA TELEFÔNICA </vt:lpstr>
      <vt:lpstr>REDE DE ACESSO </vt:lpstr>
      <vt:lpstr>EVOLUÇÃO DA REDE TELEFÔNICA EXTERNA </vt:lpstr>
      <vt:lpstr>CONFIGURAÇÃO PONTO A PONTO </vt:lpstr>
      <vt:lpstr>CONFIGURAÇÃO EM BARRAMENTO </vt:lpstr>
      <vt:lpstr>DESAFIOS  </vt:lpstr>
      <vt:lpstr>NOVAS TECNOLOGIAS </vt:lpstr>
      <vt:lpstr>TECNOLOGIAS DE BANDA LARGA </vt:lpstr>
      <vt:lpstr>CAPACIDADE DO PAR  METÁLICO  </vt:lpstr>
      <vt:lpstr>            EFICIÊNCIA ESPECTRAL</vt:lpstr>
      <vt:lpstr>EVOLUÇÃO DO ACESSO DIGITAL </vt:lpstr>
      <vt:lpstr>xDSL </vt:lpstr>
      <vt:lpstr>CARACTERÍSTICA  xDSL</vt:lpstr>
      <vt:lpstr>DSL (IDSL- ISDN DSL , INTEGRATED DSL) </vt:lpstr>
      <vt:lpstr>DSL - CARACTERÍSTICAS </vt:lpstr>
      <vt:lpstr>APLICAÇÕES IDSL </vt:lpstr>
      <vt:lpstr>HDSL- High-bit-rate Digital subscriber line  </vt:lpstr>
      <vt:lpstr>HDSL- Caraterística </vt:lpstr>
      <vt:lpstr>HDSL- Caraterística </vt:lpstr>
      <vt:lpstr>          HDSL- Operação </vt:lpstr>
      <vt:lpstr>HDSL- Aplicações </vt:lpstr>
      <vt:lpstr>Vantagens do HDSL </vt:lpstr>
      <vt:lpstr>             Vantagens do HDSL </vt:lpstr>
      <vt:lpstr>HDSL- Interferências </vt:lpstr>
      <vt:lpstr>CROSSTALK</vt:lpstr>
      <vt:lpstr>       SDSL (Single Line Digital Subscriber Line) </vt:lpstr>
      <vt:lpstr>ADSL( Asymmetric Digital Subscriber Line) </vt:lpstr>
      <vt:lpstr>ADSL </vt:lpstr>
      <vt:lpstr>Componentes  de uma rede ADSL</vt:lpstr>
      <vt:lpstr>Porquê que Assimétrico? </vt:lpstr>
      <vt:lpstr>DEMANDA ASSIMÉTRICO </vt:lpstr>
      <vt:lpstr>ADSL TAXAS E DISTÂNCIAS  </vt:lpstr>
      <vt:lpstr>ADSL-TAXAS , CALIBRE E DISTÂNCIAS</vt:lpstr>
      <vt:lpstr>CAP/ DMT </vt:lpstr>
      <vt:lpstr>FDM</vt:lpstr>
      <vt:lpstr>Cancelamento de Eco </vt:lpstr>
      <vt:lpstr>MODOS DE OPERAÇÃO DMT</vt:lpstr>
      <vt:lpstr>MODOS DE OPERAÇÃO DMT</vt:lpstr>
      <vt:lpstr>DMT VS CAP</vt:lpstr>
      <vt:lpstr>MODELO DE REFERÊNCIA DO SISTEMA  ADSL</vt:lpstr>
      <vt:lpstr>MEDIÇÕES </vt:lpstr>
      <vt:lpstr>VDSL- Very high-Speed Digital Subscriber Line </vt:lpstr>
      <vt:lpstr>VDSL</vt:lpstr>
      <vt:lpstr>Proposta VDSL</vt:lpstr>
      <vt:lpstr>HDSL2</vt:lpstr>
      <vt:lpstr>GsHDsL2</vt:lpstr>
      <vt:lpstr>WLL- WIRE LESS LOOP</vt:lpstr>
      <vt:lpstr>WLL- WIRE LESS LOOP</vt:lpstr>
      <vt:lpstr>ARQUITETURA</vt:lpstr>
      <vt:lpstr>ARQUITETURA</vt:lpstr>
      <vt:lpstr>WLL- MERCADO</vt:lpstr>
      <vt:lpstr>WLL- PROBLEMAS</vt:lpstr>
      <vt:lpstr>TECNOLOGIAS</vt:lpstr>
      <vt:lpstr>TECNOLOGIAS</vt:lpstr>
      <vt:lpstr>REGRA DE COMUNICAÇÃO SEM FIO : A ULTIMA MILHA</vt:lpstr>
      <vt:lpstr>REGRA DE COMUNICAÇÃO SEM FIO : A ULTIMA MILHA</vt:lpstr>
      <vt:lpstr>WLL- Adequação da tecnologias</vt:lpstr>
      <vt:lpstr>          </vt:lpstr>
      <vt:lpstr>Frame Relay</vt:lpstr>
      <vt:lpstr>Frame Relay-Característica</vt:lpstr>
      <vt:lpstr>ATM-Frame Relay</vt:lpstr>
      <vt:lpstr>Rede Frame Relay</vt:lpstr>
      <vt:lpstr>FRAD: Frame Relay ACCESS Device</vt:lpstr>
      <vt:lpstr>Quadro Frame Relay</vt:lpstr>
      <vt:lpstr>Quadro Frame Relay</vt:lpstr>
      <vt:lpstr>Operação do DLCI (Exemplo)</vt:lpstr>
      <vt:lpstr>Operação do DLCI (Exemplo)</vt:lpstr>
      <vt:lpstr>Operação do DLCI (Exemplo)</vt:lpstr>
      <vt:lpstr>Princípios de Frame Relay</vt:lpstr>
      <vt:lpstr>Velocidade do Frame Relay</vt:lpstr>
      <vt:lpstr>Pilha ATM/Frame Relay</vt:lpstr>
      <vt:lpstr>Estratégia de Roteamento Frame Relay</vt:lpstr>
      <vt:lpstr>Protocolo Frame Relay</vt:lpstr>
      <vt:lpstr>Circuitos Frame Relay</vt:lpstr>
      <vt:lpstr>PVC: Permanent Virtual Circuits</vt:lpstr>
      <vt:lpstr>SVC: Switched Virtual Circuits</vt:lpstr>
      <vt:lpstr>Frame Relay  LMI</vt:lpstr>
      <vt:lpstr>Congestionamento</vt:lpstr>
      <vt:lpstr>Congestionamento</vt:lpstr>
      <vt:lpstr>Controle de Congestionamento</vt:lpstr>
      <vt:lpstr>Controle de Congestionamento</vt:lpstr>
      <vt:lpstr>Controle de Congestionamento</vt:lpstr>
      <vt:lpstr>Explicit Congestion Notification  </vt:lpstr>
      <vt:lpstr>Controle de Congestionamento</vt:lpstr>
      <vt:lpstr>Implicit Congestion Notification </vt:lpstr>
      <vt:lpstr>Implicit Congestion Notification </vt:lpstr>
      <vt:lpstr>Controle de Congestionamento</vt:lpstr>
      <vt:lpstr>CIR- Commited information Rate</vt:lpstr>
      <vt:lpstr>CIR- Commited information Rate</vt:lpstr>
      <vt:lpstr>Discard Eligibility</vt:lpstr>
      <vt:lpstr>Discard Eligibility</vt:lpstr>
      <vt:lpstr>Discard Eligibility</vt:lpstr>
      <vt:lpstr>Interconexação de Redes LAN</vt:lpstr>
      <vt:lpstr>Interconexação de Redes LAN</vt:lpstr>
      <vt:lpstr>Voz e Dados sobre Frame -Relay</vt:lpstr>
      <vt:lpstr> </vt:lpstr>
      <vt:lpstr>ATM: Definição</vt:lpstr>
      <vt:lpstr>Principais Características</vt:lpstr>
      <vt:lpstr>ATM – Definições Básicas</vt:lpstr>
      <vt:lpstr>ATM - Definições básicas</vt:lpstr>
      <vt:lpstr>ATM - Definições básicas</vt:lpstr>
      <vt:lpstr>Conceito do ATM</vt:lpstr>
      <vt:lpstr>ATM - Definições básicas</vt:lpstr>
      <vt:lpstr>ATM - Definições básicas</vt:lpstr>
      <vt:lpstr>ATM - Definições básicas</vt:lpstr>
      <vt:lpstr>ATM - Definições básicas</vt:lpstr>
      <vt:lpstr>A CÉLULA ATM</vt:lpstr>
      <vt:lpstr>A CÉLULA ATM</vt:lpstr>
      <vt:lpstr>Nomenclatura das Interfaces</vt:lpstr>
      <vt:lpstr>Nomenclatura das Interfaces</vt:lpstr>
      <vt:lpstr>O protocolo ATM – modelo de referência</vt:lpstr>
      <vt:lpstr>O modelo de protocolos ATM na rede</vt:lpstr>
      <vt:lpstr>O Modelo de Referência do ATM</vt:lpstr>
      <vt:lpstr>Camada Física - Sub camadas</vt:lpstr>
      <vt:lpstr>Sub Camada PMD – Interfaces Suportadas</vt:lpstr>
      <vt:lpstr>Sub Camada PMD – Interfaces Suportadas</vt:lpstr>
      <vt:lpstr>A Sub Camada TC</vt:lpstr>
      <vt:lpstr>A Sub Camada TC</vt:lpstr>
      <vt:lpstr>A Sub Camada TC</vt:lpstr>
      <vt:lpstr>  Atraso da célula ATM</vt:lpstr>
      <vt:lpstr>Atraso da célula ATM</vt:lpstr>
      <vt:lpstr>Exercicios</vt:lpstr>
      <vt:lpstr>A camada ATM</vt:lpstr>
      <vt:lpstr>Cabeçalho das Células nas interfaces UNI e NNI</vt:lpstr>
      <vt:lpstr>Definição dos elementos da célula</vt:lpstr>
      <vt:lpstr>Campo  GFC</vt:lpstr>
      <vt:lpstr>Campo CLP</vt:lpstr>
      <vt:lpstr>Campo de PT</vt:lpstr>
      <vt:lpstr>Campo de PT</vt:lpstr>
      <vt:lpstr>Campos VPI E VCI</vt:lpstr>
      <vt:lpstr>Virtual Path Identifier - VPI</vt:lpstr>
      <vt:lpstr>Virtual Channel Identifier - VCI</vt:lpstr>
      <vt:lpstr>Conexões e Comutação ATM</vt:lpstr>
      <vt:lpstr>Conexões e Comutação ATM</vt:lpstr>
      <vt:lpstr>Conexões ATM - SVC</vt:lpstr>
      <vt:lpstr>Conexões ATM- PVC</vt:lpstr>
      <vt:lpstr>Conexões  e Comutação ATM</vt:lpstr>
      <vt:lpstr>Conexões  e Comutação ATM</vt:lpstr>
      <vt:lpstr>Conexões ATM</vt:lpstr>
      <vt:lpstr>Conexões  e Comutação ATM</vt:lpstr>
      <vt:lpstr>Caminho Virtual - Aplicação</vt:lpstr>
      <vt:lpstr>Conexões  e Comutação ATM</vt:lpstr>
      <vt:lpstr>Conexões ATM</vt:lpstr>
      <vt:lpstr>Comutador ATM</vt:lpstr>
      <vt:lpstr>ARQUITETURA DE COMUTADORES ATM</vt:lpstr>
      <vt:lpstr>MALHA DE COMUTAÇÃO</vt:lpstr>
      <vt:lpstr>Malha Banyan Delta - auto roteamento</vt:lpstr>
      <vt:lpstr>CONTENÇÃO EM REDE BANYAN </vt:lpstr>
      <vt:lpstr>Rede Batcher-Banyan</vt:lpstr>
      <vt:lpstr>Campo HEC - Header Erro Check</vt:lpstr>
      <vt:lpstr>Campo HEC - Operação</vt:lpstr>
      <vt:lpstr>A Camada de Adaptação - AAL</vt:lpstr>
      <vt:lpstr>Camada  de Adaptação ATM</vt:lpstr>
      <vt:lpstr>Classes de Serviços ATM</vt:lpstr>
      <vt:lpstr>Camada  de Adaptação ATM</vt:lpstr>
      <vt:lpstr>Camada  de Adaptação ATM</vt:lpstr>
      <vt:lpstr>Classes de Serviços e Tipos de AALs</vt:lpstr>
      <vt:lpstr>Estrutura da camada  AAL</vt:lpstr>
      <vt:lpstr>Princípio Geral da Adaptação</vt:lpstr>
      <vt:lpstr>Unidades de dados</vt:lpstr>
      <vt:lpstr>AAL 1 </vt:lpstr>
      <vt:lpstr>AAL 1 </vt:lpstr>
      <vt:lpstr>AAL1:  Sub-camada  SAR</vt:lpstr>
      <vt:lpstr>AAL1:  Sub-camada  SAR</vt:lpstr>
      <vt:lpstr>A Camada AAL2</vt:lpstr>
      <vt:lpstr>A Camada AAL2</vt:lpstr>
      <vt:lpstr>Cabeçalhos da AAL2</vt:lpstr>
      <vt:lpstr>AAL 3/4</vt:lpstr>
      <vt:lpstr>A Camada AAL 3/4</vt:lpstr>
      <vt:lpstr>Os Cabeçalhos da AAL 3/4</vt:lpstr>
      <vt:lpstr>Camada  AAL 3/4</vt:lpstr>
      <vt:lpstr>Multiplexação de Aplicações em uma conexão</vt:lpstr>
      <vt:lpstr>Camada  AAL 5</vt:lpstr>
      <vt:lpstr>Sub-camadas da  AAL 5</vt:lpstr>
      <vt:lpstr>Formato do CPCS-PDU</vt:lpstr>
      <vt:lpstr>Campos do CPCS-PDU</vt:lpstr>
      <vt:lpstr>Operação na sub-camada SAR</vt:lpstr>
      <vt:lpstr>Transmissão da AAL 5</vt:lpstr>
      <vt:lpstr>Sinalização</vt:lpstr>
      <vt:lpstr>Estabelecimento da Chamada - Call Setup</vt:lpstr>
      <vt:lpstr>Liberação da Chamada - Call Release</vt:lpstr>
      <vt:lpstr>Sinalização UNI - Contrato de Tráfego</vt:lpstr>
      <vt:lpstr>Sinalização</vt:lpstr>
      <vt:lpstr>Sinalização</vt:lpstr>
      <vt:lpstr>Exemplo</vt:lpstr>
      <vt:lpstr>Controle de Tráfego</vt:lpstr>
      <vt:lpstr>Parâmetros descritores de tráfego</vt:lpstr>
      <vt:lpstr>Descritores de Tráfego</vt:lpstr>
      <vt:lpstr>Descritores de Tráfego</vt:lpstr>
      <vt:lpstr>Contrato de tráfego - conteúdo</vt:lpstr>
      <vt:lpstr>Policiamento de tráfego</vt:lpstr>
      <vt:lpstr>Algoritmo GCRA</vt:lpstr>
      <vt:lpstr>Algoritmo GCRA</vt:lpstr>
      <vt:lpstr>Exemplo Algoritmo GCRA</vt:lpstr>
      <vt:lpstr>Exemplo Algoritmo GCRA</vt:lpstr>
      <vt:lpstr>Voz Sobre ATM</vt:lpstr>
      <vt:lpstr>Tipos de Adaptação</vt:lpstr>
      <vt:lpstr>Emulação de Circuitos</vt:lpstr>
      <vt:lpstr>Emulação de Circuito - Não Estruturado</vt:lpstr>
      <vt:lpstr>Emulação de Circuito - Não Estruturado</vt:lpstr>
      <vt:lpstr>Emulação de Circuito - Estruturado</vt:lpstr>
      <vt:lpstr>Exercicios </vt:lpstr>
      <vt:lpstr>Exercicios</vt:lpstr>
      <vt:lpstr>Exercicios</vt:lpstr>
      <vt:lpstr>Exercicios</vt:lpstr>
      <vt:lpstr>Exercicios</vt:lpstr>
      <vt:lpstr>Exercicios</vt:lpstr>
      <vt:lpstr>Exercicios</vt:lpstr>
      <vt:lpstr>Exercicios</vt:lpstr>
      <vt:lpstr>Diapositivo 219</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INSTITUTO SUPERIOR DE TECNOLOGIAS DE INFORMAÇÃO E COMUNICAÇÃO ISUTIC</dc:title>
  <dc:creator>user</dc:creator>
  <cp:lastModifiedBy>user</cp:lastModifiedBy>
  <cp:revision>131</cp:revision>
  <dcterms:created xsi:type="dcterms:W3CDTF">2019-02-07T05:00:28Z</dcterms:created>
  <dcterms:modified xsi:type="dcterms:W3CDTF">2021-06-10T12:34:38Z</dcterms:modified>
</cp:coreProperties>
</file>