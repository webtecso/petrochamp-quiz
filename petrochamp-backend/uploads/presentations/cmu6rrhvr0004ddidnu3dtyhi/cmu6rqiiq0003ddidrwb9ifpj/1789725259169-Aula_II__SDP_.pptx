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0"/>
  </p:notesMasterIdLst>
  <p:sldIdLst>
    <p:sldId id="256" r:id="rId2"/>
    <p:sldId id="300" r:id="rId3"/>
    <p:sldId id="309" r:id="rId4"/>
    <p:sldId id="308" r:id="rId5"/>
    <p:sldId id="310" r:id="rId6"/>
    <p:sldId id="331" r:id="rId7"/>
    <p:sldId id="332" r:id="rId8"/>
    <p:sldId id="342" r:id="rId9"/>
    <p:sldId id="341" r:id="rId10"/>
    <p:sldId id="335" r:id="rId11"/>
    <p:sldId id="339" r:id="rId12"/>
    <p:sldId id="340" r:id="rId13"/>
    <p:sldId id="343" r:id="rId14"/>
    <p:sldId id="344" r:id="rId15"/>
    <p:sldId id="345" r:id="rId16"/>
    <p:sldId id="329" r:id="rId17"/>
    <p:sldId id="330" r:id="rId18"/>
    <p:sldId id="290" r:id="rId19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Garamond" pitchFamily="16" charset="0"/>
        <a:ea typeface="+mn-ea"/>
        <a:cs typeface="+mn-cs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Garamond" pitchFamily="16" charset="0"/>
        <a:ea typeface="+mn-ea"/>
        <a:cs typeface="+mn-cs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Garamond" pitchFamily="16" charset="0"/>
        <a:ea typeface="+mn-ea"/>
        <a:cs typeface="+mn-cs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Garamond" pitchFamily="16" charset="0"/>
        <a:ea typeface="+mn-ea"/>
        <a:cs typeface="+mn-cs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Garamond" pitchFamily="1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Garamond" pitchFamily="1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Garamond" pitchFamily="1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Garamond" pitchFamily="1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Garamond" pitchFamily="1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06" autoAdjust="0"/>
    <p:restoredTop sz="94660"/>
  </p:normalViewPr>
  <p:slideViewPr>
    <p:cSldViewPr>
      <p:cViewPr varScale="1">
        <p:scale>
          <a:sx n="69" d="100"/>
          <a:sy n="69" d="100"/>
        </p:scale>
        <p:origin x="1554" y="7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/>
          </a:p>
        </p:txBody>
      </p:sp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/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/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/>
          </a:p>
        </p:txBody>
      </p:sp>
      <p:sp>
        <p:nvSpPr>
          <p:cNvPr id="37894" name="Rectangle 5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8825" cy="342582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8" name="Rectangle 6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s-ES" noProof="0"/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AD42431E-63BB-4EA2-AE7D-81A214308B4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471C4D0B-16D9-4CF2-BEA5-B21C15948C5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891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2A1C1E1-D864-4536-A22C-5BEC1A531374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s-E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192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921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878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96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128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237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930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448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802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477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442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13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65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844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288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7175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114BDD1-D4BF-4384-A314-22D381355FA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208463"/>
          </a:xfrm>
          <a:noFill/>
          <a:ln/>
        </p:spPr>
        <p:txBody>
          <a:bodyPr wrap="none" anchor="ctr"/>
          <a:lstStyle/>
          <a:p>
            <a:endParaRPr lang="es-ES" dirty="0"/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DB5E657E-D67C-473E-BB73-17D6374F9EA7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891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471C4D0B-16D9-4CF2-BEA5-B21C15948C5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891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2A1C1E1-D864-4536-A22C-5BEC1A531374}" type="slidenum">
              <a:rPr lang="en-US" sz="1200">
                <a:solidFill>
                  <a:srgbClr val="000000"/>
                </a:solidFill>
                <a:latin typeface="Arial" charset="0"/>
              </a:rPr>
              <a:pPr algn="r"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18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s-E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499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41446-17B2-4D4A-B29A-B6B6A365A88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E5057-5EB7-421C-978F-12EFF960519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7CE39-4B4A-457A-BC92-0FF2565F373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7012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048A7-F5CF-4D2F-B1EB-F3F8DE70F64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C4E46-8421-4B95-86C6-16E6BC831B5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7C1EE-F22F-4C69-87E4-E779F4B113B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4EC04-4F64-4092-9064-586448DAC1B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1BC8B-1918-4333-9395-64928432026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F1CB5-652F-4E58-90A1-59D3D4FF0F3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6DC37-AD44-49D6-9B80-784E338EC9D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7813" y="277813"/>
            <a:ext cx="2055812" cy="584993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8213" cy="584993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95358-08FB-4F31-960C-76F3A0EF8E9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6425" cy="137318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6ADD8-C4D0-4A5E-9349-74A7EBE20F1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6425" cy="13731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527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3638"/>
            <a:ext cx="21304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FD936A0-5B83-40BB-9EB5-CF7592F80C6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w 1000"/>
              <a:gd name="T7" fmla="*/ 0 h 1000"/>
              <a:gd name="T8" fmla="*/ 1000 w 1000"/>
              <a:gd name="T9" fmla="*/ 100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T6" t="T7" r="T8" b="T9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0099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009999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0066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0066"/>
          </a:solidFill>
          <a:latin typeface="Garamond" pitchFamily="16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0066"/>
          </a:solidFill>
          <a:latin typeface="Garamond" pitchFamily="16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0066"/>
          </a:solidFill>
          <a:latin typeface="Garamond" pitchFamily="16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0066"/>
          </a:solidFill>
          <a:latin typeface="Garamond" pitchFamily="16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0066"/>
          </a:solidFill>
          <a:latin typeface="Garamond" pitchFamily="16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0066"/>
          </a:solidFill>
          <a:latin typeface="Garamond" pitchFamily="16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0066"/>
          </a:solidFill>
          <a:latin typeface="Garamond" pitchFamily="16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0066"/>
          </a:solidFill>
          <a:latin typeface="Garamond" pitchFamily="16" charset="0"/>
        </a:defRPr>
      </a:lvl9pPr>
    </p:titleStyle>
    <p:bodyStyle>
      <a:lvl1pPr marL="342900" indent="-342900" algn="l" defTabSz="449263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600">
          <a:solidFill>
            <a:srgbClr val="000000"/>
          </a:solidFill>
          <a:latin typeface="+mn-lt"/>
        </a:defRPr>
      </a:lvl2pPr>
      <a:lvl3pPr marL="1143000" indent="-228600" algn="l" defTabSz="449263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200">
          <a:solidFill>
            <a:srgbClr val="000000"/>
          </a:solidFill>
          <a:latin typeface="+mn-lt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741368"/>
          </a:xfrm>
          <a:prstGeom prst="rect">
            <a:avLst/>
          </a:prstGeom>
        </p:spPr>
      </p:pic>
      <p:pic>
        <p:nvPicPr>
          <p:cNvPr id="5" name="Imagem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963" y="0"/>
            <a:ext cx="2915817" cy="1196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5292080" y="6339077"/>
            <a:ext cx="3336468" cy="40229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s-ES" sz="2000" b="1" dirty="0" smtClean="0">
                <a:solidFill>
                  <a:srgbClr val="000000"/>
                </a:solidFill>
                <a:latin typeface="+mn-lt"/>
              </a:rPr>
              <a:t>Prof. </a:t>
            </a:r>
            <a:r>
              <a:rPr lang="es-ES" sz="2000" b="1" dirty="0" err="1" smtClean="0">
                <a:solidFill>
                  <a:srgbClr val="000000"/>
                </a:solidFill>
                <a:latin typeface="+mn-lt"/>
              </a:rPr>
              <a:t>Engº</a:t>
            </a:r>
            <a:r>
              <a:rPr lang="es-ES" sz="2000" b="1" dirty="0" smtClean="0">
                <a:solidFill>
                  <a:srgbClr val="000000"/>
                </a:solidFill>
                <a:latin typeface="+mn-lt"/>
              </a:rPr>
              <a:t>. </a:t>
            </a:r>
            <a:r>
              <a:rPr lang="es-ES" sz="2000" b="1" smtClean="0">
                <a:solidFill>
                  <a:srgbClr val="000000"/>
                </a:solidFill>
                <a:latin typeface="+mn-lt"/>
              </a:rPr>
              <a:t>Luzolo Manuel</a:t>
            </a:r>
            <a:endParaRPr lang="es-ES" sz="2000" b="1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3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 Distribuídos e Paralelos</a:t>
            </a:r>
            <a:endParaRPr lang="pt-PT" sz="3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63546" y="2996952"/>
            <a:ext cx="80648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pt-PT" sz="2800" dirty="0" smtClean="0">
                <a:solidFill>
                  <a:schemeClr val="tx1"/>
                </a:solidFill>
                <a:latin typeface="+mn-lt"/>
              </a:rPr>
              <a:t>Aula II: Classificação </a:t>
            </a:r>
            <a:r>
              <a:rPr lang="pt-PT" sz="2800" dirty="0">
                <a:solidFill>
                  <a:schemeClr val="tx1"/>
                </a:solidFill>
                <a:latin typeface="+mn-lt"/>
              </a:rPr>
              <a:t>das Arquitecturas MIMD</a:t>
            </a:r>
            <a:endParaRPr lang="pt-PT" sz="280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004048" y="5445224"/>
            <a:ext cx="3152123" cy="40229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s-ES" sz="2000" dirty="0" smtClean="0">
                <a:solidFill>
                  <a:srgbClr val="000000"/>
                </a:solidFill>
                <a:latin typeface="+mn-lt"/>
              </a:rPr>
              <a:t>Prof. </a:t>
            </a:r>
            <a:r>
              <a:rPr lang="es-ES" sz="2000" dirty="0" err="1" smtClean="0">
                <a:solidFill>
                  <a:srgbClr val="000000"/>
                </a:solidFill>
                <a:latin typeface="+mn-lt"/>
              </a:rPr>
              <a:t>Engº</a:t>
            </a:r>
            <a:r>
              <a:rPr lang="es-ES" sz="2000" dirty="0" smtClean="0">
                <a:solidFill>
                  <a:srgbClr val="000000"/>
                </a:solidFill>
                <a:latin typeface="+mn-lt"/>
              </a:rPr>
              <a:t>. </a:t>
            </a:r>
            <a:r>
              <a:rPr lang="es-ES" sz="2000" dirty="0" smtClean="0">
                <a:solidFill>
                  <a:srgbClr val="000000"/>
                </a:solidFill>
                <a:latin typeface="+mn-lt"/>
              </a:rPr>
              <a:t>Luzolo Manuel</a:t>
            </a:r>
            <a:endParaRPr lang="es-ES" sz="20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60311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Conteúdo</a:t>
            </a:r>
            <a:endParaRPr lang="pt-PT" sz="28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39552" y="2564904"/>
            <a:ext cx="8064896" cy="1285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MIMD com Memória Distribuída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MIMD com Memória Compartilhada </a:t>
            </a:r>
          </a:p>
        </p:txBody>
      </p:sp>
    </p:spTree>
    <p:extLst>
      <p:ext uri="{BB962C8B-B14F-4D97-AF65-F5344CB8AC3E}">
        <p14:creationId xmlns:p14="http://schemas.microsoft.com/office/powerpoint/2010/main" val="41727463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  <a:endParaRPr lang="pt-PT" sz="28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736"/>
            <a:ext cx="9144000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563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Arquitecturas MIMD </a:t>
            </a:r>
          </a:p>
        </p:txBody>
      </p:sp>
      <p:sp>
        <p:nvSpPr>
          <p:cNvPr id="2" name="Retângulo 1"/>
          <p:cNvSpPr/>
          <p:nvPr/>
        </p:nvSpPr>
        <p:spPr>
          <a:xfrm>
            <a:off x="539552" y="1124744"/>
            <a:ext cx="8064896" cy="475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PT" sz="28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Caracterizadas pela execução simultânea de múltiplos fluxos de instruções.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Vários processadores operando de forma </a:t>
            </a:r>
            <a:r>
              <a:rPr lang="pt-PT" sz="2400" b="1" dirty="0">
                <a:solidFill>
                  <a:schemeClr val="tx1"/>
                </a:solidFill>
                <a:latin typeface="+mn-lt"/>
              </a:rPr>
              <a:t>cooperativa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 ou </a:t>
            </a:r>
            <a:r>
              <a:rPr lang="pt-PT" sz="2400" b="1" dirty="0">
                <a:solidFill>
                  <a:schemeClr val="tx1"/>
                </a:solidFill>
                <a:latin typeface="+mn-lt"/>
              </a:rPr>
              <a:t>concorrente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, na execução de um ou vários aplicativos.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A diferenciação entre as diversas topologias MIMD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é feita 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pelo tipo de organização da memória principal, memória cache e rede de interconexão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Fortemente acoplad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a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se existe muita interação entre os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procesadores.</a:t>
            </a:r>
            <a:endParaRPr lang="pt-PT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56811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Arquitecturas MIMD </a:t>
            </a:r>
          </a:p>
        </p:txBody>
      </p:sp>
      <p:sp>
        <p:nvSpPr>
          <p:cNvPr id="2" name="Retângulo 1"/>
          <p:cNvSpPr/>
          <p:nvPr/>
        </p:nvSpPr>
        <p:spPr>
          <a:xfrm>
            <a:off x="539552" y="1844824"/>
            <a:ext cx="8064896" cy="312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PT" sz="28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As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arquitecturas 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MIMD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dividem-se em 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dois grandes modelos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:</a:t>
            </a:r>
            <a:endParaRPr lang="pt-PT" sz="2400" dirty="0">
              <a:solidFill>
                <a:schemeClr val="tx1"/>
              </a:solidFill>
              <a:latin typeface="+mn-lt"/>
            </a:endParaRPr>
          </a:p>
          <a:p>
            <a:pPr marL="108585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Arquitecturas MIMD com Memória Distribuída</a:t>
            </a:r>
          </a:p>
          <a:p>
            <a:pPr marL="108585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Arquitecturas MIMD com Memória Compartilhada</a:t>
            </a:r>
            <a:endParaRPr lang="pt-PT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6720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MIMD com Memória Distribuída </a:t>
            </a:r>
            <a:endParaRPr lang="pt-PT" sz="28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39552" y="1628800"/>
            <a:ext cx="8064896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PT" sz="28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Cada processador tem sua memória local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A 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memória é composta por vários módulos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Cada módulo está próximo a um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processador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Os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processadores 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se comunicam explicitamente usando passagem de mensagem entre eles segundo uma arquitectura NUMA (non-uniform memory access).</a:t>
            </a:r>
          </a:p>
        </p:txBody>
      </p:sp>
    </p:spTree>
    <p:extLst>
      <p:ext uri="{BB962C8B-B14F-4D97-AF65-F5344CB8AC3E}">
        <p14:creationId xmlns:p14="http://schemas.microsoft.com/office/powerpoint/2010/main" val="12993451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MIMD com Memória Distribuída </a:t>
            </a:r>
            <a:endParaRPr lang="pt-PT" sz="28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39552" y="1052736"/>
            <a:ext cx="8064896" cy="475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PT" sz="28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Cada processador é autónomo, com as mesmas características de uma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máquina sequencial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 Os processadores se podem comunicar entre eles através de uma rede de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interconexão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, na qual pode ter diferentes formas.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Programar uma aplicação para estes sistemas implica dividir o programa em tarefas independentes, algumas das quais poderão ser executadas </a:t>
            </a:r>
            <a:r>
              <a:rPr lang="pt-PT" sz="2400" b="1" dirty="0">
                <a:solidFill>
                  <a:schemeClr val="tx1"/>
                </a:solidFill>
                <a:latin typeface="+mn-lt"/>
              </a:rPr>
              <a:t>concorrentemente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O componente central desta arquitectura para um bom rendimento, é a rede de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interconexão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45797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MIMD com Memória Distribuída </a:t>
            </a:r>
            <a:endParaRPr lang="pt-PT" sz="28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340768"/>
            <a:ext cx="8211696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579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MIMD com Memória Compartilhad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PT" sz="28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39552" y="2276872"/>
            <a:ext cx="8064896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Cada 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processador consegue ter acesso a todo o espaço de memória do sistema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O conjunto de processadores compartilham a mesma memória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Ao usar-se uma memória centralizada, se trabalha com modelos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UMA.</a:t>
            </a:r>
          </a:p>
        </p:txBody>
      </p:sp>
    </p:spTree>
    <p:extLst>
      <p:ext uri="{BB962C8B-B14F-4D97-AF65-F5344CB8AC3E}">
        <p14:creationId xmlns:p14="http://schemas.microsoft.com/office/powerpoint/2010/main" val="39802976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MIMD com Memória Compartilhad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PT" sz="28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39552" y="1340768"/>
            <a:ext cx="8064896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Programar nestas plataformas implica ter os processos e seus dados em um espaço de memória compartilhada entre os processadores. Isto também permite a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possibilidade 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de compartilhar variáveis e secções de código entre as aplicações.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O problema de sincronização é o problema típico de compartilhar recursos que também se encontram nas máquinas sequenciais.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A introdução de fios, mecanismos de sincronização (</a:t>
            </a:r>
            <a:r>
              <a:rPr lang="pt-PT" sz="2400" b="1" dirty="0">
                <a:solidFill>
                  <a:schemeClr val="tx1"/>
                </a:solidFill>
                <a:latin typeface="+mn-lt"/>
              </a:rPr>
              <a:t>exclusão mútua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, etc.), gestão de </a:t>
            </a:r>
            <a:r>
              <a:rPr lang="pt-PT" sz="2400" b="1" dirty="0" smtClean="0">
                <a:solidFill>
                  <a:schemeClr val="tx1"/>
                </a:solidFill>
                <a:latin typeface="+mn-lt"/>
              </a:rPr>
              <a:t>secção </a:t>
            </a:r>
            <a:r>
              <a:rPr lang="pt-PT" sz="2400" b="1" dirty="0">
                <a:solidFill>
                  <a:schemeClr val="tx1"/>
                </a:solidFill>
                <a:latin typeface="+mn-lt"/>
              </a:rPr>
              <a:t>crítica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, etc., são cruciais nestas plataformas.</a:t>
            </a:r>
            <a:endParaRPr lang="pt-PT" sz="24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949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784887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MIMD com Memória Compartilhad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PT" sz="28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16" y="1412776"/>
            <a:ext cx="7821116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582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856895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Memória Compartilhad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 Memória Distribuída </a:t>
            </a:r>
          </a:p>
        </p:txBody>
      </p:sp>
      <p:sp>
        <p:nvSpPr>
          <p:cNvPr id="3" name="Retângulo 2"/>
          <p:cNvSpPr/>
          <p:nvPr/>
        </p:nvSpPr>
        <p:spPr>
          <a:xfrm>
            <a:off x="467544" y="2060848"/>
            <a:ext cx="8136904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As principais diferenças entre as redes de máquinas à memória compartilhada e à memória distribuida são: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b="1" dirty="0" smtClean="0">
                <a:solidFill>
                  <a:schemeClr val="tx1"/>
                </a:solidFill>
                <a:latin typeface="+mn-lt"/>
              </a:rPr>
              <a:t>Largura </a:t>
            </a:r>
            <a:r>
              <a:rPr lang="pt-PT" sz="2400" b="1" dirty="0">
                <a:solidFill>
                  <a:schemeClr val="tx1"/>
                </a:solidFill>
                <a:latin typeface="+mn-lt"/>
              </a:rPr>
              <a:t>de banda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: é a quantidade de informação (bits) transmitida por unidade de tempo. Nas máquinas à memória compartilhada a largura de banda deve ser grande. Enquanto que nas máquinas à memória distribuida é de ordem de magnitude mais pequena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.</a:t>
            </a:r>
            <a:endParaRPr lang="pt-PT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27570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95536" y="1916832"/>
            <a:ext cx="8136904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2400" dirty="0">
                <a:solidFill>
                  <a:schemeClr val="tx1"/>
                </a:solidFill>
                <a:latin typeface="+mn-lt"/>
              </a:rPr>
              <a:t>As principais diferenças entre as redes de máquinas à memória compartilhada e à memória distribuida são: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b="1" dirty="0" smtClean="0">
                <a:solidFill>
                  <a:schemeClr val="tx1"/>
                </a:solidFill>
                <a:latin typeface="+mn-lt"/>
              </a:rPr>
              <a:t>Latência </a:t>
            </a:r>
            <a:r>
              <a:rPr lang="pt-PT" sz="2400" b="1" dirty="0">
                <a:solidFill>
                  <a:schemeClr val="tx1"/>
                </a:solidFill>
                <a:latin typeface="+mn-lt"/>
              </a:rPr>
              <a:t>da rede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: é o tempo que precisa a rede para realizar uma transferência através da rede. Nas máquinas à memória compartilhada a latência deve ser pequena, porque se deve ter caminhos curtos e rápidos de comunicação entre os processadores e os bancos. Nas máquinas à memória distribuida é menos crítico, e se podem ter caminhos longos.</a:t>
            </a:r>
          </a:p>
        </p:txBody>
      </p:sp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856895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Memória Compartilhad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 Memória Distribuída </a:t>
            </a:r>
          </a:p>
        </p:txBody>
      </p:sp>
    </p:spTree>
    <p:extLst>
      <p:ext uri="{BB962C8B-B14F-4D97-AF65-F5344CB8AC3E}">
        <p14:creationId xmlns:p14="http://schemas.microsoft.com/office/powerpoint/2010/main" val="3643952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95536" y="2276872"/>
            <a:ext cx="813690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As principais diferenças entre as redes de máquinas à memória compartilhada e à memória distribuida são: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b="1" dirty="0" smtClean="0">
                <a:solidFill>
                  <a:schemeClr val="tx1"/>
                </a:solidFill>
                <a:latin typeface="+mn-lt"/>
              </a:rPr>
              <a:t>Informação </a:t>
            </a:r>
            <a:r>
              <a:rPr lang="pt-PT" sz="2400" b="1" dirty="0">
                <a:solidFill>
                  <a:schemeClr val="tx1"/>
                </a:solidFill>
                <a:latin typeface="+mn-lt"/>
              </a:rPr>
              <a:t>a transmitir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: Nas máquinas à memória compartilhada se podem transmitir dados, instruções, endereços de memória; enquanto que nas máquinas à memória distribuida se transmitem dados.</a:t>
            </a:r>
          </a:p>
        </p:txBody>
      </p:sp>
      <p:sp>
        <p:nvSpPr>
          <p:cNvPr id="4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8568952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Memória Compartilhad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 Memória Distribuída </a:t>
            </a:r>
          </a:p>
        </p:txBody>
      </p:sp>
    </p:spTree>
    <p:extLst>
      <p:ext uri="{BB962C8B-B14F-4D97-AF65-F5344CB8AC3E}">
        <p14:creationId xmlns:p14="http://schemas.microsoft.com/office/powerpoint/2010/main" val="4065395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8280920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  <a:endParaRPr lang="pt-PT" sz="28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827584" y="2492896"/>
            <a:ext cx="7992888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Características de memória compartihada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tx1"/>
                </a:solidFill>
                <a:latin typeface="+mn-lt"/>
              </a:rPr>
              <a:t>Características de memória </a:t>
            </a: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distribuída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pt-PT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pt-PT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59935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395536" y="260648"/>
            <a:ext cx="8280920" cy="5760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sz="28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Trabalho Para Cas</a:t>
            </a:r>
            <a:r>
              <a:rPr lang="pt-PT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" name="Retângulo 2"/>
          <p:cNvSpPr/>
          <p:nvPr/>
        </p:nvSpPr>
        <p:spPr>
          <a:xfrm>
            <a:off x="539552" y="1916832"/>
            <a:ext cx="7992888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Pesquisar sobre:</a:t>
            </a:r>
          </a:p>
          <a:p>
            <a:pPr marL="108585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Concorrência</a:t>
            </a:r>
          </a:p>
          <a:p>
            <a:pPr marL="108585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Exclusão mútua</a:t>
            </a:r>
          </a:p>
          <a:p>
            <a:pPr marL="1085850" lvl="1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2400" dirty="0" smtClean="0">
                <a:solidFill>
                  <a:schemeClr val="tx1"/>
                </a:solidFill>
                <a:latin typeface="+mn-lt"/>
              </a:rPr>
              <a:t>Secção crític</a:t>
            </a:r>
            <a:r>
              <a:rPr lang="pt-PT" sz="2400" dirty="0">
                <a:solidFill>
                  <a:schemeClr val="tx1"/>
                </a:solidFill>
                <a:latin typeface="+mn-lt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19724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1" y="0"/>
            <a:ext cx="9144001" cy="6858000"/>
          </a:xfrm>
          <a:prstGeom prst="rect">
            <a:avLst/>
          </a:prstGeom>
        </p:spPr>
      </p:pic>
      <p:pic>
        <p:nvPicPr>
          <p:cNvPr id="5" name="Imagem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0"/>
            <a:ext cx="2915817" cy="1196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5292080" y="6339077"/>
            <a:ext cx="3336468" cy="40229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s-ES" sz="2000" b="1" dirty="0" smtClean="0">
                <a:solidFill>
                  <a:srgbClr val="000000"/>
                </a:solidFill>
                <a:latin typeface="+mn-lt"/>
              </a:rPr>
              <a:t>Prof. </a:t>
            </a:r>
            <a:r>
              <a:rPr lang="es-ES" sz="2000" b="1" dirty="0" err="1" smtClean="0">
                <a:solidFill>
                  <a:srgbClr val="000000"/>
                </a:solidFill>
                <a:latin typeface="+mn-lt"/>
              </a:rPr>
              <a:t>Engº</a:t>
            </a:r>
            <a:r>
              <a:rPr lang="es-ES" sz="2000" b="1" dirty="0" smtClean="0">
                <a:solidFill>
                  <a:srgbClr val="000000"/>
                </a:solidFill>
                <a:latin typeface="+mn-lt"/>
              </a:rPr>
              <a:t>. </a:t>
            </a:r>
            <a:r>
              <a:rPr lang="es-ES" sz="2000" b="1" dirty="0" smtClean="0">
                <a:solidFill>
                  <a:srgbClr val="000000"/>
                </a:solidFill>
                <a:latin typeface="+mn-lt"/>
              </a:rPr>
              <a:t>Luzolo Manuel</a:t>
            </a:r>
            <a:endParaRPr lang="es-ES" sz="2000" b="1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1226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Garamond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Garamond" pitchFamily="16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6732</TotalTime>
  <Words>639</Words>
  <Application>Microsoft Office PowerPoint</Application>
  <PresentationFormat>Apresentação na tela (4:3)</PresentationFormat>
  <Paragraphs>95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Garamond</vt:lpstr>
      <vt:lpstr>Times New Roman</vt:lpstr>
      <vt:lpstr>Wingdings</vt:lpstr>
      <vt:lpstr>Diseño predeterminado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I. FAMILIA DE PROTOCOLOS TCP/IP  Conferencia #2: Protocolos de la capa de Red. IP e ICMP</dc:title>
  <dc:creator>jfernandez</dc:creator>
  <cp:lastModifiedBy>Luzolo Manuel</cp:lastModifiedBy>
  <cp:revision>989</cp:revision>
  <cp:lastPrinted>1601-01-01T00:00:00Z</cp:lastPrinted>
  <dcterms:created xsi:type="dcterms:W3CDTF">2009-03-07T17:02:20Z</dcterms:created>
  <dcterms:modified xsi:type="dcterms:W3CDTF">2026-04-02T16:50:05Z</dcterms:modified>
</cp:coreProperties>
</file>